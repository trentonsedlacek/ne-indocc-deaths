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wdp" ContentType="image/vnd.ms-photo"/>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781" r:id="rId4"/>
    <p:sldMasterId id="2147483803" r:id="rId5"/>
  </p:sldMasterIdLst>
  <p:notesMasterIdLst>
    <p:notesMasterId r:id="rId18"/>
  </p:notesMasterIdLst>
  <p:handoutMasterIdLst>
    <p:handoutMasterId r:id="rId19"/>
  </p:handoutMasterIdLst>
  <p:sldIdLst>
    <p:sldId id="265" r:id="rId6"/>
    <p:sldId id="267" r:id="rId7"/>
    <p:sldId id="266" r:id="rId8"/>
    <p:sldId id="280" r:id="rId9"/>
    <p:sldId id="270" r:id="rId10"/>
    <p:sldId id="279" r:id="rId11"/>
    <p:sldId id="271" r:id="rId12"/>
    <p:sldId id="278" r:id="rId13"/>
    <p:sldId id="274" r:id="rId14"/>
    <p:sldId id="272" r:id="rId15"/>
    <p:sldId id="277" r:id="rId16"/>
    <p:sldId id="269" r:id="rId17"/>
  </p:sldIdLst>
  <p:sldSz cx="12192000" cy="6858000"/>
  <p:notesSz cx="7010400" cy="9223375"/>
  <p:embeddedFontLst>
    <p:embeddedFont>
      <p:font typeface="Arial Bold" panose="020B0704020202020204" pitchFamily="34" charset="0"/>
      <p:bold r:id="rId20"/>
    </p:embeddedFont>
    <p:embeddedFont>
      <p:font typeface="Calibri" panose="020F0502020204030204" pitchFamily="34" charset="0"/>
      <p:regular r:id="rId21"/>
      <p:bold r:id="rId22"/>
      <p:italic r:id="rId23"/>
      <p:boldItalic r:id="rId24"/>
    </p:embeddedFont>
    <p:embeddedFont>
      <p:font typeface="Consolas" panose="020B0609020204030204" pitchFamily="49" charset="0"/>
      <p:regular r:id="rId25"/>
      <p:bold r:id="rId26"/>
      <p:italic r:id="rId27"/>
      <p:boldItalic r:id="rId28"/>
    </p:embeddedFont>
    <p:embeddedFont>
      <p:font typeface="Gisha" panose="020B0502040204020203" pitchFamily="34" charset="-79"/>
      <p:regular r:id="rId29"/>
      <p:bold r:id="rId30"/>
    </p:embeddedFont>
    <p:embeddedFont>
      <p:font typeface="Montserrat" panose="00000500000000000000" pitchFamily="50" charset="0"/>
      <p:regular r:id="rId31"/>
      <p:bold r:id="rId32"/>
      <p:italic r:id="rId33"/>
      <p:boldItalic r:id="rId34"/>
    </p:embeddedFont>
    <p:embeddedFont>
      <p:font typeface="Montserrat Black" panose="00000A00000000000000" pitchFamily="50" charset="0"/>
      <p:bold r:id="rId35"/>
      <p:italic r:id="rId36"/>
      <p:boldItalic r:id="rId37"/>
    </p:embeddedFont>
    <p:embeddedFont>
      <p:font typeface="Montserrat Semi Bold" panose="00000700000000000000" pitchFamily="50" charset="0"/>
      <p:regular r:id="rId38"/>
      <p:bold r:id="rId39"/>
    </p:embeddedFont>
    <p:embeddedFont>
      <p:font typeface="Roboto" panose="02000000000000000000" pitchFamily="2" charset="0"/>
      <p:regular r:id="rId40"/>
      <p:bold r:id="rId41"/>
      <p:italic r:id="rId42"/>
      <p:boldItalic r:id="rId43"/>
    </p:embeddedFont>
    <p:embeddedFont>
      <p:font typeface="Roboto Black" panose="02000000000000000000" pitchFamily="2" charset="0"/>
      <p:bold r:id="rId44"/>
      <p:italic r:id="rId45"/>
      <p:boldItalic r:id="rId46"/>
    </p:embeddedFont>
    <p:embeddedFont>
      <p:font typeface="Wingdings 3" panose="05040102010807070707" pitchFamily="18" charset="2"/>
      <p:regular r:id="rId4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7A2DCA58-86B5-D0E3-0762-32B308B7A5A2}" name="Li, Lifeng" initials="LL" userId="S::Lifeng.Li@nebraska.gov::af3d8457-0551-4e42-b160-e10c9a6f90ba"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FF6600"/>
    <a:srgbClr val="FEFEFE"/>
    <a:srgbClr val="0091FE"/>
    <a:srgbClr val="669900"/>
    <a:srgbClr val="036080"/>
    <a:srgbClr val="666633"/>
    <a:srgbClr val="525129"/>
    <a:srgbClr val="FF5050"/>
    <a:srgbClr val="336600"/>
    <a:srgbClr val="8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025" autoAdjust="0"/>
    <p:restoredTop sz="91967" autoAdjust="0"/>
  </p:normalViewPr>
  <p:slideViewPr>
    <p:cSldViewPr snapToGrid="0">
      <p:cViewPr varScale="1">
        <p:scale>
          <a:sx n="116" d="100"/>
          <a:sy n="116" d="100"/>
        </p:scale>
        <p:origin x="138" y="102"/>
      </p:cViewPr>
      <p:guideLst/>
    </p:cSldViewPr>
  </p:slideViewPr>
  <p:notesTextViewPr>
    <p:cViewPr>
      <p:scale>
        <a:sx n="3" d="2"/>
        <a:sy n="3" d="2"/>
      </p:scale>
      <p:origin x="0" y="0"/>
    </p:cViewPr>
  </p:notesTextViewPr>
  <p:sorterViewPr>
    <p:cViewPr>
      <p:scale>
        <a:sx n="100" d="100"/>
        <a:sy n="100" d="100"/>
      </p:scale>
      <p:origin x="0" y="0"/>
    </p:cViewPr>
  </p:sorterViewPr>
  <p:notesViewPr>
    <p:cSldViewPr snapToGrid="0">
      <p:cViewPr varScale="1">
        <p:scale>
          <a:sx n="61" d="100"/>
          <a:sy n="61" d="100"/>
        </p:scale>
        <p:origin x="2766" y="84"/>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notesMaster" Target="notesMasters/notesMaster1.xml"/><Relationship Id="rId26" Type="http://schemas.openxmlformats.org/officeDocument/2006/relationships/font" Target="fonts/font7.fntdata"/><Relationship Id="rId39" Type="http://schemas.openxmlformats.org/officeDocument/2006/relationships/font" Target="fonts/font20.fntdata"/><Relationship Id="rId21" Type="http://schemas.openxmlformats.org/officeDocument/2006/relationships/font" Target="fonts/font2.fntdata"/><Relationship Id="rId34" Type="http://schemas.openxmlformats.org/officeDocument/2006/relationships/font" Target="fonts/font15.fntdata"/><Relationship Id="rId42" Type="http://schemas.openxmlformats.org/officeDocument/2006/relationships/font" Target="fonts/font23.fntdata"/><Relationship Id="rId47" Type="http://schemas.openxmlformats.org/officeDocument/2006/relationships/font" Target="fonts/font28.fntdata"/><Relationship Id="rId50" Type="http://schemas.openxmlformats.org/officeDocument/2006/relationships/theme" Target="theme/theme1.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font" Target="fonts/font10.fntdata"/><Relationship Id="rId11" Type="http://schemas.openxmlformats.org/officeDocument/2006/relationships/slide" Target="slides/slide6.xml"/><Relationship Id="rId24" Type="http://schemas.openxmlformats.org/officeDocument/2006/relationships/font" Target="fonts/font5.fntdata"/><Relationship Id="rId32" Type="http://schemas.openxmlformats.org/officeDocument/2006/relationships/font" Target="fonts/font13.fntdata"/><Relationship Id="rId37" Type="http://schemas.openxmlformats.org/officeDocument/2006/relationships/font" Target="fonts/font18.fntdata"/><Relationship Id="rId40" Type="http://schemas.openxmlformats.org/officeDocument/2006/relationships/font" Target="fonts/font21.fntdata"/><Relationship Id="rId45" Type="http://schemas.openxmlformats.org/officeDocument/2006/relationships/font" Target="fonts/font26.fntdata"/><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font" Target="fonts/font4.fntdata"/><Relationship Id="rId28" Type="http://schemas.openxmlformats.org/officeDocument/2006/relationships/font" Target="fonts/font9.fntdata"/><Relationship Id="rId36" Type="http://schemas.openxmlformats.org/officeDocument/2006/relationships/font" Target="fonts/font17.fntdata"/><Relationship Id="rId49" Type="http://schemas.openxmlformats.org/officeDocument/2006/relationships/viewProps" Target="viewProps.xml"/><Relationship Id="rId10" Type="http://schemas.openxmlformats.org/officeDocument/2006/relationships/slide" Target="slides/slide5.xml"/><Relationship Id="rId19" Type="http://schemas.openxmlformats.org/officeDocument/2006/relationships/handoutMaster" Target="handoutMasters/handoutMaster1.xml"/><Relationship Id="rId31" Type="http://schemas.openxmlformats.org/officeDocument/2006/relationships/font" Target="fonts/font12.fntdata"/><Relationship Id="rId44" Type="http://schemas.openxmlformats.org/officeDocument/2006/relationships/font" Target="fonts/font25.fntdata"/><Relationship Id="rId52"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font" Target="fonts/font3.fntdata"/><Relationship Id="rId27" Type="http://schemas.openxmlformats.org/officeDocument/2006/relationships/font" Target="fonts/font8.fntdata"/><Relationship Id="rId30" Type="http://schemas.openxmlformats.org/officeDocument/2006/relationships/font" Target="fonts/font11.fntdata"/><Relationship Id="rId35" Type="http://schemas.openxmlformats.org/officeDocument/2006/relationships/font" Target="fonts/font16.fntdata"/><Relationship Id="rId43" Type="http://schemas.openxmlformats.org/officeDocument/2006/relationships/font" Target="fonts/font24.fntdata"/><Relationship Id="rId48" Type="http://schemas.openxmlformats.org/officeDocument/2006/relationships/presProps" Target="presProps.xml"/><Relationship Id="rId8" Type="http://schemas.openxmlformats.org/officeDocument/2006/relationships/slide" Target="slides/slide3.xml"/><Relationship Id="rId51" Type="http://schemas.openxmlformats.org/officeDocument/2006/relationships/tableStyles" Target="tableStyles.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font" Target="fonts/font6.fntdata"/><Relationship Id="rId33" Type="http://schemas.openxmlformats.org/officeDocument/2006/relationships/font" Target="fonts/font14.fntdata"/><Relationship Id="rId38" Type="http://schemas.openxmlformats.org/officeDocument/2006/relationships/font" Target="fonts/font19.fntdata"/><Relationship Id="rId46" Type="http://schemas.openxmlformats.org/officeDocument/2006/relationships/font" Target="fonts/font27.fntdata"/><Relationship Id="rId20" Type="http://schemas.openxmlformats.org/officeDocument/2006/relationships/font" Target="fonts/font1.fntdata"/><Relationship Id="rId41" Type="http://schemas.openxmlformats.org/officeDocument/2006/relationships/font" Target="fonts/font22.fntdata"/><Relationship Id="rId1" Type="http://schemas.openxmlformats.org/officeDocument/2006/relationships/customXml" Target="../customXml/item1.xml"/><Relationship Id="rId6" Type="http://schemas.openxmlformats.org/officeDocument/2006/relationships/slide" Target="slides/slid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6"/>
            <a:ext cx="3037840" cy="463059"/>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970938" y="6"/>
            <a:ext cx="3037840" cy="463059"/>
          </a:xfrm>
          <a:prstGeom prst="rect">
            <a:avLst/>
          </a:prstGeom>
        </p:spPr>
        <p:txBody>
          <a:bodyPr vert="horz" lIns="91440" tIns="45720" rIns="91440" bIns="45720" rtlCol="0"/>
          <a:lstStyle>
            <a:lvl1pPr algn="r">
              <a:defRPr sz="1200"/>
            </a:lvl1pPr>
          </a:lstStyle>
          <a:p>
            <a:fld id="{FA0657D6-E5BC-4EEE-9B53-1F84CEA62985}" type="datetimeFigureOut">
              <a:rPr lang="en-US" smtClean="0"/>
              <a:t>12/7/2022</a:t>
            </a:fld>
            <a:endParaRPr lang="en-US"/>
          </a:p>
        </p:txBody>
      </p:sp>
      <p:sp>
        <p:nvSpPr>
          <p:cNvPr id="4" name="Footer Placeholder 3"/>
          <p:cNvSpPr>
            <a:spLocks noGrp="1"/>
          </p:cNvSpPr>
          <p:nvPr>
            <p:ph type="ftr" sz="quarter" idx="2"/>
          </p:nvPr>
        </p:nvSpPr>
        <p:spPr>
          <a:xfrm>
            <a:off x="0" y="8760319"/>
            <a:ext cx="3037840" cy="463059"/>
          </a:xfrm>
          <a:prstGeom prst="rect">
            <a:avLst/>
          </a:prstGeom>
        </p:spPr>
        <p:txBody>
          <a:bodyPr vert="horz" lIns="91440" tIns="45720" rIns="91440" bIns="45720" rtlCol="0" anchor="b"/>
          <a:lstStyle>
            <a:lvl1pPr algn="l">
              <a:defRPr sz="1200"/>
            </a:lvl1pPr>
          </a:lstStyle>
          <a:p>
            <a:r>
              <a:rPr lang="en-US"/>
              <a:t>Helping People Live better Lives.</a:t>
            </a:r>
          </a:p>
        </p:txBody>
      </p:sp>
      <p:sp>
        <p:nvSpPr>
          <p:cNvPr id="5" name="Slide Number Placeholder 4"/>
          <p:cNvSpPr>
            <a:spLocks noGrp="1"/>
          </p:cNvSpPr>
          <p:nvPr>
            <p:ph type="sldNum" sz="quarter" idx="3"/>
          </p:nvPr>
        </p:nvSpPr>
        <p:spPr>
          <a:xfrm>
            <a:off x="3970938" y="8760319"/>
            <a:ext cx="3037840" cy="463059"/>
          </a:xfrm>
          <a:prstGeom prst="rect">
            <a:avLst/>
          </a:prstGeom>
        </p:spPr>
        <p:txBody>
          <a:bodyPr vert="horz" lIns="91440" tIns="45720" rIns="91440" bIns="45720" rtlCol="0" anchor="b"/>
          <a:lstStyle>
            <a:lvl1pPr algn="r">
              <a:defRPr sz="1200"/>
            </a:lvl1pPr>
          </a:lstStyle>
          <a:p>
            <a:fld id="{CE2D82DA-5D93-4F01-ABBC-625518272C17}" type="slidenum">
              <a:rPr lang="en-US" smtClean="0"/>
              <a:t>‹#›</a:t>
            </a:fld>
            <a:endParaRPr lang="en-US"/>
          </a:p>
        </p:txBody>
      </p:sp>
    </p:spTree>
    <p:extLst>
      <p:ext uri="{BB962C8B-B14F-4D97-AF65-F5344CB8AC3E}">
        <p14:creationId xmlns:p14="http://schemas.microsoft.com/office/powerpoint/2010/main" val="1963096504"/>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7" y="2"/>
            <a:ext cx="3038475" cy="461963"/>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970344" y="2"/>
            <a:ext cx="3038475" cy="461963"/>
          </a:xfrm>
          <a:prstGeom prst="rect">
            <a:avLst/>
          </a:prstGeom>
        </p:spPr>
        <p:txBody>
          <a:bodyPr vert="horz" lIns="91440" tIns="45720" rIns="91440" bIns="45720" rtlCol="0"/>
          <a:lstStyle>
            <a:lvl1pPr algn="r">
              <a:defRPr sz="1200"/>
            </a:lvl1pPr>
          </a:lstStyle>
          <a:p>
            <a:fld id="{CD473510-9A33-4C2D-814F-062FEB88BA13}" type="datetimeFigureOut">
              <a:rPr lang="en-US" smtClean="0"/>
              <a:t>12/7/2022</a:t>
            </a:fld>
            <a:endParaRPr lang="en-US"/>
          </a:p>
        </p:txBody>
      </p:sp>
      <p:sp>
        <p:nvSpPr>
          <p:cNvPr id="4" name="Slide Image Placeholder 3"/>
          <p:cNvSpPr>
            <a:spLocks noGrp="1" noRot="1" noChangeAspect="1"/>
          </p:cNvSpPr>
          <p:nvPr>
            <p:ph type="sldImg" idx="2"/>
          </p:nvPr>
        </p:nvSpPr>
        <p:spPr>
          <a:xfrm>
            <a:off x="738188" y="1152525"/>
            <a:ext cx="5534025" cy="3113088"/>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01675" y="4438650"/>
            <a:ext cx="5607050" cy="36322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7" y="8761413"/>
            <a:ext cx="3038475" cy="461962"/>
          </a:xfrm>
          <a:prstGeom prst="rect">
            <a:avLst/>
          </a:prstGeom>
        </p:spPr>
        <p:txBody>
          <a:bodyPr vert="horz" lIns="91440" tIns="45720" rIns="91440" bIns="45720" rtlCol="0" anchor="b"/>
          <a:lstStyle>
            <a:lvl1pPr algn="l">
              <a:defRPr sz="1200"/>
            </a:lvl1pPr>
          </a:lstStyle>
          <a:p>
            <a:r>
              <a:rPr lang="en-US"/>
              <a:t>Helping People Live better Lives.</a:t>
            </a:r>
          </a:p>
        </p:txBody>
      </p:sp>
      <p:sp>
        <p:nvSpPr>
          <p:cNvPr id="7" name="Slide Number Placeholder 6"/>
          <p:cNvSpPr>
            <a:spLocks noGrp="1"/>
          </p:cNvSpPr>
          <p:nvPr>
            <p:ph type="sldNum" sz="quarter" idx="5"/>
          </p:nvPr>
        </p:nvSpPr>
        <p:spPr>
          <a:xfrm>
            <a:off x="3970344" y="8761413"/>
            <a:ext cx="3038475" cy="461962"/>
          </a:xfrm>
          <a:prstGeom prst="rect">
            <a:avLst/>
          </a:prstGeom>
        </p:spPr>
        <p:txBody>
          <a:bodyPr vert="horz" lIns="91440" tIns="45720" rIns="91440" bIns="45720" rtlCol="0" anchor="b"/>
          <a:lstStyle>
            <a:lvl1pPr algn="r">
              <a:defRPr sz="1200"/>
            </a:lvl1pPr>
          </a:lstStyle>
          <a:p>
            <a:fld id="{A06937D5-D888-482B-A8AA-31593E913E0B}" type="slidenum">
              <a:rPr lang="en-US" smtClean="0"/>
              <a:t>‹#›</a:t>
            </a:fld>
            <a:endParaRPr lang="en-US"/>
          </a:p>
        </p:txBody>
      </p:sp>
    </p:spTree>
    <p:extLst>
      <p:ext uri="{BB962C8B-B14F-4D97-AF65-F5344CB8AC3E}">
        <p14:creationId xmlns:p14="http://schemas.microsoft.com/office/powerpoint/2010/main" val="4182331899"/>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endParaRPr lang="en-US" dirty="0">
              <a:latin typeface="Arial" panose="020B0604020202020204" pitchFamily="34" charset="0"/>
              <a:cs typeface="Arial" panose="020B0604020202020204" pitchFamily="34" charset="0"/>
            </a:endParaRPr>
          </a:p>
        </p:txBody>
      </p:sp>
      <p:sp>
        <p:nvSpPr>
          <p:cNvPr id="4" name="Footer Placeholder 3"/>
          <p:cNvSpPr>
            <a:spLocks noGrp="1"/>
          </p:cNvSpPr>
          <p:nvPr>
            <p:ph type="ftr" sz="quarter" idx="10"/>
          </p:nvPr>
        </p:nvSpPr>
        <p:spPr/>
        <p:txBody>
          <a:bodyPr/>
          <a:lstStyle/>
          <a:p>
            <a:r>
              <a:rPr lang="en-US"/>
              <a:t>Helping People Live better Lives.</a:t>
            </a:r>
          </a:p>
        </p:txBody>
      </p:sp>
      <p:sp>
        <p:nvSpPr>
          <p:cNvPr id="5" name="Slide Number Placeholder 4"/>
          <p:cNvSpPr>
            <a:spLocks noGrp="1"/>
          </p:cNvSpPr>
          <p:nvPr>
            <p:ph type="sldNum" sz="quarter" idx="11"/>
          </p:nvPr>
        </p:nvSpPr>
        <p:spPr/>
        <p:txBody>
          <a:bodyPr/>
          <a:lstStyle/>
          <a:p>
            <a:fld id="{A06937D5-D888-482B-A8AA-31593E913E0B}" type="slidenum">
              <a:rPr lang="en-US" smtClean="0"/>
              <a:t>1</a:t>
            </a:fld>
            <a:endParaRPr lang="en-US"/>
          </a:p>
        </p:txBody>
      </p:sp>
    </p:spTree>
    <p:extLst>
      <p:ext uri="{BB962C8B-B14F-4D97-AF65-F5344CB8AC3E}">
        <p14:creationId xmlns:p14="http://schemas.microsoft.com/office/powerpoint/2010/main" val="24157578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latin typeface="Roboto" panose="02000000000000000000" pitchFamily="2" charset="0"/>
              <a:ea typeface="Roboto" panose="02000000000000000000" pitchFamily="2" charset="0"/>
              <a:cs typeface="Roboto" panose="02000000000000000000" pitchFamily="2" charset="0"/>
            </a:endParaRPr>
          </a:p>
        </p:txBody>
      </p:sp>
      <p:sp>
        <p:nvSpPr>
          <p:cNvPr id="4" name="Footer Placeholder 3"/>
          <p:cNvSpPr>
            <a:spLocks noGrp="1"/>
          </p:cNvSpPr>
          <p:nvPr>
            <p:ph type="ftr" sz="quarter" idx="10"/>
          </p:nvPr>
        </p:nvSpPr>
        <p:spPr/>
        <p:txBody>
          <a:bodyPr/>
          <a:lstStyle/>
          <a:p>
            <a:r>
              <a:rPr lang="en-US"/>
              <a:t>Helping People Live better Lives.</a:t>
            </a:r>
          </a:p>
        </p:txBody>
      </p:sp>
      <p:sp>
        <p:nvSpPr>
          <p:cNvPr id="5" name="Slide Number Placeholder 4"/>
          <p:cNvSpPr>
            <a:spLocks noGrp="1"/>
          </p:cNvSpPr>
          <p:nvPr>
            <p:ph type="sldNum" sz="quarter" idx="11"/>
          </p:nvPr>
        </p:nvSpPr>
        <p:spPr/>
        <p:txBody>
          <a:bodyPr/>
          <a:lstStyle/>
          <a:p>
            <a:fld id="{A06937D5-D888-482B-A8AA-31593E913E0B}" type="slidenum">
              <a:rPr lang="en-US" smtClean="0"/>
              <a:t>2</a:t>
            </a:fld>
            <a:endParaRPr lang="en-US"/>
          </a:p>
        </p:txBody>
      </p:sp>
    </p:spTree>
    <p:extLst>
      <p:ext uri="{BB962C8B-B14F-4D97-AF65-F5344CB8AC3E}">
        <p14:creationId xmlns:p14="http://schemas.microsoft.com/office/powerpoint/2010/main" val="10309681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050" dirty="0">
              <a:latin typeface="Roboto" panose="02000000000000000000" pitchFamily="2" charset="0"/>
              <a:ea typeface="Roboto" panose="02000000000000000000" pitchFamily="2" charset="0"/>
              <a:cs typeface="Roboto" panose="02000000000000000000" pitchFamily="2" charset="0"/>
            </a:endParaRPr>
          </a:p>
        </p:txBody>
      </p:sp>
      <p:sp>
        <p:nvSpPr>
          <p:cNvPr id="4" name="Footer Placeholder 3"/>
          <p:cNvSpPr>
            <a:spLocks noGrp="1"/>
          </p:cNvSpPr>
          <p:nvPr>
            <p:ph type="ftr" sz="quarter" idx="10"/>
          </p:nvPr>
        </p:nvSpPr>
        <p:spPr/>
        <p:txBody>
          <a:bodyPr/>
          <a:lstStyle/>
          <a:p>
            <a:r>
              <a:rPr lang="en-US"/>
              <a:t>Helping People Live better Lives.</a:t>
            </a:r>
          </a:p>
        </p:txBody>
      </p:sp>
      <p:sp>
        <p:nvSpPr>
          <p:cNvPr id="5" name="Slide Number Placeholder 4"/>
          <p:cNvSpPr>
            <a:spLocks noGrp="1"/>
          </p:cNvSpPr>
          <p:nvPr>
            <p:ph type="sldNum" sz="quarter" idx="11"/>
          </p:nvPr>
        </p:nvSpPr>
        <p:spPr/>
        <p:txBody>
          <a:bodyPr/>
          <a:lstStyle/>
          <a:p>
            <a:fld id="{A06937D5-D888-482B-A8AA-31593E913E0B}" type="slidenum">
              <a:rPr lang="en-US" smtClean="0"/>
              <a:t>3</a:t>
            </a:fld>
            <a:endParaRPr lang="en-US"/>
          </a:p>
        </p:txBody>
      </p:sp>
    </p:spTree>
    <p:extLst>
      <p:ext uri="{BB962C8B-B14F-4D97-AF65-F5344CB8AC3E}">
        <p14:creationId xmlns:p14="http://schemas.microsoft.com/office/powerpoint/2010/main" val="233276693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latin typeface="Roboto" panose="02000000000000000000" pitchFamily="2" charset="0"/>
              <a:ea typeface="Roboto" panose="02000000000000000000" pitchFamily="2" charset="0"/>
              <a:cs typeface="Roboto" panose="02000000000000000000" pitchFamily="2" charset="0"/>
            </a:endParaRPr>
          </a:p>
        </p:txBody>
      </p:sp>
      <p:sp>
        <p:nvSpPr>
          <p:cNvPr id="4" name="Footer Placeholder 3"/>
          <p:cNvSpPr>
            <a:spLocks noGrp="1"/>
          </p:cNvSpPr>
          <p:nvPr>
            <p:ph type="ftr" sz="quarter" idx="10"/>
          </p:nvPr>
        </p:nvSpPr>
        <p:spPr/>
        <p:txBody>
          <a:bodyPr/>
          <a:lstStyle/>
          <a:p>
            <a:r>
              <a:rPr lang="en-US"/>
              <a:t>Helping People Live better Lives.</a:t>
            </a:r>
          </a:p>
        </p:txBody>
      </p:sp>
      <p:sp>
        <p:nvSpPr>
          <p:cNvPr id="5" name="Slide Number Placeholder 4"/>
          <p:cNvSpPr>
            <a:spLocks noGrp="1"/>
          </p:cNvSpPr>
          <p:nvPr>
            <p:ph type="sldNum" sz="quarter" idx="11"/>
          </p:nvPr>
        </p:nvSpPr>
        <p:spPr/>
        <p:txBody>
          <a:bodyPr/>
          <a:lstStyle/>
          <a:p>
            <a:fld id="{A06937D5-D888-482B-A8AA-31593E913E0B}" type="slidenum">
              <a:rPr lang="en-US" smtClean="0"/>
              <a:t>4</a:t>
            </a:fld>
            <a:endParaRPr lang="en-US"/>
          </a:p>
        </p:txBody>
      </p:sp>
    </p:spTree>
    <p:extLst>
      <p:ext uri="{BB962C8B-B14F-4D97-AF65-F5344CB8AC3E}">
        <p14:creationId xmlns:p14="http://schemas.microsoft.com/office/powerpoint/2010/main" val="35643004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latin typeface="Roboto" panose="02000000000000000000" pitchFamily="2" charset="0"/>
              <a:ea typeface="Roboto" panose="02000000000000000000" pitchFamily="2" charset="0"/>
              <a:cs typeface="Roboto" panose="02000000000000000000" pitchFamily="2" charset="0"/>
            </a:endParaRPr>
          </a:p>
        </p:txBody>
      </p:sp>
      <p:sp>
        <p:nvSpPr>
          <p:cNvPr id="4" name="Footer Placeholder 3"/>
          <p:cNvSpPr>
            <a:spLocks noGrp="1"/>
          </p:cNvSpPr>
          <p:nvPr>
            <p:ph type="ftr" sz="quarter" idx="10"/>
          </p:nvPr>
        </p:nvSpPr>
        <p:spPr/>
        <p:txBody>
          <a:bodyPr/>
          <a:lstStyle/>
          <a:p>
            <a:r>
              <a:rPr lang="en-US"/>
              <a:t>Helping People Live better Lives.</a:t>
            </a:r>
          </a:p>
        </p:txBody>
      </p:sp>
      <p:sp>
        <p:nvSpPr>
          <p:cNvPr id="5" name="Slide Number Placeholder 4"/>
          <p:cNvSpPr>
            <a:spLocks noGrp="1"/>
          </p:cNvSpPr>
          <p:nvPr>
            <p:ph type="sldNum" sz="quarter" idx="11"/>
          </p:nvPr>
        </p:nvSpPr>
        <p:spPr/>
        <p:txBody>
          <a:bodyPr/>
          <a:lstStyle/>
          <a:p>
            <a:fld id="{A06937D5-D888-482B-A8AA-31593E913E0B}" type="slidenum">
              <a:rPr lang="en-US" smtClean="0"/>
              <a:t>5</a:t>
            </a:fld>
            <a:endParaRPr lang="en-US"/>
          </a:p>
        </p:txBody>
      </p:sp>
    </p:spTree>
    <p:extLst>
      <p:ext uri="{BB962C8B-B14F-4D97-AF65-F5344CB8AC3E}">
        <p14:creationId xmlns:p14="http://schemas.microsoft.com/office/powerpoint/2010/main" val="50851100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latin typeface="Roboto" panose="02000000000000000000" pitchFamily="2" charset="0"/>
              <a:ea typeface="Roboto" panose="02000000000000000000" pitchFamily="2" charset="0"/>
              <a:cs typeface="Roboto" panose="02000000000000000000" pitchFamily="2" charset="0"/>
            </a:endParaRPr>
          </a:p>
        </p:txBody>
      </p:sp>
      <p:sp>
        <p:nvSpPr>
          <p:cNvPr id="4" name="Footer Placeholder 3"/>
          <p:cNvSpPr>
            <a:spLocks noGrp="1"/>
          </p:cNvSpPr>
          <p:nvPr>
            <p:ph type="ftr" sz="quarter" idx="10"/>
          </p:nvPr>
        </p:nvSpPr>
        <p:spPr/>
        <p:txBody>
          <a:bodyPr/>
          <a:lstStyle/>
          <a:p>
            <a:r>
              <a:rPr lang="en-US"/>
              <a:t>Helping People Live better Lives.</a:t>
            </a:r>
          </a:p>
        </p:txBody>
      </p:sp>
      <p:sp>
        <p:nvSpPr>
          <p:cNvPr id="5" name="Slide Number Placeholder 4"/>
          <p:cNvSpPr>
            <a:spLocks noGrp="1"/>
          </p:cNvSpPr>
          <p:nvPr>
            <p:ph type="sldNum" sz="quarter" idx="11"/>
          </p:nvPr>
        </p:nvSpPr>
        <p:spPr/>
        <p:txBody>
          <a:bodyPr/>
          <a:lstStyle/>
          <a:p>
            <a:fld id="{A06937D5-D888-482B-A8AA-31593E913E0B}" type="slidenum">
              <a:rPr lang="en-US" smtClean="0"/>
              <a:t>6</a:t>
            </a:fld>
            <a:endParaRPr lang="en-US"/>
          </a:p>
        </p:txBody>
      </p:sp>
    </p:spTree>
    <p:extLst>
      <p:ext uri="{BB962C8B-B14F-4D97-AF65-F5344CB8AC3E}">
        <p14:creationId xmlns:p14="http://schemas.microsoft.com/office/powerpoint/2010/main" val="26416800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latin typeface="Roboto" panose="02000000000000000000" pitchFamily="2" charset="0"/>
              <a:ea typeface="Roboto" panose="02000000000000000000" pitchFamily="2" charset="0"/>
              <a:cs typeface="Roboto" panose="02000000000000000000" pitchFamily="2" charset="0"/>
            </a:endParaRPr>
          </a:p>
        </p:txBody>
      </p:sp>
      <p:sp>
        <p:nvSpPr>
          <p:cNvPr id="4" name="Footer Placeholder 3"/>
          <p:cNvSpPr>
            <a:spLocks noGrp="1"/>
          </p:cNvSpPr>
          <p:nvPr>
            <p:ph type="ftr" sz="quarter" idx="10"/>
          </p:nvPr>
        </p:nvSpPr>
        <p:spPr/>
        <p:txBody>
          <a:bodyPr/>
          <a:lstStyle/>
          <a:p>
            <a:r>
              <a:rPr lang="en-US"/>
              <a:t>Helping People Live better Lives.</a:t>
            </a:r>
          </a:p>
        </p:txBody>
      </p:sp>
      <p:sp>
        <p:nvSpPr>
          <p:cNvPr id="5" name="Slide Number Placeholder 4"/>
          <p:cNvSpPr>
            <a:spLocks noGrp="1"/>
          </p:cNvSpPr>
          <p:nvPr>
            <p:ph type="sldNum" sz="quarter" idx="11"/>
          </p:nvPr>
        </p:nvSpPr>
        <p:spPr/>
        <p:txBody>
          <a:bodyPr/>
          <a:lstStyle/>
          <a:p>
            <a:fld id="{A06937D5-D888-482B-A8AA-31593E913E0B}" type="slidenum">
              <a:rPr lang="en-US" smtClean="0"/>
              <a:t>7</a:t>
            </a:fld>
            <a:endParaRPr lang="en-US"/>
          </a:p>
        </p:txBody>
      </p:sp>
    </p:spTree>
    <p:extLst>
      <p:ext uri="{BB962C8B-B14F-4D97-AF65-F5344CB8AC3E}">
        <p14:creationId xmlns:p14="http://schemas.microsoft.com/office/powerpoint/2010/main" val="25992582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aseline="0" dirty="0">
              <a:latin typeface="Roboto" panose="02000000000000000000" pitchFamily="2" charset="0"/>
              <a:ea typeface="Roboto" panose="02000000000000000000" pitchFamily="2" charset="0"/>
              <a:cs typeface="Roboto" panose="02000000000000000000" pitchFamily="2" charset="0"/>
            </a:endParaRPr>
          </a:p>
        </p:txBody>
      </p:sp>
      <p:sp>
        <p:nvSpPr>
          <p:cNvPr id="4" name="Footer Placeholder 3"/>
          <p:cNvSpPr>
            <a:spLocks noGrp="1"/>
          </p:cNvSpPr>
          <p:nvPr>
            <p:ph type="ftr" sz="quarter" idx="10"/>
          </p:nvPr>
        </p:nvSpPr>
        <p:spPr/>
        <p:txBody>
          <a:bodyPr/>
          <a:lstStyle/>
          <a:p>
            <a:r>
              <a:rPr lang="en-US"/>
              <a:t>Helping People Live better Lives.</a:t>
            </a:r>
          </a:p>
        </p:txBody>
      </p:sp>
      <p:sp>
        <p:nvSpPr>
          <p:cNvPr id="5" name="Slide Number Placeholder 4"/>
          <p:cNvSpPr>
            <a:spLocks noGrp="1"/>
          </p:cNvSpPr>
          <p:nvPr>
            <p:ph type="sldNum" sz="quarter" idx="11"/>
          </p:nvPr>
        </p:nvSpPr>
        <p:spPr/>
        <p:txBody>
          <a:bodyPr/>
          <a:lstStyle/>
          <a:p>
            <a:fld id="{A06937D5-D888-482B-A8AA-31593E913E0B}" type="slidenum">
              <a:rPr lang="en-US" smtClean="0"/>
              <a:t>9</a:t>
            </a:fld>
            <a:endParaRPr lang="en-US"/>
          </a:p>
        </p:txBody>
      </p:sp>
    </p:spTree>
    <p:extLst>
      <p:ext uri="{BB962C8B-B14F-4D97-AF65-F5344CB8AC3E}">
        <p14:creationId xmlns:p14="http://schemas.microsoft.com/office/powerpoint/2010/main" val="128585325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latin typeface="Roboto" panose="02000000000000000000" pitchFamily="2" charset="0"/>
              <a:ea typeface="Roboto" panose="02000000000000000000" pitchFamily="2" charset="0"/>
              <a:cs typeface="Roboto" panose="02000000000000000000" pitchFamily="2" charset="0"/>
            </a:endParaRPr>
          </a:p>
        </p:txBody>
      </p:sp>
      <p:sp>
        <p:nvSpPr>
          <p:cNvPr id="4" name="Footer Placeholder 3"/>
          <p:cNvSpPr>
            <a:spLocks noGrp="1"/>
          </p:cNvSpPr>
          <p:nvPr>
            <p:ph type="ftr" sz="quarter" idx="10"/>
          </p:nvPr>
        </p:nvSpPr>
        <p:spPr/>
        <p:txBody>
          <a:bodyPr/>
          <a:lstStyle/>
          <a:p>
            <a:r>
              <a:rPr lang="en-US"/>
              <a:t>Helping People Live better Lives.</a:t>
            </a:r>
          </a:p>
        </p:txBody>
      </p:sp>
      <p:sp>
        <p:nvSpPr>
          <p:cNvPr id="5" name="Slide Number Placeholder 4"/>
          <p:cNvSpPr>
            <a:spLocks noGrp="1"/>
          </p:cNvSpPr>
          <p:nvPr>
            <p:ph type="sldNum" sz="quarter" idx="11"/>
          </p:nvPr>
        </p:nvSpPr>
        <p:spPr/>
        <p:txBody>
          <a:bodyPr/>
          <a:lstStyle/>
          <a:p>
            <a:fld id="{A06937D5-D888-482B-A8AA-31593E913E0B}" type="slidenum">
              <a:rPr lang="en-US" smtClean="0"/>
              <a:t>10</a:t>
            </a:fld>
            <a:endParaRPr lang="en-US"/>
          </a:p>
        </p:txBody>
      </p:sp>
    </p:spTree>
    <p:extLst>
      <p:ext uri="{BB962C8B-B14F-4D97-AF65-F5344CB8AC3E}">
        <p14:creationId xmlns:p14="http://schemas.microsoft.com/office/powerpoint/2010/main" val="198814141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4"/>
          </p:nvPr>
        </p:nvSpPr>
        <p:spPr/>
        <p:txBody>
          <a:bodyPr/>
          <a:lstStyle/>
          <a:p>
            <a:r>
              <a:rPr lang="en-US"/>
              <a:t>Helping People Live better Lives.</a:t>
            </a:r>
          </a:p>
        </p:txBody>
      </p:sp>
      <p:sp>
        <p:nvSpPr>
          <p:cNvPr id="5" name="Slide Number Placeholder 4"/>
          <p:cNvSpPr>
            <a:spLocks noGrp="1"/>
          </p:cNvSpPr>
          <p:nvPr>
            <p:ph type="sldNum" sz="quarter" idx="5"/>
          </p:nvPr>
        </p:nvSpPr>
        <p:spPr/>
        <p:txBody>
          <a:bodyPr/>
          <a:lstStyle/>
          <a:p>
            <a:fld id="{A06937D5-D888-482B-A8AA-31593E913E0B}" type="slidenum">
              <a:rPr lang="en-US" smtClean="0"/>
              <a:t>11</a:t>
            </a:fld>
            <a:endParaRPr lang="en-US"/>
          </a:p>
        </p:txBody>
      </p:sp>
    </p:spTree>
    <p:extLst>
      <p:ext uri="{BB962C8B-B14F-4D97-AF65-F5344CB8AC3E}">
        <p14:creationId xmlns:p14="http://schemas.microsoft.com/office/powerpoint/2010/main" val="53924518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Roboto" panose="02000000000000000000" pitchFamily="2" charset="0"/>
                <a:ea typeface="Roboto" panose="02000000000000000000" pitchFamily="2" charset="0"/>
                <a:cs typeface="Roboto" panose="02000000000000000000" pitchFamily="2" charset="0"/>
              </a:rPr>
              <a:t>Thank</a:t>
            </a:r>
            <a:r>
              <a:rPr lang="en-US" baseline="0" dirty="0">
                <a:latin typeface="Roboto" panose="02000000000000000000" pitchFamily="2" charset="0"/>
                <a:ea typeface="Roboto" panose="02000000000000000000" pitchFamily="2" charset="0"/>
                <a:cs typeface="Roboto" panose="02000000000000000000" pitchFamily="2" charset="0"/>
              </a:rPr>
              <a:t> you for listening and I will take questions.</a:t>
            </a:r>
            <a:endParaRPr lang="en-US" dirty="0">
              <a:latin typeface="Roboto" panose="02000000000000000000" pitchFamily="2" charset="0"/>
              <a:ea typeface="Roboto" panose="02000000000000000000" pitchFamily="2" charset="0"/>
              <a:cs typeface="Roboto" panose="02000000000000000000" pitchFamily="2" charset="0"/>
            </a:endParaRPr>
          </a:p>
        </p:txBody>
      </p:sp>
      <p:sp>
        <p:nvSpPr>
          <p:cNvPr id="4" name="Footer Placeholder 3"/>
          <p:cNvSpPr>
            <a:spLocks noGrp="1"/>
          </p:cNvSpPr>
          <p:nvPr>
            <p:ph type="ftr" sz="quarter" idx="10"/>
          </p:nvPr>
        </p:nvSpPr>
        <p:spPr/>
        <p:txBody>
          <a:bodyPr/>
          <a:lstStyle/>
          <a:p>
            <a:r>
              <a:rPr lang="en-US"/>
              <a:t>Helping People Live better Lives.</a:t>
            </a:r>
          </a:p>
        </p:txBody>
      </p:sp>
      <p:sp>
        <p:nvSpPr>
          <p:cNvPr id="5" name="Slide Number Placeholder 4"/>
          <p:cNvSpPr>
            <a:spLocks noGrp="1"/>
          </p:cNvSpPr>
          <p:nvPr>
            <p:ph type="sldNum" sz="quarter" idx="11"/>
          </p:nvPr>
        </p:nvSpPr>
        <p:spPr/>
        <p:txBody>
          <a:bodyPr/>
          <a:lstStyle/>
          <a:p>
            <a:fld id="{A06937D5-D888-482B-A8AA-31593E913E0B}" type="slidenum">
              <a:rPr lang="en-US" smtClean="0"/>
              <a:t>12</a:t>
            </a:fld>
            <a:endParaRPr lang="en-US"/>
          </a:p>
        </p:txBody>
      </p:sp>
    </p:spTree>
    <p:extLst>
      <p:ext uri="{BB962C8B-B14F-4D97-AF65-F5344CB8AC3E}">
        <p14:creationId xmlns:p14="http://schemas.microsoft.com/office/powerpoint/2010/main" val="389288223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hyperlink" Target="dhhs.ne.gov" TargetMode="External"/><Relationship Id="rId2" Type="http://schemas.openxmlformats.org/officeDocument/2006/relationships/hyperlink" Target="mailto:First.Last@nebraska.gov" TargetMode="External"/><Relationship Id="rId1" Type="http://schemas.openxmlformats.org/officeDocument/2006/relationships/slideMaster" Target="../slideMasters/slideMaster1.xml"/><Relationship Id="rId6" Type="http://schemas.openxmlformats.org/officeDocument/2006/relationships/image" Target="../media/image6.jpeg"/><Relationship Id="rId5" Type="http://schemas.openxmlformats.org/officeDocument/2006/relationships/image" Target="../media/image5.jpeg"/><Relationship Id="rId4" Type="http://schemas.openxmlformats.org/officeDocument/2006/relationships/image" Target="../media/image4.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Master" Target="../slideMasters/slideMaster2.xml"/><Relationship Id="rId6" Type="http://schemas.openxmlformats.org/officeDocument/2006/relationships/hyperlink" Target="dhhs.ne.gov" TargetMode="External"/><Relationship Id="rId5" Type="http://schemas.openxmlformats.org/officeDocument/2006/relationships/hyperlink" Target="mailto:First.Last@nebraska.gov" TargetMode="External"/><Relationship Id="rId4" Type="http://schemas.openxmlformats.org/officeDocument/2006/relationships/image" Target="../media/image4.jp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3" Type="http://schemas.openxmlformats.org/officeDocument/2006/relationships/hyperlink" Target="dhhs.ne.gov" TargetMode="External"/><Relationship Id="rId2" Type="http://schemas.openxmlformats.org/officeDocument/2006/relationships/hyperlink" Target="mailto:First.Last@nebraska.gov" TargetMode="External"/><Relationship Id="rId1" Type="http://schemas.openxmlformats.org/officeDocument/2006/relationships/slideMaster" Target="../slideMasters/slideMaster2.xml"/><Relationship Id="rId6" Type="http://schemas.openxmlformats.org/officeDocument/2006/relationships/image" Target="../media/image6.jpeg"/><Relationship Id="rId5" Type="http://schemas.openxmlformats.org/officeDocument/2006/relationships/image" Target="../media/image5.jpeg"/><Relationship Id="rId4" Type="http://schemas.openxmlformats.org/officeDocument/2006/relationships/image" Target="../media/image4.jp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Large logo">
    <p:spTree>
      <p:nvGrpSpPr>
        <p:cNvPr id="1" name=""/>
        <p:cNvGrpSpPr/>
        <p:nvPr/>
      </p:nvGrpSpPr>
      <p:grpSpPr>
        <a:xfrm>
          <a:off x="0" y="0"/>
          <a:ext cx="0" cy="0"/>
          <a:chOff x="0" y="0"/>
          <a:chExt cx="0" cy="0"/>
        </a:xfrm>
      </p:grpSpPr>
      <p:sp>
        <p:nvSpPr>
          <p:cNvPr id="6" name="Title Placeholder 3"/>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lvl1pPr>
              <a:defRPr>
                <a:latin typeface="+mj-lt"/>
              </a:defRPr>
            </a:lvl1pPr>
          </a:lstStyle>
          <a:p>
            <a:r>
              <a:rPr lang="en-US" dirty="0"/>
              <a:t>Master title</a:t>
            </a:r>
          </a:p>
        </p:txBody>
      </p:sp>
    </p:spTree>
    <p:extLst>
      <p:ext uri="{BB962C8B-B14F-4D97-AF65-F5344CB8AC3E}">
        <p14:creationId xmlns:p14="http://schemas.microsoft.com/office/powerpoint/2010/main" val="190528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Headline / Subhead / 3-column / bulleted">
    <p:spTree>
      <p:nvGrpSpPr>
        <p:cNvPr id="1" name=""/>
        <p:cNvGrpSpPr/>
        <p:nvPr/>
      </p:nvGrpSpPr>
      <p:grpSpPr>
        <a:xfrm>
          <a:off x="0" y="0"/>
          <a:ext cx="0" cy="0"/>
          <a:chOff x="0" y="0"/>
          <a:chExt cx="0" cy="0"/>
        </a:xfrm>
      </p:grpSpPr>
      <p:sp>
        <p:nvSpPr>
          <p:cNvPr id="4" name="Page Subhead Bold"/>
          <p:cNvSpPr>
            <a:spLocks noGrp="1"/>
          </p:cNvSpPr>
          <p:nvPr>
            <p:ph type="body" sz="quarter" idx="12" hasCustomPrompt="1"/>
          </p:nvPr>
        </p:nvSpPr>
        <p:spPr>
          <a:xfrm>
            <a:off x="365097" y="1081211"/>
            <a:ext cx="11552349" cy="563070"/>
          </a:xfrm>
          <a:prstGeom prst="rect">
            <a:avLst/>
          </a:prstGeom>
        </p:spPr>
        <p:txBody>
          <a:bodyPr>
            <a:normAutofit/>
          </a:bodyPr>
          <a:lstStyle>
            <a:lvl1pPr marL="0" indent="0" algn="l">
              <a:buClr>
                <a:srgbClr val="0036C9"/>
              </a:buClr>
              <a:buFont typeface="Wingdings 3" panose="05040102010807070707" pitchFamily="18" charset="2"/>
              <a:buNone/>
              <a:defRPr sz="2400" b="0">
                <a:solidFill>
                  <a:srgbClr val="7E99A9"/>
                </a:solidFill>
                <a:latin typeface="+mn-lt"/>
                <a:ea typeface="Roboto" panose="02000000000000000000" pitchFamily="2" charset="0"/>
                <a:cs typeface="Roboto" panose="02000000000000000000" pitchFamily="2" charset="0"/>
              </a:defRPr>
            </a:lvl1pPr>
          </a:lstStyle>
          <a:p>
            <a:pPr lvl="0"/>
            <a:r>
              <a:rPr lang="en-US" dirty="0"/>
              <a:t>Subhead</a:t>
            </a:r>
          </a:p>
        </p:txBody>
      </p:sp>
      <p:sp>
        <p:nvSpPr>
          <p:cNvPr id="7" name="Body Text 3-col"/>
          <p:cNvSpPr>
            <a:spLocks noGrp="1"/>
          </p:cNvSpPr>
          <p:nvPr>
            <p:ph type="body" sz="quarter" idx="11" hasCustomPrompt="1"/>
          </p:nvPr>
        </p:nvSpPr>
        <p:spPr>
          <a:xfrm>
            <a:off x="365097" y="1657903"/>
            <a:ext cx="11560739" cy="4329942"/>
          </a:xfrm>
          <a:prstGeom prst="rect">
            <a:avLst/>
          </a:prstGeom>
        </p:spPr>
        <p:txBody>
          <a:bodyPr wrap="none" numCol="3" spcCol="274320">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2000">
                <a:solidFill>
                  <a:schemeClr val="tx1"/>
                </a:solidFill>
                <a:latin typeface="+mn-lt"/>
              </a:defRPr>
            </a:lvl1pPr>
            <a:lvl2pPr marL="685800" indent="-228600">
              <a:buFont typeface="Arial" panose="020B0604020202020204" pitchFamily="34" charset="0"/>
              <a:buChar char="•"/>
              <a:defRPr sz="2000">
                <a:latin typeface="+mn-lt"/>
              </a:defRPr>
            </a:lvl2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3-column text</a:t>
            </a:r>
          </a:p>
          <a:p>
            <a:pPr lvl="1"/>
            <a:r>
              <a:rPr lang="en-US" dirty="0"/>
              <a:t>Bulleted</a:t>
            </a:r>
          </a:p>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endParaRPr lang="en-US" dirty="0"/>
          </a:p>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endParaRPr lang="en-US" dirty="0"/>
          </a:p>
        </p:txBody>
      </p:sp>
      <p:sp>
        <p:nvSpPr>
          <p:cNvPr id="9" name="Title 1"/>
          <p:cNvSpPr>
            <a:spLocks noGrp="1"/>
          </p:cNvSpPr>
          <p:nvPr>
            <p:ph type="title" hasCustomPrompt="1"/>
          </p:nvPr>
        </p:nvSpPr>
        <p:spPr>
          <a:xfrm>
            <a:off x="373487" y="365126"/>
            <a:ext cx="11552349" cy="696420"/>
          </a:xfrm>
          <a:prstGeom prst="rect">
            <a:avLst/>
          </a:prstGeom>
        </p:spPr>
        <p:txBody>
          <a:bodyPr>
            <a:normAutofit/>
          </a:bodyPr>
          <a:lstStyle>
            <a:lvl1pPr algn="l">
              <a:defRPr sz="3600">
                <a:latin typeface="+mj-lt"/>
              </a:defRPr>
            </a:lvl1pPr>
          </a:lstStyle>
          <a:p>
            <a:r>
              <a:rPr lang="en-US" dirty="0"/>
              <a:t>Headline</a:t>
            </a:r>
          </a:p>
        </p:txBody>
      </p:sp>
      <p:cxnSp>
        <p:nvCxnSpPr>
          <p:cNvPr id="10" name="Title Page Rule Line"/>
          <p:cNvCxnSpPr/>
          <p:nvPr userDrawn="1"/>
        </p:nvCxnSpPr>
        <p:spPr>
          <a:xfrm>
            <a:off x="373487" y="940992"/>
            <a:ext cx="11552349" cy="0"/>
          </a:xfrm>
          <a:prstGeom prst="line">
            <a:avLst/>
          </a:prstGeom>
          <a:ln w="15875">
            <a:solidFill>
              <a:srgbClr val="FFC843"/>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1079330"/>
      </p:ext>
    </p:extLst>
  </p:cSld>
  <p:clrMapOvr>
    <a:masterClrMapping/>
  </p:clrMapOvr>
  <mc:AlternateContent xmlns:mc="http://schemas.openxmlformats.org/markup-compatibility/2006" xmlns:p14="http://schemas.microsoft.com/office/powerpoint/2010/main">
    <mc:Choice Requires="p14">
      <p:transition p14:dur="10" advClick="0" advTm="10000"/>
    </mc:Choice>
    <mc:Fallback xmlns="">
      <p:transition advClick="0" advTm="10000"/>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Headline / 2-column bulleted text">
    <p:spTree>
      <p:nvGrpSpPr>
        <p:cNvPr id="1" name=""/>
        <p:cNvGrpSpPr/>
        <p:nvPr/>
      </p:nvGrpSpPr>
      <p:grpSpPr>
        <a:xfrm>
          <a:off x="0" y="0"/>
          <a:ext cx="0" cy="0"/>
          <a:chOff x="0" y="0"/>
          <a:chExt cx="0" cy="0"/>
        </a:xfrm>
      </p:grpSpPr>
      <p:sp>
        <p:nvSpPr>
          <p:cNvPr id="6" name="Title 1"/>
          <p:cNvSpPr>
            <a:spLocks noGrp="1"/>
          </p:cNvSpPr>
          <p:nvPr>
            <p:ph type="title" hasCustomPrompt="1"/>
          </p:nvPr>
        </p:nvSpPr>
        <p:spPr>
          <a:xfrm>
            <a:off x="373487" y="365126"/>
            <a:ext cx="11552349" cy="696420"/>
          </a:xfrm>
          <a:prstGeom prst="rect">
            <a:avLst/>
          </a:prstGeom>
        </p:spPr>
        <p:txBody>
          <a:bodyPr>
            <a:normAutofit/>
          </a:bodyPr>
          <a:lstStyle>
            <a:lvl1pPr algn="l">
              <a:defRPr sz="3600">
                <a:latin typeface="+mj-lt"/>
              </a:defRPr>
            </a:lvl1pPr>
          </a:lstStyle>
          <a:p>
            <a:r>
              <a:rPr lang="en-US" dirty="0"/>
              <a:t>Headline</a:t>
            </a:r>
          </a:p>
        </p:txBody>
      </p:sp>
      <p:sp>
        <p:nvSpPr>
          <p:cNvPr id="7" name="Body Text"/>
          <p:cNvSpPr>
            <a:spLocks noGrp="1"/>
          </p:cNvSpPr>
          <p:nvPr>
            <p:ph type="body" sz="quarter" idx="11" hasCustomPrompt="1"/>
          </p:nvPr>
        </p:nvSpPr>
        <p:spPr>
          <a:xfrm>
            <a:off x="373487" y="1073568"/>
            <a:ext cx="11552349" cy="5060532"/>
          </a:xfrm>
          <a:prstGeom prst="rect">
            <a:avLst/>
          </a:prstGeom>
        </p:spPr>
        <p:txBody>
          <a:bodyPr numCol="2" spcCol="274320"/>
          <a:lstStyle>
            <a:lvl1pPr marL="171450" indent="-171450" algn="l">
              <a:buClr>
                <a:srgbClr val="7E99A9"/>
              </a:buClr>
              <a:buFont typeface="Wingdings 3" panose="05040102010807070707" pitchFamily="18" charset="2"/>
              <a:buChar char=""/>
              <a:defRPr sz="1200">
                <a:solidFill>
                  <a:schemeClr val="tx1"/>
                </a:solidFill>
                <a:latin typeface="+mn-lt"/>
              </a:defRPr>
            </a:lvl1pPr>
          </a:lstStyle>
          <a:p>
            <a:pPr lvl="0"/>
            <a:r>
              <a:rPr lang="en-US" dirty="0"/>
              <a:t>2-column</a:t>
            </a:r>
          </a:p>
        </p:txBody>
      </p:sp>
      <p:cxnSp>
        <p:nvCxnSpPr>
          <p:cNvPr id="8" name="Title Page Rule Line"/>
          <p:cNvCxnSpPr/>
          <p:nvPr userDrawn="1"/>
        </p:nvCxnSpPr>
        <p:spPr>
          <a:xfrm>
            <a:off x="373487" y="940992"/>
            <a:ext cx="11552349" cy="0"/>
          </a:xfrm>
          <a:prstGeom prst="line">
            <a:avLst/>
          </a:prstGeom>
          <a:ln w="15875">
            <a:solidFill>
              <a:srgbClr val="FFC843"/>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96421998"/>
      </p:ext>
    </p:extLst>
  </p:cSld>
  <p:clrMapOvr>
    <a:masterClrMapping/>
  </p:clrMapOvr>
  <mc:AlternateContent xmlns:mc="http://schemas.openxmlformats.org/markup-compatibility/2006" xmlns:p14="http://schemas.microsoft.com/office/powerpoint/2010/main">
    <mc:Choice Requires="p14">
      <p:transition p14:dur="10" advClick="0" advTm="10000"/>
    </mc:Choice>
    <mc:Fallback xmlns="">
      <p:transition advClick="0" advTm="10000"/>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End Slide">
    <p:spTree>
      <p:nvGrpSpPr>
        <p:cNvPr id="1" name=""/>
        <p:cNvGrpSpPr/>
        <p:nvPr/>
      </p:nvGrpSpPr>
      <p:grpSpPr>
        <a:xfrm>
          <a:off x="0" y="0"/>
          <a:ext cx="0" cy="0"/>
          <a:chOff x="0" y="0"/>
          <a:chExt cx="0" cy="0"/>
        </a:xfrm>
      </p:grpSpPr>
      <p:sp>
        <p:nvSpPr>
          <p:cNvPr id="10" name="Subhead"/>
          <p:cNvSpPr>
            <a:spLocks noGrp="1"/>
          </p:cNvSpPr>
          <p:nvPr>
            <p:ph type="body" sz="quarter" idx="11" hasCustomPrompt="1"/>
          </p:nvPr>
        </p:nvSpPr>
        <p:spPr>
          <a:xfrm>
            <a:off x="838200" y="2755761"/>
            <a:ext cx="10478729" cy="774839"/>
          </a:xfrm>
          <a:prstGeom prst="rect">
            <a:avLst/>
          </a:prstGeom>
          <a:noFill/>
        </p:spPr>
        <p:txBody>
          <a:bodyPr anchor="t" anchorCtr="1">
            <a:noAutofit/>
          </a:bodyPr>
          <a:lstStyle>
            <a:lvl1pPr marL="0" marR="0" indent="0" algn="ctr" defTabSz="914400" rtl="0" eaLnBrk="1" fontAlgn="auto" latinLnBrk="0" hangingPunct="1">
              <a:lnSpc>
                <a:spcPct val="100000"/>
              </a:lnSpc>
              <a:spcBef>
                <a:spcPts val="0"/>
              </a:spcBef>
              <a:spcAft>
                <a:spcPts val="600"/>
              </a:spcAft>
              <a:buClrTx/>
              <a:buSzTx/>
              <a:buFontTx/>
              <a:buNone/>
              <a:tabLst/>
              <a:defRPr sz="2400">
                <a:solidFill>
                  <a:srgbClr val="036080"/>
                </a:solidFill>
                <a:latin typeface="+mn-lt"/>
                <a:ea typeface="Roboto" panose="02000000000000000000" pitchFamily="2" charset="0"/>
                <a:cs typeface="Roboto" panose="02000000000000000000" pitchFamily="2" charset="0"/>
              </a:defRPr>
            </a:lvl1p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mn-lt"/>
                <a:ea typeface="+mn-ea"/>
                <a:cs typeface="+mn-cs"/>
              </a:rPr>
              <a:t>Title</a:t>
            </a:r>
          </a:p>
        </p:txBody>
      </p:sp>
      <p:sp>
        <p:nvSpPr>
          <p:cNvPr id="11" name="Page Subhead Bold"/>
          <p:cNvSpPr>
            <a:spLocks noGrp="1"/>
          </p:cNvSpPr>
          <p:nvPr>
            <p:ph type="body" sz="quarter" idx="12" hasCustomPrompt="1"/>
          </p:nvPr>
        </p:nvSpPr>
        <p:spPr>
          <a:xfrm>
            <a:off x="838200" y="2240666"/>
            <a:ext cx="10478729" cy="469563"/>
          </a:xfrm>
          <a:prstGeom prst="rect">
            <a:avLst/>
          </a:prstGeom>
          <a:solidFill>
            <a:srgbClr val="036080"/>
          </a:solidFill>
          <a:effectLst>
            <a:innerShdw blurRad="63500" dist="50800" dir="13500000">
              <a:prstClr val="black">
                <a:alpha val="50000"/>
              </a:prstClr>
            </a:innerShdw>
          </a:effectLst>
        </p:spPr>
        <p:txBody>
          <a:bodyPr>
            <a:noAutofit/>
          </a:bodyPr>
          <a:lstStyle>
            <a:lvl1pPr marL="0" indent="0" algn="ctr">
              <a:buClr>
                <a:srgbClr val="0036C9"/>
              </a:buClr>
              <a:buFont typeface="Wingdings 3" panose="05040102010807070707" pitchFamily="18" charset="2"/>
              <a:buNone/>
              <a:defRPr sz="2800" b="1" baseline="0">
                <a:solidFill>
                  <a:schemeClr val="bg1"/>
                </a:solidFill>
                <a:latin typeface="+mj-lt"/>
              </a:defRPr>
            </a:lvl1pPr>
          </a:lstStyle>
          <a:p>
            <a:pPr lvl="0"/>
            <a:r>
              <a:rPr lang="en-US" dirty="0"/>
              <a:t>Contact Name</a:t>
            </a:r>
          </a:p>
        </p:txBody>
      </p:sp>
      <p:sp>
        <p:nvSpPr>
          <p:cNvPr id="13" name="Additonal Text"/>
          <p:cNvSpPr>
            <a:spLocks noGrp="1"/>
          </p:cNvSpPr>
          <p:nvPr>
            <p:ph type="body" sz="quarter" idx="13" hasCustomPrompt="1"/>
          </p:nvPr>
        </p:nvSpPr>
        <p:spPr>
          <a:xfrm>
            <a:off x="840085" y="4610335"/>
            <a:ext cx="10478729" cy="765965"/>
          </a:xfrm>
          <a:prstGeom prst="rect">
            <a:avLst/>
          </a:prstGeom>
        </p:spPr>
        <p:txBody>
          <a:bodyPr/>
          <a:lstStyle>
            <a:lvl1pPr marL="0" indent="0" algn="ctr">
              <a:buClr>
                <a:srgbClr val="0036C9"/>
              </a:buClr>
              <a:buFontTx/>
              <a:buNone/>
              <a:tabLst>
                <a:tab pos="182880" algn="l"/>
              </a:tabLst>
              <a:defRPr sz="1200" baseline="0">
                <a:solidFill>
                  <a:schemeClr val="tx1"/>
                </a:solidFill>
                <a:latin typeface="+mn-lt"/>
              </a:defRPr>
            </a:lvl1pPr>
            <a:lvl2pPr defTabSz="1828800">
              <a:defRPr/>
            </a:lvl2pPr>
            <a:lvl4pPr marL="1097280" indent="0">
              <a:spcBef>
                <a:spcPts val="1000"/>
              </a:spcBef>
              <a:buClr>
                <a:schemeClr val="accent1"/>
              </a:buClr>
              <a:buFontTx/>
              <a:buNone/>
              <a:defRPr/>
            </a:lvl4pPr>
          </a:lstStyle>
          <a:p>
            <a:pPr lvl="0"/>
            <a:r>
              <a:rPr lang="en-US" dirty="0"/>
              <a:t>Click to add additional text</a:t>
            </a:r>
          </a:p>
        </p:txBody>
      </p:sp>
      <p:sp>
        <p:nvSpPr>
          <p:cNvPr id="14" name="Email Text"/>
          <p:cNvSpPr>
            <a:spLocks noGrp="1"/>
          </p:cNvSpPr>
          <p:nvPr>
            <p:ph type="body" sz="quarter" idx="14" hasCustomPrompt="1"/>
          </p:nvPr>
        </p:nvSpPr>
        <p:spPr>
          <a:xfrm>
            <a:off x="846764" y="3585624"/>
            <a:ext cx="10478729" cy="463576"/>
          </a:xfrm>
          <a:prstGeom prst="rect">
            <a:avLst/>
          </a:prstGeom>
        </p:spPr>
        <p:txBody>
          <a:bodyPr>
            <a:normAutofit/>
          </a:bodyPr>
          <a:lstStyle>
            <a:lvl1pPr marL="0" indent="0" algn="ctr">
              <a:buClr>
                <a:srgbClr val="0036C9"/>
              </a:buClr>
              <a:buFontTx/>
              <a:buNone/>
              <a:tabLst>
                <a:tab pos="182880" algn="l"/>
              </a:tabLst>
              <a:defRPr lang="en-US" sz="1600" b="0" kern="1200" baseline="0" dirty="0" smtClean="0">
                <a:solidFill>
                  <a:srgbClr val="7E99A9"/>
                </a:solidFill>
                <a:latin typeface="+mn-lt"/>
                <a:ea typeface="+mn-ea"/>
                <a:cs typeface="+mn-cs"/>
              </a:defRPr>
            </a:lvl1pPr>
            <a:lvl2pPr defTabSz="1828800">
              <a:defRPr/>
            </a:lvl2pPr>
            <a:lvl4pPr marL="1097280" indent="0">
              <a:spcBef>
                <a:spcPts val="1000"/>
              </a:spcBef>
              <a:buClr>
                <a:schemeClr val="accent1"/>
              </a:buClr>
              <a:buFontTx/>
              <a:buNone/>
              <a:defRPr/>
            </a:lvl4pPr>
          </a:lstStyle>
          <a:p>
            <a:pPr lvl="0"/>
            <a:r>
              <a:rPr lang="en-US" dirty="0">
                <a:solidFill>
                  <a:schemeClr val="accent2">
                    <a:lumMod val="50000"/>
                  </a:schemeClr>
                </a:solidFill>
                <a:hlinkClick r:id="rId2"/>
              </a:rPr>
              <a:t>First.Last@nebraska.gov</a:t>
            </a:r>
            <a:endParaRPr lang="en-US" dirty="0"/>
          </a:p>
        </p:txBody>
      </p:sp>
      <p:sp>
        <p:nvSpPr>
          <p:cNvPr id="16" name="Website"/>
          <p:cNvSpPr txBox="1">
            <a:spLocks/>
          </p:cNvSpPr>
          <p:nvPr/>
        </p:nvSpPr>
        <p:spPr>
          <a:xfrm>
            <a:off x="5194998" y="5431323"/>
            <a:ext cx="1788606" cy="361538"/>
          </a:xfrm>
          <a:prstGeom prst="rect">
            <a:avLst/>
          </a:prstGeom>
          <a:noFill/>
          <a:ln>
            <a:solidFill>
              <a:srgbClr val="FFC843"/>
            </a:solidFill>
          </a:ln>
          <a:effectLst>
            <a:softEdge rad="0"/>
          </a:effectLst>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600" b="1" spc="70" baseline="0" dirty="0">
                <a:solidFill>
                  <a:srgbClr val="036080"/>
                </a:solidFill>
                <a:latin typeface="+mj-lt"/>
                <a:cs typeface="Gisha" panose="020B0502040204020203" pitchFamily="34" charset="-79"/>
                <a:hlinkClick r:id="rId3"/>
              </a:rPr>
              <a:t>dhhs.ne.gov</a:t>
            </a:r>
            <a:endParaRPr lang="en-US" sz="1600" b="1" spc="70" baseline="0" dirty="0">
              <a:solidFill>
                <a:srgbClr val="036080"/>
              </a:solidFill>
              <a:latin typeface="+mj-lt"/>
              <a:cs typeface="Gisha" panose="020B0502040204020203" pitchFamily="34" charset="-79"/>
            </a:endParaRPr>
          </a:p>
        </p:txBody>
      </p:sp>
      <p:pic>
        <p:nvPicPr>
          <p:cNvPr id="7" name="Facebook"/>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202989" y="5360085"/>
            <a:ext cx="457200" cy="432776"/>
          </a:xfrm>
          <a:prstGeom prst="rect">
            <a:avLst/>
          </a:prstGeom>
          <a:effectLst/>
        </p:spPr>
      </p:pic>
      <p:sp>
        <p:nvSpPr>
          <p:cNvPr id="2" name="TextBox 1"/>
          <p:cNvSpPr txBox="1"/>
          <p:nvPr userDrawn="1"/>
        </p:nvSpPr>
        <p:spPr>
          <a:xfrm>
            <a:off x="2064425" y="5834088"/>
            <a:ext cx="769276" cy="223138"/>
          </a:xfrm>
          <a:prstGeom prst="rect">
            <a:avLst/>
          </a:prstGeom>
          <a:noFill/>
        </p:spPr>
        <p:txBody>
          <a:bodyPr wrap="square" rtlCol="0">
            <a:spAutoFit/>
          </a:bodyPr>
          <a:lstStyle/>
          <a:p>
            <a:r>
              <a:rPr lang="en-US" sz="850" kern="1200" dirty="0">
                <a:solidFill>
                  <a:schemeClr val="tx1"/>
                </a:solidFill>
                <a:effectLst/>
                <a:latin typeface="+mn-lt"/>
                <a:ea typeface="+mn-ea"/>
                <a:cs typeface="+mn-cs"/>
              </a:rPr>
              <a:t>@NEDHHS</a:t>
            </a:r>
            <a:endParaRPr lang="en-US" sz="850" dirty="0"/>
          </a:p>
        </p:txBody>
      </p:sp>
      <p:pic>
        <p:nvPicPr>
          <p:cNvPr id="5" name="Twitte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458976" y="5360085"/>
            <a:ext cx="467498" cy="432776"/>
          </a:xfrm>
          <a:prstGeom prst="rect">
            <a:avLst/>
          </a:prstGeom>
        </p:spPr>
      </p:pic>
      <p:sp>
        <p:nvSpPr>
          <p:cNvPr id="17" name="TextBox 16"/>
          <p:cNvSpPr txBox="1"/>
          <p:nvPr userDrawn="1"/>
        </p:nvSpPr>
        <p:spPr>
          <a:xfrm>
            <a:off x="297907" y="5834088"/>
            <a:ext cx="769276" cy="223138"/>
          </a:xfrm>
          <a:prstGeom prst="rect">
            <a:avLst/>
          </a:prstGeom>
          <a:noFill/>
        </p:spPr>
        <p:txBody>
          <a:bodyPr wrap="square" rtlCol="0">
            <a:spAutoFit/>
          </a:bodyPr>
          <a:lstStyle/>
          <a:p>
            <a:r>
              <a:rPr lang="en-US" sz="850" kern="1200" dirty="0">
                <a:solidFill>
                  <a:schemeClr val="tx1"/>
                </a:solidFill>
                <a:effectLst/>
                <a:latin typeface="+mn-lt"/>
                <a:ea typeface="+mn-ea"/>
                <a:cs typeface="+mn-cs"/>
              </a:rPr>
              <a:t>@NEDHHS</a:t>
            </a:r>
            <a:endParaRPr lang="en-US" sz="850" dirty="0"/>
          </a:p>
        </p:txBody>
      </p:sp>
      <p:pic>
        <p:nvPicPr>
          <p:cNvPr id="6" name="You Tube"/>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349525" y="5366159"/>
            <a:ext cx="457200" cy="432776"/>
          </a:xfrm>
          <a:prstGeom prst="rect">
            <a:avLst/>
          </a:prstGeom>
        </p:spPr>
      </p:pic>
      <p:sp>
        <p:nvSpPr>
          <p:cNvPr id="19" name="TextBox 18"/>
          <p:cNvSpPr txBox="1"/>
          <p:nvPr userDrawn="1"/>
        </p:nvSpPr>
        <p:spPr>
          <a:xfrm>
            <a:off x="956618" y="5834088"/>
            <a:ext cx="1213825" cy="223138"/>
          </a:xfrm>
          <a:prstGeom prst="rect">
            <a:avLst/>
          </a:prstGeom>
          <a:noFill/>
        </p:spPr>
        <p:txBody>
          <a:bodyPr wrap="square" rtlCol="0">
            <a:spAutoFit/>
          </a:bodyPr>
          <a:lstStyle/>
          <a:p>
            <a:pPr algn="ctr"/>
            <a:r>
              <a:rPr lang="en-US" sz="850" kern="1200" dirty="0" err="1">
                <a:solidFill>
                  <a:schemeClr val="tx1"/>
                </a:solidFill>
                <a:effectLst/>
                <a:latin typeface="+mn-lt"/>
                <a:ea typeface="+mn-ea"/>
                <a:cs typeface="+mn-cs"/>
              </a:rPr>
              <a:t>NebraskaDHHS</a:t>
            </a:r>
            <a:endParaRPr lang="en-US" sz="850" dirty="0"/>
          </a:p>
        </p:txBody>
      </p:sp>
      <p:sp>
        <p:nvSpPr>
          <p:cNvPr id="18" name="Email Text"/>
          <p:cNvSpPr>
            <a:spLocks noGrp="1"/>
          </p:cNvSpPr>
          <p:nvPr>
            <p:ph type="body" sz="quarter" idx="15" hasCustomPrompt="1"/>
          </p:nvPr>
        </p:nvSpPr>
        <p:spPr>
          <a:xfrm>
            <a:off x="846764" y="4049200"/>
            <a:ext cx="10478729" cy="525982"/>
          </a:xfrm>
          <a:prstGeom prst="rect">
            <a:avLst/>
          </a:prstGeom>
        </p:spPr>
        <p:txBody>
          <a:bodyPr>
            <a:normAutofit/>
          </a:bodyPr>
          <a:lstStyle>
            <a:lvl1pPr marL="0" indent="0" algn="ctr">
              <a:buClr>
                <a:srgbClr val="0036C9"/>
              </a:buClr>
              <a:buFontTx/>
              <a:buNone/>
              <a:tabLst>
                <a:tab pos="182880" algn="l"/>
              </a:tabLst>
              <a:defRPr lang="en-US" sz="2400" b="0" kern="1200" baseline="0" dirty="0" smtClean="0">
                <a:solidFill>
                  <a:srgbClr val="7E99A9"/>
                </a:solidFill>
                <a:latin typeface="+mn-lt"/>
                <a:ea typeface="+mn-ea"/>
                <a:cs typeface="+mn-cs"/>
              </a:defRPr>
            </a:lvl1pPr>
            <a:lvl2pPr defTabSz="1828800">
              <a:defRPr/>
            </a:lvl2pPr>
            <a:lvl4pPr marL="1097280" indent="0">
              <a:spcBef>
                <a:spcPts val="1000"/>
              </a:spcBef>
              <a:buClr>
                <a:schemeClr val="accent1"/>
              </a:buClr>
              <a:buFontTx/>
              <a:buNone/>
              <a:defRPr/>
            </a:lvl4pPr>
          </a:lstStyle>
          <a:p>
            <a:pPr lvl="0"/>
            <a:r>
              <a:rPr lang="en-US" dirty="0"/>
              <a:t>000-000-0000</a:t>
            </a:r>
          </a:p>
        </p:txBody>
      </p:sp>
    </p:spTree>
    <p:extLst>
      <p:ext uri="{BB962C8B-B14F-4D97-AF65-F5344CB8AC3E}">
        <p14:creationId xmlns:p14="http://schemas.microsoft.com/office/powerpoint/2010/main" val="3969005537"/>
      </p:ext>
    </p:extLst>
  </p:cSld>
  <p:clrMapOvr>
    <a:masterClrMapping/>
  </p:clrMapOvr>
  <mc:AlternateContent xmlns:mc="http://schemas.openxmlformats.org/markup-compatibility/2006" xmlns:p14="http://schemas.microsoft.com/office/powerpoint/2010/main">
    <mc:Choice Requires="p14">
      <p:transition p14:dur="10" advClick="0" advTm="10000"/>
    </mc:Choice>
    <mc:Fallback xmlns="">
      <p:transition advClick="0" advTm="10000"/>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centered / no tex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38200" y="365125"/>
            <a:ext cx="10515600" cy="1316191"/>
          </a:xfrm>
          <a:prstGeom prst="rect">
            <a:avLst/>
          </a:prstGeom>
        </p:spPr>
        <p:txBody>
          <a:bodyPr/>
          <a:lstStyle>
            <a:lvl1pPr>
              <a:defRPr baseline="0">
                <a:latin typeface="+mj-lt"/>
                <a:cs typeface="Arial" panose="020B0604020202020204" pitchFamily="34" charset="0"/>
              </a:defRPr>
            </a:lvl1pPr>
          </a:lstStyle>
          <a:p>
            <a:r>
              <a:rPr lang="en-US" dirty="0"/>
              <a:t>Master Headline</a:t>
            </a:r>
          </a:p>
        </p:txBody>
      </p:sp>
    </p:spTree>
    <p:extLst>
      <p:ext uri="{BB962C8B-B14F-4D97-AF65-F5344CB8AC3E}">
        <p14:creationId xmlns:p14="http://schemas.microsoft.com/office/powerpoint/2010/main" val="3270998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cxnSp>
        <p:nvCxnSpPr>
          <p:cNvPr id="4" name="Title Page Rule Line"/>
          <p:cNvCxnSpPr/>
          <p:nvPr userDrawn="1"/>
        </p:nvCxnSpPr>
        <p:spPr>
          <a:xfrm>
            <a:off x="838200" y="2443431"/>
            <a:ext cx="10515600" cy="0"/>
          </a:xfrm>
          <a:prstGeom prst="line">
            <a:avLst/>
          </a:prstGeom>
          <a:ln w="15875">
            <a:solidFill>
              <a:srgbClr val="FFC843"/>
            </a:solidFill>
          </a:ln>
        </p:spPr>
        <p:style>
          <a:lnRef idx="2">
            <a:schemeClr val="accent1"/>
          </a:lnRef>
          <a:fillRef idx="0">
            <a:schemeClr val="accent1"/>
          </a:fillRef>
          <a:effectRef idx="1">
            <a:schemeClr val="accent1"/>
          </a:effectRef>
          <a:fontRef idx="minor">
            <a:schemeClr val="tx1"/>
          </a:fontRef>
        </p:style>
      </p:cxnSp>
      <p:sp>
        <p:nvSpPr>
          <p:cNvPr id="5" name="Master Title"/>
          <p:cNvSpPr>
            <a:spLocks noGrp="1"/>
          </p:cNvSpPr>
          <p:nvPr>
            <p:ph type="title" hasCustomPrompt="1"/>
          </p:nvPr>
        </p:nvSpPr>
        <p:spPr>
          <a:xfrm>
            <a:off x="838200" y="7010"/>
            <a:ext cx="10515600" cy="2417921"/>
          </a:xfrm>
          <a:prstGeom prst="rect">
            <a:avLst/>
          </a:prstGeom>
        </p:spPr>
        <p:txBody>
          <a:bodyPr anchor="b" anchorCtr="0">
            <a:normAutofit/>
          </a:bodyPr>
          <a:lstStyle>
            <a:lvl1pPr>
              <a:defRPr sz="4400">
                <a:solidFill>
                  <a:srgbClr val="036080"/>
                </a:solidFill>
                <a:latin typeface="+mj-lt"/>
              </a:defRPr>
            </a:lvl1pPr>
          </a:lstStyle>
          <a:p>
            <a:r>
              <a:rPr lang="en-US" dirty="0"/>
              <a:t>Headline</a:t>
            </a:r>
          </a:p>
        </p:txBody>
      </p:sp>
      <p:sp>
        <p:nvSpPr>
          <p:cNvPr id="6" name="Text Placeholder 3"/>
          <p:cNvSpPr>
            <a:spLocks noGrp="1"/>
          </p:cNvSpPr>
          <p:nvPr>
            <p:ph idx="1" hasCustomPrompt="1"/>
          </p:nvPr>
        </p:nvSpPr>
        <p:spPr>
          <a:xfrm>
            <a:off x="838200" y="2587767"/>
            <a:ext cx="10515600" cy="1925893"/>
          </a:xfrm>
          <a:prstGeom prst="rect">
            <a:avLst/>
          </a:prstGeom>
        </p:spPr>
        <p:txBody>
          <a:bodyPr vert="horz" lIns="91440" tIns="45720" rIns="91440" bIns="45720" rtlCol="0">
            <a:normAutofit/>
          </a:bodyPr>
          <a:lstStyle>
            <a:lvl1pPr algn="ctr">
              <a:defRPr sz="3200">
                <a:solidFill>
                  <a:srgbClr val="7E99A9"/>
                </a:solidFill>
                <a:latin typeface="+mn-lt"/>
                <a:ea typeface="Roboto" panose="02000000000000000000" pitchFamily="2" charset="0"/>
                <a:cs typeface="Roboto" panose="02000000000000000000" pitchFamily="2" charset="0"/>
              </a:defRPr>
            </a:lvl1pPr>
          </a:lstStyle>
          <a:p>
            <a:pPr lvl="0"/>
            <a:r>
              <a:rPr lang="en-US" dirty="0"/>
              <a:t>Subtitle</a:t>
            </a:r>
          </a:p>
        </p:txBody>
      </p:sp>
    </p:spTree>
    <p:extLst>
      <p:ext uri="{BB962C8B-B14F-4D97-AF65-F5344CB8AC3E}">
        <p14:creationId xmlns:p14="http://schemas.microsoft.com/office/powerpoint/2010/main" val="38899513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Headline / 1-column text">
    <p:spTree>
      <p:nvGrpSpPr>
        <p:cNvPr id="1" name=""/>
        <p:cNvGrpSpPr/>
        <p:nvPr/>
      </p:nvGrpSpPr>
      <p:grpSpPr>
        <a:xfrm>
          <a:off x="0" y="0"/>
          <a:ext cx="0" cy="0"/>
          <a:chOff x="0" y="0"/>
          <a:chExt cx="0" cy="0"/>
        </a:xfrm>
      </p:grpSpPr>
      <p:sp>
        <p:nvSpPr>
          <p:cNvPr id="5" name="Body Text"/>
          <p:cNvSpPr>
            <a:spLocks noGrp="1"/>
          </p:cNvSpPr>
          <p:nvPr>
            <p:ph type="body" sz="quarter" idx="11" hasCustomPrompt="1"/>
          </p:nvPr>
        </p:nvSpPr>
        <p:spPr>
          <a:xfrm>
            <a:off x="373487" y="1073568"/>
            <a:ext cx="11552349" cy="5060532"/>
          </a:xfrm>
          <a:prstGeom prst="rect">
            <a:avLst/>
          </a:prstGeom>
        </p:spPr>
        <p:txBody>
          <a:bodyPr/>
          <a:lstStyle>
            <a:lvl1pPr marL="0" indent="0" algn="l">
              <a:buNone/>
              <a:defRPr sz="2000">
                <a:solidFill>
                  <a:schemeClr val="tx1"/>
                </a:solidFill>
                <a:latin typeface="+mn-lt"/>
              </a:defRPr>
            </a:lvl1pPr>
          </a:lstStyle>
          <a:p>
            <a:pPr lvl="0"/>
            <a:r>
              <a:rPr lang="en-US" dirty="0"/>
              <a:t>1-column</a:t>
            </a:r>
          </a:p>
        </p:txBody>
      </p:sp>
      <p:cxnSp>
        <p:nvCxnSpPr>
          <p:cNvPr id="6" name="Title Page Rule Line"/>
          <p:cNvCxnSpPr/>
          <p:nvPr userDrawn="1"/>
        </p:nvCxnSpPr>
        <p:spPr>
          <a:xfrm>
            <a:off x="373487" y="940992"/>
            <a:ext cx="11552349" cy="0"/>
          </a:xfrm>
          <a:prstGeom prst="line">
            <a:avLst/>
          </a:prstGeom>
          <a:ln w="15875">
            <a:solidFill>
              <a:srgbClr val="FFC843"/>
            </a:solidFill>
          </a:ln>
        </p:spPr>
        <p:style>
          <a:lnRef idx="2">
            <a:schemeClr val="accent1"/>
          </a:lnRef>
          <a:fillRef idx="0">
            <a:schemeClr val="accent1"/>
          </a:fillRef>
          <a:effectRef idx="1">
            <a:schemeClr val="accent1"/>
          </a:effectRef>
          <a:fontRef idx="minor">
            <a:schemeClr val="tx1"/>
          </a:fontRef>
        </p:style>
      </p:cxnSp>
      <p:sp>
        <p:nvSpPr>
          <p:cNvPr id="7" name="Title 1"/>
          <p:cNvSpPr>
            <a:spLocks noGrp="1"/>
          </p:cNvSpPr>
          <p:nvPr>
            <p:ph type="title" hasCustomPrompt="1"/>
          </p:nvPr>
        </p:nvSpPr>
        <p:spPr>
          <a:xfrm>
            <a:off x="373487" y="365126"/>
            <a:ext cx="11552349" cy="696420"/>
          </a:xfrm>
          <a:prstGeom prst="rect">
            <a:avLst/>
          </a:prstGeom>
        </p:spPr>
        <p:txBody>
          <a:bodyPr>
            <a:noAutofit/>
          </a:bodyPr>
          <a:lstStyle>
            <a:lvl1pPr algn="l">
              <a:defRPr sz="3600">
                <a:latin typeface="+mj-lt"/>
              </a:defRPr>
            </a:lvl1pPr>
          </a:lstStyle>
          <a:p>
            <a:r>
              <a:rPr lang="en-US" dirty="0"/>
              <a:t>Headline</a:t>
            </a:r>
          </a:p>
        </p:txBody>
      </p:sp>
    </p:spTree>
    <p:extLst>
      <p:ext uri="{BB962C8B-B14F-4D97-AF65-F5344CB8AC3E}">
        <p14:creationId xmlns:p14="http://schemas.microsoft.com/office/powerpoint/2010/main" val="17712653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 1-column bulleted">
    <p:spTree>
      <p:nvGrpSpPr>
        <p:cNvPr id="1" name=""/>
        <p:cNvGrpSpPr/>
        <p:nvPr/>
      </p:nvGrpSpPr>
      <p:grpSpPr>
        <a:xfrm>
          <a:off x="0" y="0"/>
          <a:ext cx="0" cy="0"/>
          <a:chOff x="0" y="0"/>
          <a:chExt cx="0" cy="0"/>
        </a:xfrm>
      </p:grpSpPr>
      <p:sp>
        <p:nvSpPr>
          <p:cNvPr id="9" name="Bulleted Text"/>
          <p:cNvSpPr>
            <a:spLocks noGrp="1"/>
          </p:cNvSpPr>
          <p:nvPr>
            <p:ph type="body" sz="quarter" idx="12" hasCustomPrompt="1"/>
          </p:nvPr>
        </p:nvSpPr>
        <p:spPr>
          <a:xfrm>
            <a:off x="365098" y="1073276"/>
            <a:ext cx="11552349" cy="5060823"/>
          </a:xfrm>
          <a:prstGeom prst="rect">
            <a:avLst/>
          </a:prstGeom>
        </p:spPr>
        <p:txBody>
          <a:bodyPr lIns="0" tIns="45720" rIns="91440" spcCol="274320"/>
          <a:lstStyle>
            <a:lvl1pPr marL="457200" indent="-274320" algn="l">
              <a:lnSpc>
                <a:spcPct val="150000"/>
              </a:lnSpc>
              <a:spcBef>
                <a:spcPts val="0"/>
              </a:spcBef>
              <a:buClr>
                <a:srgbClr val="B9C8D3"/>
              </a:buClr>
              <a:buFont typeface="Wingdings 3" panose="05040102010807070707" pitchFamily="18" charset="2"/>
              <a:buChar char=""/>
              <a:defRPr lang="en-US" sz="1800" kern="1200" baseline="0" dirty="0" smtClean="0">
                <a:solidFill>
                  <a:schemeClr val="tx1"/>
                </a:solidFill>
                <a:latin typeface="+mn-lt"/>
                <a:ea typeface="Roboto" panose="02000000000000000000" pitchFamily="2" charset="0"/>
                <a:cs typeface="Roboto" panose="02000000000000000000" pitchFamily="2" charset="0"/>
              </a:defRPr>
            </a:lvl1pPr>
          </a:lstStyle>
          <a:p>
            <a:pPr lvl="0"/>
            <a:r>
              <a:rPr lang="en-US" dirty="0"/>
              <a:t>1-column bulleted text</a:t>
            </a:r>
          </a:p>
        </p:txBody>
      </p:sp>
      <p:sp>
        <p:nvSpPr>
          <p:cNvPr id="10" name="Title 1"/>
          <p:cNvSpPr>
            <a:spLocks noGrp="1"/>
          </p:cNvSpPr>
          <p:nvPr>
            <p:ph type="title" hasCustomPrompt="1"/>
          </p:nvPr>
        </p:nvSpPr>
        <p:spPr>
          <a:xfrm>
            <a:off x="373487" y="365126"/>
            <a:ext cx="11552349" cy="696420"/>
          </a:xfrm>
          <a:prstGeom prst="rect">
            <a:avLst/>
          </a:prstGeom>
        </p:spPr>
        <p:txBody>
          <a:bodyPr>
            <a:normAutofit/>
          </a:bodyPr>
          <a:lstStyle>
            <a:lvl1pPr algn="l">
              <a:defRPr sz="3600">
                <a:latin typeface="+mj-lt"/>
              </a:defRPr>
            </a:lvl1pPr>
          </a:lstStyle>
          <a:p>
            <a:r>
              <a:rPr lang="en-US" dirty="0"/>
              <a:t>Headline</a:t>
            </a:r>
          </a:p>
        </p:txBody>
      </p:sp>
      <p:cxnSp>
        <p:nvCxnSpPr>
          <p:cNvPr id="11" name="Title Page Rule Line"/>
          <p:cNvCxnSpPr/>
          <p:nvPr userDrawn="1"/>
        </p:nvCxnSpPr>
        <p:spPr>
          <a:xfrm>
            <a:off x="373487" y="940992"/>
            <a:ext cx="11552349" cy="0"/>
          </a:xfrm>
          <a:prstGeom prst="line">
            <a:avLst/>
          </a:prstGeom>
          <a:ln w="15875">
            <a:solidFill>
              <a:srgbClr val="FFC843"/>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683548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Headline / Subhead / Bulleted">
    <p:spTree>
      <p:nvGrpSpPr>
        <p:cNvPr id="1" name=""/>
        <p:cNvGrpSpPr/>
        <p:nvPr/>
      </p:nvGrpSpPr>
      <p:grpSpPr>
        <a:xfrm>
          <a:off x="0" y="0"/>
          <a:ext cx="0" cy="0"/>
          <a:chOff x="0" y="0"/>
          <a:chExt cx="0" cy="0"/>
        </a:xfrm>
      </p:grpSpPr>
      <p:sp>
        <p:nvSpPr>
          <p:cNvPr id="4" name="Bulleted Text"/>
          <p:cNvSpPr>
            <a:spLocks noGrp="1"/>
          </p:cNvSpPr>
          <p:nvPr>
            <p:ph type="body" sz="quarter" idx="11" hasCustomPrompt="1"/>
          </p:nvPr>
        </p:nvSpPr>
        <p:spPr>
          <a:xfrm>
            <a:off x="365098" y="1653828"/>
            <a:ext cx="11552349" cy="4480272"/>
          </a:xfrm>
          <a:prstGeom prst="rect">
            <a:avLst/>
          </a:prstGeom>
        </p:spPr>
        <p:txBody>
          <a:bodyPr spcCol="274320">
            <a:normAutofit/>
          </a:bodyPr>
          <a:lstStyle>
            <a:lvl1pPr marL="525780" indent="-342900" algn="l">
              <a:buClr>
                <a:srgbClr val="0036C9"/>
              </a:buClr>
              <a:buFont typeface="Wingdings 3" panose="05040102010807070707" pitchFamily="18" charset="2"/>
              <a:buChar char=""/>
              <a:defRPr lang="en-US" sz="2400" kern="1200" baseline="0" dirty="0" smtClean="0">
                <a:solidFill>
                  <a:schemeClr val="tx1"/>
                </a:solidFill>
                <a:latin typeface="Roboto" panose="02000000000000000000" pitchFamily="2" charset="0"/>
                <a:ea typeface="Roboto" panose="02000000000000000000" pitchFamily="2" charset="0"/>
                <a:cs typeface="Roboto" panose="02000000000000000000" pitchFamily="2" charset="0"/>
              </a:defRPr>
            </a:lvl1pPr>
            <a:lvl2pPr marL="685800" indent="-228600">
              <a:buFont typeface="Arial" panose="020B0604020202020204" pitchFamily="34" charset="0"/>
              <a:buChar char="•"/>
              <a:defRPr sz="2000">
                <a:latin typeface="Arial" panose="020B0604020202020204" pitchFamily="34" charset="0"/>
                <a:cs typeface="Arial" panose="020B0604020202020204" pitchFamily="34" charset="0"/>
              </a:defRPr>
            </a:lvl2pPr>
            <a:lvl3pPr marL="1143000" indent="-228600">
              <a:buFont typeface="Arial" panose="020B0604020202020204" pitchFamily="34" charset="0"/>
              <a:buChar char="•"/>
              <a:defRPr sz="1800">
                <a:latin typeface="Arial" panose="020B0604020202020204" pitchFamily="34" charset="0"/>
                <a:cs typeface="Arial" panose="020B0604020202020204" pitchFamily="34" charset="0"/>
              </a:defRPr>
            </a:lvl3pPr>
            <a:lvl4pPr marL="1600200" indent="-228600">
              <a:buFont typeface="Arial" panose="020B0604020202020204" pitchFamily="34" charset="0"/>
              <a:buChar char="•"/>
              <a:defRPr sz="1600">
                <a:latin typeface="Arial" panose="020B0604020202020204" pitchFamily="34" charset="0"/>
                <a:cs typeface="Arial" panose="020B0604020202020204" pitchFamily="34" charset="0"/>
              </a:defRPr>
            </a:lvl4pPr>
            <a:lvl5pPr marL="2057400" indent="-228600">
              <a:buFont typeface="Arial" panose="020B0604020202020204" pitchFamily="34" charset="0"/>
              <a:buChar char="•"/>
              <a:defRPr sz="1400">
                <a:latin typeface="Arial" panose="020B0604020202020204" pitchFamily="34" charset="0"/>
                <a:cs typeface="Arial" panose="020B0604020202020204" pitchFamily="34" charset="0"/>
              </a:defRPr>
            </a:lvl5pPr>
          </a:lstStyle>
          <a:p>
            <a:pPr lvl="1"/>
            <a:r>
              <a:rPr lang="en-US" dirty="0"/>
              <a:t>Bulleted</a:t>
            </a:r>
          </a:p>
          <a:p>
            <a:pPr lvl="2"/>
            <a:r>
              <a:rPr lang="en-US" dirty="0"/>
              <a:t>Bulleted</a:t>
            </a:r>
          </a:p>
          <a:p>
            <a:pPr lvl="3"/>
            <a:r>
              <a:rPr lang="en-US" dirty="0"/>
              <a:t>Bulleted</a:t>
            </a:r>
          </a:p>
          <a:p>
            <a:pPr lvl="4"/>
            <a:r>
              <a:rPr lang="en-US" dirty="0"/>
              <a:t>Bulleted</a:t>
            </a:r>
          </a:p>
        </p:txBody>
      </p:sp>
      <p:sp>
        <p:nvSpPr>
          <p:cNvPr id="6" name="Page Subhead Bold"/>
          <p:cNvSpPr>
            <a:spLocks noGrp="1"/>
          </p:cNvSpPr>
          <p:nvPr>
            <p:ph type="body" sz="quarter" idx="12" hasCustomPrompt="1"/>
          </p:nvPr>
        </p:nvSpPr>
        <p:spPr>
          <a:xfrm>
            <a:off x="365097" y="1080538"/>
            <a:ext cx="11552349" cy="559488"/>
          </a:xfrm>
          <a:prstGeom prst="rect">
            <a:avLst/>
          </a:prstGeom>
        </p:spPr>
        <p:txBody>
          <a:bodyPr>
            <a:normAutofit/>
          </a:bodyPr>
          <a:lstStyle>
            <a:lvl1pPr marL="0" indent="0" algn="l">
              <a:buClr>
                <a:srgbClr val="0036C9"/>
              </a:buClr>
              <a:buFont typeface="Wingdings 3" panose="05040102010807070707" pitchFamily="18" charset="2"/>
              <a:buNone/>
              <a:defRPr sz="2400" b="0">
                <a:solidFill>
                  <a:srgbClr val="7E99A9"/>
                </a:solidFill>
                <a:latin typeface="+mn-lt"/>
                <a:ea typeface="Roboto" panose="02000000000000000000" pitchFamily="2" charset="0"/>
                <a:cs typeface="Roboto" panose="02000000000000000000" pitchFamily="2" charset="0"/>
              </a:defRPr>
            </a:lvl1pPr>
          </a:lstStyle>
          <a:p>
            <a:pPr lvl="0"/>
            <a:r>
              <a:rPr lang="en-US" dirty="0"/>
              <a:t>Subhead</a:t>
            </a:r>
          </a:p>
        </p:txBody>
      </p:sp>
      <p:sp>
        <p:nvSpPr>
          <p:cNvPr id="8" name="Title 1"/>
          <p:cNvSpPr>
            <a:spLocks noGrp="1"/>
          </p:cNvSpPr>
          <p:nvPr>
            <p:ph type="title" hasCustomPrompt="1"/>
          </p:nvPr>
        </p:nvSpPr>
        <p:spPr>
          <a:xfrm>
            <a:off x="373487" y="365126"/>
            <a:ext cx="11552349" cy="696420"/>
          </a:xfrm>
          <a:prstGeom prst="rect">
            <a:avLst/>
          </a:prstGeom>
        </p:spPr>
        <p:txBody>
          <a:bodyPr>
            <a:normAutofit/>
          </a:bodyPr>
          <a:lstStyle>
            <a:lvl1pPr algn="l">
              <a:defRPr sz="3600">
                <a:latin typeface="+mj-lt"/>
              </a:defRPr>
            </a:lvl1pPr>
          </a:lstStyle>
          <a:p>
            <a:r>
              <a:rPr lang="en-US" dirty="0"/>
              <a:t>Headline</a:t>
            </a:r>
          </a:p>
        </p:txBody>
      </p:sp>
      <p:cxnSp>
        <p:nvCxnSpPr>
          <p:cNvPr id="9" name="Title Page Rule Line"/>
          <p:cNvCxnSpPr/>
          <p:nvPr userDrawn="1"/>
        </p:nvCxnSpPr>
        <p:spPr>
          <a:xfrm>
            <a:off x="373487" y="940992"/>
            <a:ext cx="11552349" cy="0"/>
          </a:xfrm>
          <a:prstGeom prst="line">
            <a:avLst/>
          </a:prstGeom>
          <a:ln w="15875">
            <a:solidFill>
              <a:srgbClr val="FFC843"/>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7008704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Headline / 2-column / bulleted">
    <p:spTree>
      <p:nvGrpSpPr>
        <p:cNvPr id="1" name=""/>
        <p:cNvGrpSpPr/>
        <p:nvPr/>
      </p:nvGrpSpPr>
      <p:grpSpPr>
        <a:xfrm>
          <a:off x="0" y="0"/>
          <a:ext cx="0" cy="0"/>
          <a:chOff x="0" y="0"/>
          <a:chExt cx="0" cy="0"/>
        </a:xfrm>
      </p:grpSpPr>
      <p:sp>
        <p:nvSpPr>
          <p:cNvPr id="8" name="Body Text 3-col"/>
          <p:cNvSpPr>
            <a:spLocks noGrp="1"/>
          </p:cNvSpPr>
          <p:nvPr>
            <p:ph type="body" sz="quarter" idx="11" hasCustomPrompt="1"/>
          </p:nvPr>
        </p:nvSpPr>
        <p:spPr>
          <a:xfrm>
            <a:off x="365097" y="1081210"/>
            <a:ext cx="11560739" cy="4936131"/>
          </a:xfrm>
          <a:prstGeom prst="rect">
            <a:avLst/>
          </a:prstGeom>
        </p:spPr>
        <p:txBody>
          <a:bodyPr wrap="none" numCol="2" spcCol="274320">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2000">
                <a:solidFill>
                  <a:schemeClr val="tx1"/>
                </a:solidFill>
                <a:latin typeface="+mn-lt"/>
              </a:defRPr>
            </a:lvl1pPr>
            <a:lvl2pPr marL="685800" indent="-228600">
              <a:buFont typeface="Arial" panose="020B0604020202020204" pitchFamily="34" charset="0"/>
              <a:buChar char="•"/>
              <a:defRPr sz="2000">
                <a:latin typeface="+mn-lt"/>
              </a:defRPr>
            </a:lvl2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2-column text</a:t>
            </a:r>
          </a:p>
          <a:p>
            <a:pPr lvl="1"/>
            <a:r>
              <a:rPr lang="en-US" dirty="0"/>
              <a:t>Bulleted</a:t>
            </a:r>
          </a:p>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endParaRPr lang="en-US" dirty="0"/>
          </a:p>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endParaRPr lang="en-US" dirty="0"/>
          </a:p>
        </p:txBody>
      </p:sp>
      <p:sp>
        <p:nvSpPr>
          <p:cNvPr id="9" name="Title 1"/>
          <p:cNvSpPr>
            <a:spLocks noGrp="1"/>
          </p:cNvSpPr>
          <p:nvPr>
            <p:ph type="title" hasCustomPrompt="1"/>
          </p:nvPr>
        </p:nvSpPr>
        <p:spPr>
          <a:xfrm>
            <a:off x="373487" y="365126"/>
            <a:ext cx="11552349" cy="696420"/>
          </a:xfrm>
          <a:prstGeom prst="rect">
            <a:avLst/>
          </a:prstGeom>
        </p:spPr>
        <p:txBody>
          <a:bodyPr>
            <a:normAutofit/>
          </a:bodyPr>
          <a:lstStyle>
            <a:lvl1pPr algn="l">
              <a:defRPr sz="3600">
                <a:latin typeface="+mj-lt"/>
              </a:defRPr>
            </a:lvl1pPr>
          </a:lstStyle>
          <a:p>
            <a:r>
              <a:rPr lang="en-US" dirty="0"/>
              <a:t>Headline</a:t>
            </a:r>
          </a:p>
        </p:txBody>
      </p:sp>
      <p:cxnSp>
        <p:nvCxnSpPr>
          <p:cNvPr id="10" name="Title Page Rule Line"/>
          <p:cNvCxnSpPr/>
          <p:nvPr userDrawn="1"/>
        </p:nvCxnSpPr>
        <p:spPr>
          <a:xfrm>
            <a:off x="373487" y="940992"/>
            <a:ext cx="11552349" cy="0"/>
          </a:xfrm>
          <a:prstGeom prst="line">
            <a:avLst/>
          </a:prstGeom>
          <a:ln w="15875">
            <a:solidFill>
              <a:srgbClr val="FFC843"/>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953681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Headline / 1-column / photos">
    <p:spTree>
      <p:nvGrpSpPr>
        <p:cNvPr id="1" name=""/>
        <p:cNvGrpSpPr/>
        <p:nvPr/>
      </p:nvGrpSpPr>
      <p:grpSpPr>
        <a:xfrm>
          <a:off x="0" y="0"/>
          <a:ext cx="0" cy="0"/>
          <a:chOff x="0" y="0"/>
          <a:chExt cx="0" cy="0"/>
        </a:xfrm>
      </p:grpSpPr>
      <p:sp>
        <p:nvSpPr>
          <p:cNvPr id="4" name="Smaller Body Text"/>
          <p:cNvSpPr>
            <a:spLocks noGrp="1"/>
          </p:cNvSpPr>
          <p:nvPr>
            <p:ph type="body" sz="quarter" idx="11" hasCustomPrompt="1"/>
          </p:nvPr>
        </p:nvSpPr>
        <p:spPr>
          <a:xfrm>
            <a:off x="373488" y="1081210"/>
            <a:ext cx="4178022" cy="4955448"/>
          </a:xfrm>
          <a:prstGeom prst="rect">
            <a:avLst/>
          </a:prstGeom>
        </p:spPr>
        <p:txBody>
          <a:bodyPr spcCol="274320">
            <a:normAutofit/>
          </a:bodyPr>
          <a:lstStyle>
            <a:lvl1pPr marL="0" indent="0" algn="l">
              <a:buNone/>
              <a:defRPr sz="2000">
                <a:solidFill>
                  <a:schemeClr val="tx1"/>
                </a:solidFill>
                <a:latin typeface="+mn-lt"/>
              </a:defRPr>
            </a:lvl1pPr>
          </a:lstStyle>
          <a:p>
            <a:pPr lvl="0"/>
            <a:r>
              <a:rPr lang="en-US" dirty="0"/>
              <a:t>1-column text</a:t>
            </a:r>
          </a:p>
        </p:txBody>
      </p:sp>
      <p:sp>
        <p:nvSpPr>
          <p:cNvPr id="5" name="Picture Placeholder 12"/>
          <p:cNvSpPr>
            <a:spLocks noGrp="1"/>
          </p:cNvSpPr>
          <p:nvPr>
            <p:ph type="pic" sz="quarter" idx="12" hasCustomPrompt="1"/>
          </p:nvPr>
        </p:nvSpPr>
        <p:spPr>
          <a:xfrm>
            <a:off x="7043895" y="1085118"/>
            <a:ext cx="4808380" cy="3818910"/>
          </a:xfrm>
          <a:prstGeom prst="rect">
            <a:avLst/>
          </a:prstGeom>
        </p:spPr>
        <p:txBody>
          <a:bodyPr/>
          <a:lstStyle>
            <a:lvl1pPr>
              <a:defRPr>
                <a:solidFill>
                  <a:srgbClr val="FFC843"/>
                </a:solidFill>
                <a:latin typeface="+mn-lt"/>
              </a:defRPr>
            </a:lvl1pPr>
          </a:lstStyle>
          <a:p>
            <a:r>
              <a:rPr lang="en-US" dirty="0"/>
              <a:t>photo</a:t>
            </a:r>
          </a:p>
        </p:txBody>
      </p:sp>
      <p:sp>
        <p:nvSpPr>
          <p:cNvPr id="6" name="Picture Placeholder 14"/>
          <p:cNvSpPr>
            <a:spLocks noGrp="1"/>
          </p:cNvSpPr>
          <p:nvPr>
            <p:ph type="pic" sz="quarter" idx="13" hasCustomPrompt="1"/>
          </p:nvPr>
        </p:nvSpPr>
        <p:spPr>
          <a:xfrm>
            <a:off x="4732338" y="1085118"/>
            <a:ext cx="2130729" cy="1819288"/>
          </a:xfrm>
          <a:prstGeom prst="rect">
            <a:avLst/>
          </a:prstGeom>
        </p:spPr>
        <p:txBody>
          <a:bodyPr/>
          <a:lstStyle>
            <a:lvl1pPr>
              <a:defRPr>
                <a:solidFill>
                  <a:srgbClr val="FFC843"/>
                </a:solidFill>
                <a:latin typeface="+mn-lt"/>
              </a:defRPr>
            </a:lvl1pPr>
          </a:lstStyle>
          <a:p>
            <a:r>
              <a:rPr lang="en-US" dirty="0"/>
              <a:t>photo</a:t>
            </a:r>
          </a:p>
        </p:txBody>
      </p:sp>
      <p:sp>
        <p:nvSpPr>
          <p:cNvPr id="7" name="Picture Placeholder 16"/>
          <p:cNvSpPr>
            <a:spLocks noGrp="1"/>
          </p:cNvSpPr>
          <p:nvPr>
            <p:ph type="pic" sz="quarter" idx="14" hasCustomPrompt="1"/>
          </p:nvPr>
        </p:nvSpPr>
        <p:spPr>
          <a:xfrm>
            <a:off x="4732338" y="3094901"/>
            <a:ext cx="2160587" cy="1809128"/>
          </a:xfrm>
          <a:prstGeom prst="rect">
            <a:avLst/>
          </a:prstGeom>
        </p:spPr>
        <p:txBody>
          <a:bodyPr/>
          <a:lstStyle>
            <a:lvl1pPr>
              <a:defRPr>
                <a:solidFill>
                  <a:srgbClr val="FFC843"/>
                </a:solidFill>
                <a:latin typeface="+mn-lt"/>
              </a:defRPr>
            </a:lvl1pPr>
          </a:lstStyle>
          <a:p>
            <a:r>
              <a:rPr lang="en-US" dirty="0"/>
              <a:t>photo</a:t>
            </a:r>
          </a:p>
        </p:txBody>
      </p:sp>
      <p:sp>
        <p:nvSpPr>
          <p:cNvPr id="8" name="Title 1"/>
          <p:cNvSpPr>
            <a:spLocks noGrp="1"/>
          </p:cNvSpPr>
          <p:nvPr>
            <p:ph type="title" hasCustomPrompt="1"/>
          </p:nvPr>
        </p:nvSpPr>
        <p:spPr>
          <a:xfrm>
            <a:off x="373488" y="365126"/>
            <a:ext cx="11478084" cy="696420"/>
          </a:xfrm>
          <a:prstGeom prst="rect">
            <a:avLst/>
          </a:prstGeom>
        </p:spPr>
        <p:txBody>
          <a:bodyPr>
            <a:normAutofit/>
          </a:bodyPr>
          <a:lstStyle>
            <a:lvl1pPr algn="l">
              <a:defRPr sz="3600">
                <a:latin typeface="+mj-lt"/>
              </a:defRPr>
            </a:lvl1pPr>
          </a:lstStyle>
          <a:p>
            <a:r>
              <a:rPr lang="en-US" dirty="0"/>
              <a:t>Headline</a:t>
            </a:r>
          </a:p>
        </p:txBody>
      </p:sp>
      <p:cxnSp>
        <p:nvCxnSpPr>
          <p:cNvPr id="9" name="Title Page Rule Line"/>
          <p:cNvCxnSpPr/>
          <p:nvPr userDrawn="1"/>
        </p:nvCxnSpPr>
        <p:spPr>
          <a:xfrm>
            <a:off x="373487" y="941997"/>
            <a:ext cx="11552349" cy="0"/>
          </a:xfrm>
          <a:prstGeom prst="line">
            <a:avLst/>
          </a:prstGeom>
          <a:ln w="15875">
            <a:solidFill>
              <a:srgbClr val="FFC843"/>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8869754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Headline / 1-column bulleted">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a:xfrm>
            <a:off x="9456174" y="6356350"/>
            <a:ext cx="2283542" cy="365125"/>
          </a:xfrm>
          <a:prstGeom prst="rect">
            <a:avLst/>
          </a:prstGeom>
        </p:spPr>
        <p:txBody>
          <a:bodyPr/>
          <a:lstStyle/>
          <a:p>
            <a:fld id="{07E7C557-6977-4010-A8B0-973A074F99DE}" type="slidenum">
              <a:rPr lang="en-US" smtClean="0"/>
              <a:pPr/>
              <a:t>‹#›</a:t>
            </a:fld>
            <a:endParaRPr lang="en-US" dirty="0"/>
          </a:p>
        </p:txBody>
      </p:sp>
      <p:sp>
        <p:nvSpPr>
          <p:cNvPr id="5" name="Text Placeholder 3"/>
          <p:cNvSpPr>
            <a:spLocks noGrp="1"/>
          </p:cNvSpPr>
          <p:nvPr>
            <p:ph type="body" sz="quarter" idx="11" hasCustomPrompt="1"/>
          </p:nvPr>
        </p:nvSpPr>
        <p:spPr>
          <a:xfrm>
            <a:off x="365097" y="1081210"/>
            <a:ext cx="11560739" cy="4716953"/>
          </a:xfrm>
          <a:prstGeom prst="rect">
            <a:avLst/>
          </a:prstGeom>
        </p:spPr>
        <p:txBody>
          <a:bodyPr spcCol="274320"/>
          <a:lstStyle>
            <a:lvl2pPr marL="685800" indent="-228600">
              <a:buFont typeface="Arial" panose="020B0604020202020204" pitchFamily="34" charset="0"/>
              <a:buChar char="•"/>
              <a:defRPr>
                <a:latin typeface="+mn-lt"/>
              </a:defRPr>
            </a:lvl2pPr>
            <a:lvl3pPr marL="1143000" indent="-228600">
              <a:buFont typeface="Arial" panose="020B0604020202020204" pitchFamily="34" charset="0"/>
              <a:buChar char="•"/>
              <a:defRPr>
                <a:latin typeface="+mn-lt"/>
              </a:defRPr>
            </a:lvl3pPr>
            <a:lvl4pPr marL="1600200" indent="-228600">
              <a:buFont typeface="Arial" panose="020B0604020202020204" pitchFamily="34" charset="0"/>
              <a:buChar char="•"/>
              <a:defRPr>
                <a:latin typeface="+mn-lt"/>
              </a:defRPr>
            </a:lvl4pPr>
            <a:lvl5pPr marL="2057400" indent="-228600">
              <a:buFont typeface="Arial" panose="020B0604020202020204" pitchFamily="34" charset="0"/>
              <a:buChar char="•"/>
              <a:defRPr>
                <a:latin typeface="+mn-lt"/>
              </a:defRPr>
            </a:lvl5pPr>
          </a:lstStyle>
          <a:p>
            <a:pPr lvl="1"/>
            <a:r>
              <a:rPr lang="en-US" dirty="0"/>
              <a:t>Bulleted</a:t>
            </a:r>
          </a:p>
          <a:p>
            <a:pPr lvl="2"/>
            <a:r>
              <a:rPr lang="en-US" dirty="0"/>
              <a:t>Bulleted</a:t>
            </a:r>
          </a:p>
          <a:p>
            <a:pPr lvl="3"/>
            <a:r>
              <a:rPr lang="en-US" dirty="0"/>
              <a:t>Bulleted</a:t>
            </a:r>
          </a:p>
          <a:p>
            <a:pPr lvl="4"/>
            <a:r>
              <a:rPr lang="en-US" dirty="0"/>
              <a:t>Bulleted</a:t>
            </a:r>
          </a:p>
        </p:txBody>
      </p:sp>
      <p:sp>
        <p:nvSpPr>
          <p:cNvPr id="9" name="Title 1"/>
          <p:cNvSpPr>
            <a:spLocks noGrp="1"/>
          </p:cNvSpPr>
          <p:nvPr>
            <p:ph type="title" hasCustomPrompt="1"/>
          </p:nvPr>
        </p:nvSpPr>
        <p:spPr>
          <a:xfrm>
            <a:off x="373487" y="365126"/>
            <a:ext cx="11552349" cy="696420"/>
          </a:xfrm>
          <a:prstGeom prst="rect">
            <a:avLst/>
          </a:prstGeom>
        </p:spPr>
        <p:txBody>
          <a:bodyPr>
            <a:normAutofit/>
          </a:bodyPr>
          <a:lstStyle>
            <a:lvl1pPr algn="l">
              <a:defRPr sz="3600">
                <a:latin typeface="+mj-lt"/>
              </a:defRPr>
            </a:lvl1pPr>
          </a:lstStyle>
          <a:p>
            <a:r>
              <a:rPr lang="en-US" dirty="0"/>
              <a:t>Headline</a:t>
            </a:r>
          </a:p>
        </p:txBody>
      </p:sp>
      <p:cxnSp>
        <p:nvCxnSpPr>
          <p:cNvPr id="10" name="Title Page Rule Line"/>
          <p:cNvCxnSpPr/>
          <p:nvPr userDrawn="1"/>
        </p:nvCxnSpPr>
        <p:spPr>
          <a:xfrm>
            <a:off x="373487" y="940992"/>
            <a:ext cx="11552349" cy="0"/>
          </a:xfrm>
          <a:prstGeom prst="line">
            <a:avLst/>
          </a:prstGeom>
          <a:ln w="15875">
            <a:solidFill>
              <a:srgbClr val="FFC843"/>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04581004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Large logo">
    <p:spTree>
      <p:nvGrpSpPr>
        <p:cNvPr id="1" name=""/>
        <p:cNvGrpSpPr/>
        <p:nvPr/>
      </p:nvGrpSpPr>
      <p:grpSpPr>
        <a:xfrm>
          <a:off x="0" y="0"/>
          <a:ext cx="0" cy="0"/>
          <a:chOff x="0" y="0"/>
          <a:chExt cx="0" cy="0"/>
        </a:xfrm>
      </p:grpSpPr>
      <p:sp>
        <p:nvSpPr>
          <p:cNvPr id="6" name="Title Placeholder 3"/>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lvl1pPr>
              <a:defRPr>
                <a:latin typeface="+mj-lt"/>
              </a:defRPr>
            </a:lvl1pPr>
          </a:lstStyle>
          <a:p>
            <a:r>
              <a:rPr lang="en-US" dirty="0"/>
              <a:t>Master title</a:t>
            </a:r>
          </a:p>
        </p:txBody>
      </p:sp>
    </p:spTree>
    <p:extLst>
      <p:ext uri="{BB962C8B-B14F-4D97-AF65-F5344CB8AC3E}">
        <p14:creationId xmlns:p14="http://schemas.microsoft.com/office/powerpoint/2010/main" val="410983955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Brand Title Page">
    <p:spTree>
      <p:nvGrpSpPr>
        <p:cNvPr id="1" name=""/>
        <p:cNvGrpSpPr/>
        <p:nvPr/>
      </p:nvGrpSpPr>
      <p:grpSpPr>
        <a:xfrm>
          <a:off x="0" y="0"/>
          <a:ext cx="0" cy="0"/>
          <a:chOff x="0" y="0"/>
          <a:chExt cx="0" cy="0"/>
        </a:xfrm>
      </p:grpSpPr>
      <p:cxnSp>
        <p:nvCxnSpPr>
          <p:cNvPr id="5" name="Title Page Rule Line"/>
          <p:cNvCxnSpPr/>
          <p:nvPr/>
        </p:nvCxnSpPr>
        <p:spPr>
          <a:xfrm>
            <a:off x="838200" y="3558784"/>
            <a:ext cx="10515600" cy="0"/>
          </a:xfrm>
          <a:prstGeom prst="line">
            <a:avLst/>
          </a:prstGeom>
          <a:ln w="15875">
            <a:solidFill>
              <a:srgbClr val="FFC843"/>
            </a:solidFill>
          </a:ln>
        </p:spPr>
        <p:style>
          <a:lnRef idx="2">
            <a:schemeClr val="accent1"/>
          </a:lnRef>
          <a:fillRef idx="0">
            <a:schemeClr val="accent1"/>
          </a:fillRef>
          <a:effectRef idx="1">
            <a:schemeClr val="accent1"/>
          </a:effectRef>
          <a:fontRef idx="minor">
            <a:schemeClr val="tx1"/>
          </a:fontRef>
        </p:style>
      </p:cxnSp>
      <p:sp>
        <p:nvSpPr>
          <p:cNvPr id="2" name="Master Title"/>
          <p:cNvSpPr>
            <a:spLocks noGrp="1"/>
          </p:cNvSpPr>
          <p:nvPr>
            <p:ph type="title" hasCustomPrompt="1"/>
          </p:nvPr>
        </p:nvSpPr>
        <p:spPr>
          <a:xfrm>
            <a:off x="838200" y="1122363"/>
            <a:ext cx="10515600" cy="2417921"/>
          </a:xfrm>
          <a:prstGeom prst="rect">
            <a:avLst/>
          </a:prstGeom>
        </p:spPr>
        <p:txBody>
          <a:bodyPr anchor="b" anchorCtr="0">
            <a:normAutofit/>
          </a:bodyPr>
          <a:lstStyle>
            <a:lvl1pPr>
              <a:defRPr sz="4400">
                <a:solidFill>
                  <a:srgbClr val="036080"/>
                </a:solidFill>
              </a:defRPr>
            </a:lvl1pPr>
          </a:lstStyle>
          <a:p>
            <a:r>
              <a:rPr lang="en-US" dirty="0"/>
              <a:t>Click to edit Master Title</a:t>
            </a:r>
          </a:p>
        </p:txBody>
      </p:sp>
      <p:sp>
        <p:nvSpPr>
          <p:cNvPr id="7" name="Text Placeholder 3"/>
          <p:cNvSpPr>
            <a:spLocks noGrp="1"/>
          </p:cNvSpPr>
          <p:nvPr>
            <p:ph idx="1" hasCustomPrompt="1"/>
          </p:nvPr>
        </p:nvSpPr>
        <p:spPr>
          <a:xfrm>
            <a:off x="838200" y="3703120"/>
            <a:ext cx="10515600" cy="1925893"/>
          </a:xfrm>
          <a:prstGeom prst="rect">
            <a:avLst/>
          </a:prstGeom>
        </p:spPr>
        <p:txBody>
          <a:bodyPr vert="horz" lIns="91440" tIns="45720" rIns="91440" bIns="45720" rtlCol="0">
            <a:normAutofit/>
          </a:bodyPr>
          <a:lstStyle>
            <a:lvl1pPr algn="ctr">
              <a:defRPr sz="3200">
                <a:solidFill>
                  <a:srgbClr val="BABF33"/>
                </a:solidFill>
                <a:latin typeface="Roboto" panose="02000000000000000000" pitchFamily="2" charset="0"/>
                <a:ea typeface="Roboto" panose="02000000000000000000" pitchFamily="2" charset="0"/>
                <a:cs typeface="Roboto" panose="02000000000000000000" pitchFamily="2" charset="0"/>
              </a:defRPr>
            </a:lvl1pPr>
          </a:lstStyle>
          <a:p>
            <a:pPr lvl="0"/>
            <a:r>
              <a:rPr lang="en-US" dirty="0"/>
              <a:t>Click to edit Subtitle</a:t>
            </a:r>
          </a:p>
        </p:txBody>
      </p:sp>
    </p:spTree>
    <p:extLst>
      <p:ext uri="{BB962C8B-B14F-4D97-AF65-F5344CB8AC3E}">
        <p14:creationId xmlns:p14="http://schemas.microsoft.com/office/powerpoint/2010/main" val="14563103"/>
      </p:ext>
    </p:extLst>
  </p:cSld>
  <p:clrMapOvr>
    <a:masterClrMapping/>
  </p:clrMapOvr>
  <mc:AlternateContent xmlns:mc="http://schemas.openxmlformats.org/markup-compatibility/2006" xmlns:p14="http://schemas.microsoft.com/office/powerpoint/2010/main">
    <mc:Choice Requires="p14">
      <p:transition p14:dur="10" advClick="0" advTm="10000"/>
    </mc:Choice>
    <mc:Fallback xmlns="">
      <p:transition advClick="0" advTm="10000"/>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Brand DHHS Title and Content">
    <p:spTree>
      <p:nvGrpSpPr>
        <p:cNvPr id="1" name=""/>
        <p:cNvGrpSpPr/>
        <p:nvPr/>
      </p:nvGrpSpPr>
      <p:grpSpPr>
        <a:xfrm>
          <a:off x="0" y="0"/>
          <a:ext cx="0" cy="0"/>
          <a:chOff x="0" y="0"/>
          <a:chExt cx="0" cy="0"/>
        </a:xfrm>
      </p:grpSpPr>
      <p:sp>
        <p:nvSpPr>
          <p:cNvPr id="14" name="Body Text"/>
          <p:cNvSpPr>
            <a:spLocks noGrp="1"/>
          </p:cNvSpPr>
          <p:nvPr>
            <p:ph type="body" sz="quarter" idx="10" hasCustomPrompt="1"/>
          </p:nvPr>
        </p:nvSpPr>
        <p:spPr>
          <a:xfrm>
            <a:off x="373487" y="1197393"/>
            <a:ext cx="11552349" cy="4390607"/>
          </a:xfrm>
          <a:prstGeom prst="rect">
            <a:avLst/>
          </a:prstGeom>
        </p:spPr>
        <p:txBody>
          <a:bodyPr/>
          <a:lstStyle>
            <a:lvl1pPr marL="0" indent="0" algn="l">
              <a:buNone/>
              <a:defRPr sz="2000">
                <a:solidFill>
                  <a:schemeClr val="tx1"/>
                </a:solidFill>
              </a:defRPr>
            </a:lvl1pPr>
          </a:lstStyle>
          <a:p>
            <a:pPr lvl="0"/>
            <a:r>
              <a:rPr lang="en-US" dirty="0"/>
              <a:t>Click to edit text</a:t>
            </a:r>
          </a:p>
        </p:txBody>
      </p:sp>
      <p:sp>
        <p:nvSpPr>
          <p:cNvPr id="7" name="Title 1"/>
          <p:cNvSpPr>
            <a:spLocks noGrp="1"/>
          </p:cNvSpPr>
          <p:nvPr>
            <p:ph type="title"/>
          </p:nvPr>
        </p:nvSpPr>
        <p:spPr>
          <a:xfrm>
            <a:off x="373487" y="365126"/>
            <a:ext cx="11552349" cy="696420"/>
          </a:xfrm>
          <a:prstGeom prst="rect">
            <a:avLst/>
          </a:prstGeom>
        </p:spPr>
        <p:txBody>
          <a:bodyPr>
            <a:noAutofit/>
          </a:bodyPr>
          <a:lstStyle>
            <a:lvl1pPr algn="l">
              <a:defRPr sz="3600"/>
            </a:lvl1pPr>
          </a:lstStyle>
          <a:p>
            <a:r>
              <a:rPr lang="en-US"/>
              <a:t>Click to edit Master title style</a:t>
            </a:r>
            <a:endParaRPr lang="en-US" dirty="0"/>
          </a:p>
        </p:txBody>
      </p:sp>
      <p:cxnSp>
        <p:nvCxnSpPr>
          <p:cNvPr id="5" name="Title Page Rule Line"/>
          <p:cNvCxnSpPr/>
          <p:nvPr/>
        </p:nvCxnSpPr>
        <p:spPr>
          <a:xfrm>
            <a:off x="373487" y="1064817"/>
            <a:ext cx="11552349" cy="0"/>
          </a:xfrm>
          <a:prstGeom prst="line">
            <a:avLst/>
          </a:prstGeom>
          <a:ln w="15875">
            <a:solidFill>
              <a:srgbClr val="FFC843"/>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48512935"/>
      </p:ext>
    </p:extLst>
  </p:cSld>
  <p:clrMapOvr>
    <a:masterClrMapping/>
  </p:clrMapOvr>
  <mc:AlternateContent xmlns:mc="http://schemas.openxmlformats.org/markup-compatibility/2006" xmlns:p14="http://schemas.microsoft.com/office/powerpoint/2010/main">
    <mc:Choice Requires="p14">
      <p:transition p14:dur="10" advClick="0" advTm="10000"/>
    </mc:Choice>
    <mc:Fallback xmlns="">
      <p:transition advClick="0" advTm="10000"/>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Brand DHHS 2-Col Title and Content">
    <p:spTree>
      <p:nvGrpSpPr>
        <p:cNvPr id="1" name=""/>
        <p:cNvGrpSpPr/>
        <p:nvPr/>
      </p:nvGrpSpPr>
      <p:grpSpPr>
        <a:xfrm>
          <a:off x="0" y="0"/>
          <a:ext cx="0" cy="0"/>
          <a:chOff x="0" y="0"/>
          <a:chExt cx="0" cy="0"/>
        </a:xfrm>
      </p:grpSpPr>
      <p:sp>
        <p:nvSpPr>
          <p:cNvPr id="7" name="Body Text 3-col"/>
          <p:cNvSpPr>
            <a:spLocks noGrp="1"/>
          </p:cNvSpPr>
          <p:nvPr>
            <p:ph type="body" sz="quarter" idx="11" hasCustomPrompt="1"/>
          </p:nvPr>
        </p:nvSpPr>
        <p:spPr>
          <a:xfrm>
            <a:off x="373487" y="1200087"/>
            <a:ext cx="11552349" cy="4424858"/>
          </a:xfrm>
          <a:prstGeom prst="rect">
            <a:avLst/>
          </a:prstGeom>
        </p:spPr>
        <p:txBody>
          <a:bodyPr wrap="none" numCol="2" spcCol="457200">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2000">
                <a:solidFill>
                  <a:schemeClr val="tx1"/>
                </a:solidFill>
              </a:defRPr>
            </a:lvl1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Click to edit 2-column text</a:t>
            </a:r>
          </a:p>
        </p:txBody>
      </p:sp>
      <p:sp>
        <p:nvSpPr>
          <p:cNvPr id="6" name="Title 1"/>
          <p:cNvSpPr>
            <a:spLocks noGrp="1"/>
          </p:cNvSpPr>
          <p:nvPr>
            <p:ph type="title"/>
          </p:nvPr>
        </p:nvSpPr>
        <p:spPr>
          <a:xfrm>
            <a:off x="373487" y="365126"/>
            <a:ext cx="11552349" cy="696420"/>
          </a:xfrm>
          <a:prstGeom prst="rect">
            <a:avLst/>
          </a:prstGeom>
        </p:spPr>
        <p:txBody>
          <a:bodyPr>
            <a:normAutofit/>
          </a:bodyPr>
          <a:lstStyle>
            <a:lvl1pPr algn="l">
              <a:defRPr sz="3600"/>
            </a:lvl1pPr>
          </a:lstStyle>
          <a:p>
            <a:r>
              <a:rPr lang="en-US"/>
              <a:t>Click to edit Master title style</a:t>
            </a:r>
            <a:endParaRPr lang="en-US" dirty="0"/>
          </a:p>
        </p:txBody>
      </p:sp>
      <p:cxnSp>
        <p:nvCxnSpPr>
          <p:cNvPr id="10" name="Title Page Rule Line"/>
          <p:cNvCxnSpPr/>
          <p:nvPr/>
        </p:nvCxnSpPr>
        <p:spPr>
          <a:xfrm>
            <a:off x="373487" y="1061546"/>
            <a:ext cx="11552349" cy="0"/>
          </a:xfrm>
          <a:prstGeom prst="line">
            <a:avLst/>
          </a:prstGeom>
          <a:ln w="15875">
            <a:solidFill>
              <a:srgbClr val="FFC843"/>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18223361"/>
      </p:ext>
    </p:extLst>
  </p:cSld>
  <p:clrMapOvr>
    <a:masterClrMapping/>
  </p:clrMapOvr>
  <mc:AlternateContent xmlns:mc="http://schemas.openxmlformats.org/markup-compatibility/2006" xmlns:p14="http://schemas.microsoft.com/office/powerpoint/2010/main">
    <mc:Choice Requires="p14">
      <p:transition p14:dur="10" advClick="0" advTm="10000"/>
    </mc:Choice>
    <mc:Fallback xmlns="">
      <p:transition advClick="0" advTm="10000"/>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Brand DHHS Subhead Layout w Bullets">
    <p:spTree>
      <p:nvGrpSpPr>
        <p:cNvPr id="1" name=""/>
        <p:cNvGrpSpPr/>
        <p:nvPr/>
      </p:nvGrpSpPr>
      <p:grpSpPr>
        <a:xfrm>
          <a:off x="0" y="0"/>
          <a:ext cx="0" cy="0"/>
          <a:chOff x="0" y="0"/>
          <a:chExt cx="0" cy="0"/>
        </a:xfrm>
      </p:grpSpPr>
      <p:sp>
        <p:nvSpPr>
          <p:cNvPr id="5" name="Bulleted Text"/>
          <p:cNvSpPr>
            <a:spLocks noGrp="1"/>
          </p:cNvSpPr>
          <p:nvPr>
            <p:ph type="body" sz="quarter" idx="11" hasCustomPrompt="1"/>
          </p:nvPr>
        </p:nvSpPr>
        <p:spPr>
          <a:xfrm>
            <a:off x="365098" y="1787178"/>
            <a:ext cx="11552349" cy="3819295"/>
          </a:xfrm>
          <a:prstGeom prst="rect">
            <a:avLst/>
          </a:prstGeom>
        </p:spPr>
        <p:txBody>
          <a:bodyPr>
            <a:normAutofit/>
          </a:bodyPr>
          <a:lstStyle>
            <a:lvl1pPr marL="525780" indent="-342900" algn="l">
              <a:buClr>
                <a:srgbClr val="0036C9"/>
              </a:buClr>
              <a:buFont typeface="Wingdings 3" panose="05040102010807070707" pitchFamily="18" charset="2"/>
              <a:buChar char=""/>
              <a:defRPr lang="en-US" sz="2400" kern="1200" baseline="0" dirty="0" smtClean="0">
                <a:solidFill>
                  <a:schemeClr val="tx1"/>
                </a:solidFill>
                <a:latin typeface="Roboto" panose="02000000000000000000" pitchFamily="2" charset="0"/>
                <a:ea typeface="Roboto" panose="02000000000000000000" pitchFamily="2" charset="0"/>
                <a:cs typeface="Roboto" panose="02000000000000000000" pitchFamily="2" charset="0"/>
              </a:defRPr>
            </a:lvl1pPr>
            <a:lvl2pPr>
              <a:defRPr sz="2000"/>
            </a:lvl2pPr>
            <a:lvl3pPr>
              <a:defRPr sz="1800"/>
            </a:lvl3pPr>
            <a:lvl4pPr>
              <a:defRPr sz="1600"/>
            </a:lvl4pPr>
            <a:lvl5pPr>
              <a:defRPr sz="1400"/>
            </a:lvl5pPr>
          </a:lstStyle>
          <a:p>
            <a:pPr lvl="1"/>
            <a:r>
              <a:rPr lang="en-US" dirty="0"/>
              <a:t>Second level</a:t>
            </a:r>
          </a:p>
          <a:p>
            <a:pPr lvl="2"/>
            <a:r>
              <a:rPr lang="en-US" dirty="0"/>
              <a:t>Third level</a:t>
            </a:r>
          </a:p>
          <a:p>
            <a:pPr lvl="3"/>
            <a:r>
              <a:rPr lang="en-US" dirty="0"/>
              <a:t>Fourth level</a:t>
            </a:r>
          </a:p>
          <a:p>
            <a:pPr lvl="4"/>
            <a:r>
              <a:rPr lang="en-US" dirty="0"/>
              <a:t>Fifth level</a:t>
            </a:r>
          </a:p>
        </p:txBody>
      </p:sp>
      <p:sp>
        <p:nvSpPr>
          <p:cNvPr id="7" name="Title 1"/>
          <p:cNvSpPr>
            <a:spLocks noGrp="1"/>
          </p:cNvSpPr>
          <p:nvPr>
            <p:ph type="title"/>
          </p:nvPr>
        </p:nvSpPr>
        <p:spPr>
          <a:xfrm>
            <a:off x="365097" y="365126"/>
            <a:ext cx="11552349" cy="696420"/>
          </a:xfrm>
          <a:prstGeom prst="rect">
            <a:avLst/>
          </a:prstGeom>
        </p:spPr>
        <p:txBody>
          <a:bodyPr>
            <a:normAutofit/>
          </a:bodyPr>
          <a:lstStyle>
            <a:lvl1pPr algn="l">
              <a:defRPr sz="3600"/>
            </a:lvl1pPr>
          </a:lstStyle>
          <a:p>
            <a:r>
              <a:rPr lang="en-US"/>
              <a:t>Click to edit Master title style</a:t>
            </a:r>
            <a:endParaRPr lang="en-US" dirty="0"/>
          </a:p>
        </p:txBody>
      </p:sp>
      <p:sp>
        <p:nvSpPr>
          <p:cNvPr id="11" name="Page Subhead Bold"/>
          <p:cNvSpPr>
            <a:spLocks noGrp="1"/>
          </p:cNvSpPr>
          <p:nvPr>
            <p:ph type="body" sz="quarter" idx="12" hasCustomPrompt="1"/>
          </p:nvPr>
        </p:nvSpPr>
        <p:spPr>
          <a:xfrm>
            <a:off x="365097" y="1213888"/>
            <a:ext cx="11552349" cy="559488"/>
          </a:xfrm>
          <a:prstGeom prst="rect">
            <a:avLst/>
          </a:prstGeom>
        </p:spPr>
        <p:txBody>
          <a:bodyPr>
            <a:normAutofit/>
          </a:bodyPr>
          <a:lstStyle>
            <a:lvl1pPr marL="0" indent="0" algn="l">
              <a:buClr>
                <a:srgbClr val="0036C9"/>
              </a:buClr>
              <a:buFont typeface="Wingdings 3" panose="05040102010807070707" pitchFamily="18" charset="2"/>
              <a:buNone/>
              <a:defRPr sz="2400" b="0">
                <a:solidFill>
                  <a:srgbClr val="BABF33"/>
                </a:solidFill>
                <a:latin typeface="Roboto" panose="02000000000000000000" pitchFamily="2" charset="0"/>
                <a:ea typeface="Roboto" panose="02000000000000000000" pitchFamily="2" charset="0"/>
                <a:cs typeface="Roboto" panose="02000000000000000000" pitchFamily="2" charset="0"/>
              </a:defRPr>
            </a:lvl1pPr>
          </a:lstStyle>
          <a:p>
            <a:pPr lvl="0"/>
            <a:r>
              <a:rPr lang="en-US" dirty="0"/>
              <a:t>Click to edit bold subhead</a:t>
            </a:r>
          </a:p>
        </p:txBody>
      </p:sp>
      <p:cxnSp>
        <p:nvCxnSpPr>
          <p:cNvPr id="12" name="Title Page Rule Line"/>
          <p:cNvCxnSpPr/>
          <p:nvPr/>
        </p:nvCxnSpPr>
        <p:spPr>
          <a:xfrm>
            <a:off x="373487" y="1075347"/>
            <a:ext cx="11552349" cy="0"/>
          </a:xfrm>
          <a:prstGeom prst="line">
            <a:avLst/>
          </a:prstGeom>
          <a:ln w="15875">
            <a:solidFill>
              <a:srgbClr val="FFC843"/>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48741522"/>
      </p:ext>
    </p:extLst>
  </p:cSld>
  <p:clrMapOvr>
    <a:masterClrMapping/>
  </p:clrMapOvr>
  <mc:AlternateContent xmlns:mc="http://schemas.openxmlformats.org/markup-compatibility/2006" xmlns:p14="http://schemas.microsoft.com/office/powerpoint/2010/main">
    <mc:Choice Requires="p14">
      <p:transition p14:dur="10" advClick="0" advTm="10000"/>
    </mc:Choice>
    <mc:Fallback xmlns="">
      <p:transition advClick="0" advTm="10000"/>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Brand DHHS Bullet Text Layout">
    <p:spTree>
      <p:nvGrpSpPr>
        <p:cNvPr id="1" name=""/>
        <p:cNvGrpSpPr/>
        <p:nvPr/>
      </p:nvGrpSpPr>
      <p:grpSpPr>
        <a:xfrm>
          <a:off x="0" y="0"/>
          <a:ext cx="0" cy="0"/>
          <a:chOff x="0" y="0"/>
          <a:chExt cx="0" cy="0"/>
        </a:xfrm>
      </p:grpSpPr>
      <p:sp>
        <p:nvSpPr>
          <p:cNvPr id="8" name="Title 1"/>
          <p:cNvSpPr>
            <a:spLocks noGrp="1"/>
          </p:cNvSpPr>
          <p:nvPr>
            <p:ph type="title"/>
          </p:nvPr>
        </p:nvSpPr>
        <p:spPr>
          <a:xfrm>
            <a:off x="365097" y="365126"/>
            <a:ext cx="11552349" cy="696420"/>
          </a:xfrm>
          <a:prstGeom prst="rect">
            <a:avLst/>
          </a:prstGeom>
        </p:spPr>
        <p:txBody>
          <a:bodyPr>
            <a:normAutofit/>
          </a:bodyPr>
          <a:lstStyle>
            <a:lvl1pPr algn="l">
              <a:defRPr sz="3600"/>
            </a:lvl1pPr>
          </a:lstStyle>
          <a:p>
            <a:r>
              <a:rPr lang="en-US"/>
              <a:t>Click to edit Master title style</a:t>
            </a:r>
            <a:endParaRPr lang="en-US" dirty="0"/>
          </a:p>
        </p:txBody>
      </p:sp>
      <p:sp>
        <p:nvSpPr>
          <p:cNvPr id="6" name="Bulleted Text"/>
          <p:cNvSpPr>
            <a:spLocks noGrp="1"/>
          </p:cNvSpPr>
          <p:nvPr>
            <p:ph type="body" sz="quarter" idx="12" hasCustomPrompt="1"/>
          </p:nvPr>
        </p:nvSpPr>
        <p:spPr>
          <a:xfrm>
            <a:off x="365098" y="1206627"/>
            <a:ext cx="11552349" cy="4362900"/>
          </a:xfrm>
          <a:prstGeom prst="rect">
            <a:avLst/>
          </a:prstGeom>
        </p:spPr>
        <p:txBody>
          <a:bodyPr lIns="0" tIns="45720" rIns="91440"/>
          <a:lstStyle>
            <a:lvl1pPr marL="457200" indent="-274320" algn="l">
              <a:lnSpc>
                <a:spcPct val="150000"/>
              </a:lnSpc>
              <a:spcBef>
                <a:spcPts val="0"/>
              </a:spcBef>
              <a:buClr>
                <a:srgbClr val="B9C8D3"/>
              </a:buClr>
              <a:buFont typeface="Wingdings 3" panose="05040102010807070707" pitchFamily="18" charset="2"/>
              <a:buChar char=""/>
              <a:defRPr lang="en-US" sz="2000" kern="1200" baseline="0" dirty="0" smtClean="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en-US" dirty="0"/>
              <a:t>Click to edit bulleted text</a:t>
            </a:r>
          </a:p>
        </p:txBody>
      </p:sp>
      <p:cxnSp>
        <p:nvCxnSpPr>
          <p:cNvPr id="10" name="Title Page Rule Line"/>
          <p:cNvCxnSpPr/>
          <p:nvPr/>
        </p:nvCxnSpPr>
        <p:spPr>
          <a:xfrm>
            <a:off x="373487" y="1064816"/>
            <a:ext cx="11552349" cy="0"/>
          </a:xfrm>
          <a:prstGeom prst="line">
            <a:avLst/>
          </a:prstGeom>
          <a:ln w="15875">
            <a:solidFill>
              <a:srgbClr val="FFC843"/>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37760277"/>
      </p:ext>
    </p:extLst>
  </p:cSld>
  <p:clrMapOvr>
    <a:masterClrMapping/>
  </p:clrMapOvr>
  <mc:AlternateContent xmlns:mc="http://schemas.openxmlformats.org/markup-compatibility/2006" xmlns:p14="http://schemas.microsoft.com/office/powerpoint/2010/main">
    <mc:Choice Requires="p14">
      <p:transition p14:dur="10" advClick="0" advTm="10000"/>
    </mc:Choice>
    <mc:Fallback xmlns="">
      <p:transition advClick="0" advTm="10000"/>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Brand DHHS Indent Bullets">
    <p:spTree>
      <p:nvGrpSpPr>
        <p:cNvPr id="1" name=""/>
        <p:cNvGrpSpPr/>
        <p:nvPr/>
      </p:nvGrpSpPr>
      <p:grpSpPr>
        <a:xfrm>
          <a:off x="0" y="0"/>
          <a:ext cx="0" cy="0"/>
          <a:chOff x="0" y="0"/>
          <a:chExt cx="0" cy="0"/>
        </a:xfrm>
      </p:grpSpPr>
      <p:sp>
        <p:nvSpPr>
          <p:cNvPr id="9" name="Page Subhead Bold"/>
          <p:cNvSpPr>
            <a:spLocks noGrp="1"/>
          </p:cNvSpPr>
          <p:nvPr>
            <p:ph type="body" sz="quarter" idx="12" hasCustomPrompt="1"/>
          </p:nvPr>
        </p:nvSpPr>
        <p:spPr>
          <a:xfrm>
            <a:off x="365097" y="1200087"/>
            <a:ext cx="11552349" cy="573290"/>
          </a:xfrm>
          <a:prstGeom prst="rect">
            <a:avLst/>
          </a:prstGeom>
        </p:spPr>
        <p:txBody>
          <a:bodyPr>
            <a:normAutofit/>
          </a:bodyPr>
          <a:lstStyle>
            <a:lvl1pPr marL="0" indent="0" algn="l">
              <a:buClr>
                <a:srgbClr val="0036C9"/>
              </a:buClr>
              <a:buFont typeface="Wingdings 3" panose="05040102010807070707" pitchFamily="18" charset="2"/>
              <a:buNone/>
              <a:defRPr sz="2400" b="0">
                <a:solidFill>
                  <a:srgbClr val="BABF33"/>
                </a:solidFill>
                <a:latin typeface="Roboto" panose="02000000000000000000" pitchFamily="2" charset="0"/>
                <a:ea typeface="Roboto" panose="02000000000000000000" pitchFamily="2" charset="0"/>
                <a:cs typeface="Roboto" panose="02000000000000000000" pitchFamily="2" charset="0"/>
              </a:defRPr>
            </a:lvl1pPr>
          </a:lstStyle>
          <a:p>
            <a:pPr lvl="0"/>
            <a:r>
              <a:rPr lang="en-US" dirty="0"/>
              <a:t>Click to edit bold subhead</a:t>
            </a:r>
          </a:p>
        </p:txBody>
      </p:sp>
      <p:sp>
        <p:nvSpPr>
          <p:cNvPr id="10" name="Bulleted Text"/>
          <p:cNvSpPr>
            <a:spLocks noGrp="1"/>
          </p:cNvSpPr>
          <p:nvPr>
            <p:ph type="body" sz="quarter" idx="13" hasCustomPrompt="1"/>
          </p:nvPr>
        </p:nvSpPr>
        <p:spPr>
          <a:xfrm>
            <a:off x="365098" y="2364502"/>
            <a:ext cx="11552349" cy="3230755"/>
          </a:xfrm>
          <a:prstGeom prst="rect">
            <a:avLst/>
          </a:prstGeom>
        </p:spPr>
        <p:txBody>
          <a:bodyPr/>
          <a:lstStyle>
            <a:lvl1pPr marL="914400" indent="-274320" algn="l">
              <a:buClr>
                <a:srgbClr val="BABF33"/>
              </a:buClr>
              <a:buFont typeface="Wingdings 3" panose="05040102010807070707" pitchFamily="18" charset="2"/>
              <a:buChar char=""/>
              <a:defRPr sz="2400">
                <a:solidFill>
                  <a:schemeClr val="tx1"/>
                </a:solidFill>
              </a:defRPr>
            </a:lvl1pPr>
            <a:lvl2pPr>
              <a:defRPr sz="2000"/>
            </a:lvl2pPr>
          </a:lstStyle>
          <a:p>
            <a:pPr lvl="1"/>
            <a:r>
              <a:rPr lang="en-US" dirty="0"/>
              <a:t>Second level</a:t>
            </a:r>
          </a:p>
        </p:txBody>
      </p:sp>
      <p:sp>
        <p:nvSpPr>
          <p:cNvPr id="11" name="Title 1"/>
          <p:cNvSpPr>
            <a:spLocks noGrp="1"/>
          </p:cNvSpPr>
          <p:nvPr>
            <p:ph type="title"/>
          </p:nvPr>
        </p:nvSpPr>
        <p:spPr>
          <a:xfrm>
            <a:off x="365097" y="365126"/>
            <a:ext cx="11552349" cy="696420"/>
          </a:xfrm>
          <a:prstGeom prst="rect">
            <a:avLst/>
          </a:prstGeom>
        </p:spPr>
        <p:txBody>
          <a:bodyPr>
            <a:normAutofit/>
          </a:bodyPr>
          <a:lstStyle>
            <a:lvl1pPr algn="l">
              <a:defRPr sz="3600"/>
            </a:lvl1pPr>
          </a:lstStyle>
          <a:p>
            <a:r>
              <a:rPr lang="en-US"/>
              <a:t>Click to edit Master title style</a:t>
            </a:r>
            <a:endParaRPr lang="en-US" dirty="0"/>
          </a:p>
        </p:txBody>
      </p:sp>
      <p:cxnSp>
        <p:nvCxnSpPr>
          <p:cNvPr id="14" name="Title Page Rule Line"/>
          <p:cNvCxnSpPr/>
          <p:nvPr/>
        </p:nvCxnSpPr>
        <p:spPr>
          <a:xfrm>
            <a:off x="365097" y="1061546"/>
            <a:ext cx="11552349" cy="0"/>
          </a:xfrm>
          <a:prstGeom prst="line">
            <a:avLst/>
          </a:prstGeom>
          <a:ln w="15875">
            <a:solidFill>
              <a:srgbClr val="FFC843"/>
            </a:solidFill>
          </a:ln>
        </p:spPr>
        <p:style>
          <a:lnRef idx="2">
            <a:schemeClr val="accent1"/>
          </a:lnRef>
          <a:fillRef idx="0">
            <a:schemeClr val="accent1"/>
          </a:fillRef>
          <a:effectRef idx="1">
            <a:schemeClr val="accent1"/>
          </a:effectRef>
          <a:fontRef idx="minor">
            <a:schemeClr val="tx1"/>
          </a:fontRef>
        </p:style>
      </p:cxnSp>
      <p:sp>
        <p:nvSpPr>
          <p:cNvPr id="15" name="Body Text 3-col"/>
          <p:cNvSpPr>
            <a:spLocks noGrp="1"/>
          </p:cNvSpPr>
          <p:nvPr>
            <p:ph type="body" sz="quarter" idx="11" hasCustomPrompt="1"/>
          </p:nvPr>
        </p:nvSpPr>
        <p:spPr>
          <a:xfrm>
            <a:off x="365097" y="1801085"/>
            <a:ext cx="11560739" cy="554181"/>
          </a:xfrm>
          <a:prstGeom prst="rect">
            <a:avLst/>
          </a:prstGeom>
        </p:spPr>
        <p:txBody>
          <a:bodyPr wrap="none" numCol="2" spcCol="457200">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2000">
                <a:solidFill>
                  <a:schemeClr val="tx1"/>
                </a:solidFill>
              </a:defRPr>
            </a:lvl1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Click to edit 3-column text</a:t>
            </a:r>
          </a:p>
        </p:txBody>
      </p:sp>
    </p:spTree>
    <p:extLst>
      <p:ext uri="{BB962C8B-B14F-4D97-AF65-F5344CB8AC3E}">
        <p14:creationId xmlns:p14="http://schemas.microsoft.com/office/powerpoint/2010/main" val="1489734150"/>
      </p:ext>
    </p:extLst>
  </p:cSld>
  <p:clrMapOvr>
    <a:masterClrMapping/>
  </p:clrMapOvr>
  <mc:AlternateContent xmlns:mc="http://schemas.openxmlformats.org/markup-compatibility/2006" xmlns:p14="http://schemas.microsoft.com/office/powerpoint/2010/main">
    <mc:Choice Requires="p14">
      <p:transition p14:dur="10" advClick="0" advTm="10000"/>
    </mc:Choice>
    <mc:Fallback xmlns="">
      <p:transition advClick="0" advTm="10000"/>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Brand DHHS Indent Bullets alt">
    <p:spTree>
      <p:nvGrpSpPr>
        <p:cNvPr id="1" name=""/>
        <p:cNvGrpSpPr/>
        <p:nvPr/>
      </p:nvGrpSpPr>
      <p:grpSpPr>
        <a:xfrm>
          <a:off x="0" y="0"/>
          <a:ext cx="0" cy="0"/>
          <a:chOff x="0" y="0"/>
          <a:chExt cx="0" cy="0"/>
        </a:xfrm>
      </p:grpSpPr>
      <p:sp>
        <p:nvSpPr>
          <p:cNvPr id="10" name="Bulleted Text"/>
          <p:cNvSpPr>
            <a:spLocks noGrp="1"/>
          </p:cNvSpPr>
          <p:nvPr>
            <p:ph type="body" sz="quarter" idx="13" hasCustomPrompt="1"/>
          </p:nvPr>
        </p:nvSpPr>
        <p:spPr>
          <a:xfrm>
            <a:off x="365098" y="1740925"/>
            <a:ext cx="11552349" cy="3810789"/>
          </a:xfrm>
          <a:prstGeom prst="rect">
            <a:avLst/>
          </a:prstGeom>
        </p:spPr>
        <p:txBody>
          <a:bodyPr/>
          <a:lstStyle>
            <a:lvl1pPr marL="914400" indent="-274320" algn="l">
              <a:buClr>
                <a:srgbClr val="BABF33"/>
              </a:buClr>
              <a:buFont typeface="Wingdings 3" panose="05040102010807070707" pitchFamily="18" charset="2"/>
              <a:buChar char=""/>
              <a:tabLst>
                <a:tab pos="182880" algn="l"/>
              </a:tabLst>
              <a:defRPr sz="2800">
                <a:solidFill>
                  <a:schemeClr val="tx1"/>
                </a:solidFill>
              </a:defRPr>
            </a:lvl1pPr>
            <a:lvl2pPr defTabSz="1828800">
              <a:defRPr sz="2000"/>
            </a:lvl2pPr>
            <a:lvl4pPr marL="1371600" indent="-274320">
              <a:spcBef>
                <a:spcPts val="1000"/>
              </a:spcBef>
              <a:buClr>
                <a:srgbClr val="BABF33"/>
              </a:buClr>
              <a:defRPr/>
            </a:lvl4pPr>
          </a:lstStyle>
          <a:p>
            <a:pPr lvl="1"/>
            <a:r>
              <a:rPr lang="en-US" dirty="0"/>
              <a:t>Second level</a:t>
            </a:r>
          </a:p>
        </p:txBody>
      </p:sp>
      <p:sp>
        <p:nvSpPr>
          <p:cNvPr id="8" name="Title 1"/>
          <p:cNvSpPr>
            <a:spLocks noGrp="1"/>
          </p:cNvSpPr>
          <p:nvPr>
            <p:ph type="title"/>
          </p:nvPr>
        </p:nvSpPr>
        <p:spPr>
          <a:xfrm>
            <a:off x="365097" y="365126"/>
            <a:ext cx="11552349" cy="696420"/>
          </a:xfrm>
          <a:prstGeom prst="rect">
            <a:avLst/>
          </a:prstGeom>
        </p:spPr>
        <p:txBody>
          <a:bodyPr/>
          <a:lstStyle>
            <a:lvl1pPr algn="l">
              <a:defRPr sz="3600"/>
            </a:lvl1pPr>
          </a:lstStyle>
          <a:p>
            <a:r>
              <a:rPr lang="en-US"/>
              <a:t>Click to edit Master title style</a:t>
            </a:r>
            <a:endParaRPr lang="en-US" dirty="0"/>
          </a:p>
        </p:txBody>
      </p:sp>
      <p:cxnSp>
        <p:nvCxnSpPr>
          <p:cNvPr id="12" name="Title Page Rule Line"/>
          <p:cNvCxnSpPr/>
          <p:nvPr/>
        </p:nvCxnSpPr>
        <p:spPr>
          <a:xfrm>
            <a:off x="373487" y="1159110"/>
            <a:ext cx="11552349" cy="0"/>
          </a:xfrm>
          <a:prstGeom prst="line">
            <a:avLst/>
          </a:prstGeom>
          <a:ln w="15875">
            <a:solidFill>
              <a:srgbClr val="FFC843"/>
            </a:solidFill>
          </a:ln>
        </p:spPr>
        <p:style>
          <a:lnRef idx="2">
            <a:schemeClr val="accent1"/>
          </a:lnRef>
          <a:fillRef idx="0">
            <a:schemeClr val="accent1"/>
          </a:fillRef>
          <a:effectRef idx="1">
            <a:schemeClr val="accent1"/>
          </a:effectRef>
          <a:fontRef idx="minor">
            <a:schemeClr val="tx1"/>
          </a:fontRef>
        </p:style>
      </p:cxnSp>
      <p:sp>
        <p:nvSpPr>
          <p:cNvPr id="13" name="Body Text 3-col"/>
          <p:cNvSpPr>
            <a:spLocks noGrp="1"/>
          </p:cNvSpPr>
          <p:nvPr>
            <p:ph type="body" sz="quarter" idx="11" hasCustomPrompt="1"/>
          </p:nvPr>
        </p:nvSpPr>
        <p:spPr>
          <a:xfrm>
            <a:off x="365097" y="1234450"/>
            <a:ext cx="11560739" cy="486552"/>
          </a:xfrm>
          <a:prstGeom prst="rect">
            <a:avLst/>
          </a:prstGeom>
        </p:spPr>
        <p:txBody>
          <a:bodyPr wrap="none" numCol="2" spcCol="457200">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2000">
                <a:solidFill>
                  <a:schemeClr val="tx1"/>
                </a:solidFill>
              </a:defRPr>
            </a:lvl1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Click to edit 2-column</a:t>
            </a:r>
          </a:p>
        </p:txBody>
      </p:sp>
    </p:spTree>
    <p:extLst>
      <p:ext uri="{BB962C8B-B14F-4D97-AF65-F5344CB8AC3E}">
        <p14:creationId xmlns:p14="http://schemas.microsoft.com/office/powerpoint/2010/main" val="3204987673"/>
      </p:ext>
    </p:extLst>
  </p:cSld>
  <p:clrMapOvr>
    <a:masterClrMapping/>
  </p:clrMapOvr>
  <mc:AlternateContent xmlns:mc="http://schemas.openxmlformats.org/markup-compatibility/2006" xmlns:p14="http://schemas.microsoft.com/office/powerpoint/2010/main">
    <mc:Choice Requires="p14">
      <p:transition p14:dur="10" advClick="0" advTm="10000"/>
    </mc:Choice>
    <mc:Fallback xmlns="">
      <p:transition advClick="0" advTm="10000"/>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cSld name="Brand DHHS Photo Layout">
    <p:spTree>
      <p:nvGrpSpPr>
        <p:cNvPr id="1" name=""/>
        <p:cNvGrpSpPr/>
        <p:nvPr/>
      </p:nvGrpSpPr>
      <p:grpSpPr>
        <a:xfrm>
          <a:off x="0" y="0"/>
          <a:ext cx="0" cy="0"/>
          <a:chOff x="0" y="0"/>
          <a:chExt cx="0" cy="0"/>
        </a:xfrm>
      </p:grpSpPr>
      <p:sp>
        <p:nvSpPr>
          <p:cNvPr id="5" name="Smaller Body Text"/>
          <p:cNvSpPr>
            <a:spLocks noGrp="1"/>
          </p:cNvSpPr>
          <p:nvPr>
            <p:ph type="body" sz="quarter" idx="11" hasCustomPrompt="1"/>
          </p:nvPr>
        </p:nvSpPr>
        <p:spPr>
          <a:xfrm>
            <a:off x="373488" y="1238132"/>
            <a:ext cx="4178022" cy="4907973"/>
          </a:xfrm>
          <a:prstGeom prst="rect">
            <a:avLst/>
          </a:prstGeom>
        </p:spPr>
        <p:txBody>
          <a:bodyPr>
            <a:normAutofit/>
          </a:bodyPr>
          <a:lstStyle>
            <a:lvl1pPr marL="0" indent="0" algn="l">
              <a:buNone/>
              <a:defRPr sz="2000">
                <a:solidFill>
                  <a:schemeClr val="tx1"/>
                </a:solidFill>
              </a:defRPr>
            </a:lvl1pPr>
          </a:lstStyle>
          <a:p>
            <a:pPr lvl="0"/>
            <a:r>
              <a:rPr lang="en-US" dirty="0"/>
              <a:t>Click to edit text</a:t>
            </a:r>
          </a:p>
        </p:txBody>
      </p:sp>
      <p:sp>
        <p:nvSpPr>
          <p:cNvPr id="13" name="Picture Placeholder 12"/>
          <p:cNvSpPr>
            <a:spLocks noGrp="1"/>
          </p:cNvSpPr>
          <p:nvPr>
            <p:ph type="pic" sz="quarter" idx="12"/>
          </p:nvPr>
        </p:nvSpPr>
        <p:spPr>
          <a:xfrm>
            <a:off x="7043895" y="1238132"/>
            <a:ext cx="4808380" cy="3988210"/>
          </a:xfrm>
          <a:prstGeom prst="rect">
            <a:avLst/>
          </a:prstGeom>
        </p:spPr>
        <p:txBody>
          <a:bodyPr/>
          <a:lstStyle/>
          <a:p>
            <a:r>
              <a:rPr lang="en-US"/>
              <a:t>Click icon to add picture</a:t>
            </a:r>
            <a:endParaRPr lang="en-US" dirty="0"/>
          </a:p>
        </p:txBody>
      </p:sp>
      <p:sp>
        <p:nvSpPr>
          <p:cNvPr id="15" name="Picture Placeholder 14"/>
          <p:cNvSpPr>
            <a:spLocks noGrp="1"/>
          </p:cNvSpPr>
          <p:nvPr>
            <p:ph type="pic" sz="quarter" idx="13"/>
          </p:nvPr>
        </p:nvSpPr>
        <p:spPr>
          <a:xfrm>
            <a:off x="4732338" y="1238132"/>
            <a:ext cx="2130729" cy="1966546"/>
          </a:xfrm>
          <a:prstGeom prst="rect">
            <a:avLst/>
          </a:prstGeom>
        </p:spPr>
        <p:txBody>
          <a:bodyPr/>
          <a:lstStyle/>
          <a:p>
            <a:r>
              <a:rPr lang="en-US"/>
              <a:t>Click icon to add picture</a:t>
            </a:r>
          </a:p>
        </p:txBody>
      </p:sp>
      <p:sp>
        <p:nvSpPr>
          <p:cNvPr id="17" name="Picture Placeholder 16"/>
          <p:cNvSpPr>
            <a:spLocks noGrp="1"/>
          </p:cNvSpPr>
          <p:nvPr>
            <p:ph type="pic" sz="quarter" idx="14"/>
          </p:nvPr>
        </p:nvSpPr>
        <p:spPr>
          <a:xfrm>
            <a:off x="4732338" y="3374906"/>
            <a:ext cx="2160587" cy="1851435"/>
          </a:xfrm>
          <a:prstGeom prst="rect">
            <a:avLst/>
          </a:prstGeom>
        </p:spPr>
        <p:txBody>
          <a:bodyPr/>
          <a:lstStyle/>
          <a:p>
            <a:r>
              <a:rPr lang="en-US"/>
              <a:t>Click icon to add picture</a:t>
            </a:r>
          </a:p>
        </p:txBody>
      </p:sp>
      <p:sp>
        <p:nvSpPr>
          <p:cNvPr id="9" name="Title 1"/>
          <p:cNvSpPr>
            <a:spLocks noGrp="1"/>
          </p:cNvSpPr>
          <p:nvPr>
            <p:ph type="title"/>
          </p:nvPr>
        </p:nvSpPr>
        <p:spPr>
          <a:xfrm>
            <a:off x="373488" y="365126"/>
            <a:ext cx="11478084" cy="696420"/>
          </a:xfrm>
          <a:prstGeom prst="rect">
            <a:avLst/>
          </a:prstGeom>
        </p:spPr>
        <p:txBody>
          <a:bodyPr>
            <a:normAutofit/>
          </a:bodyPr>
          <a:lstStyle>
            <a:lvl1pPr algn="l">
              <a:defRPr sz="3600"/>
            </a:lvl1pPr>
          </a:lstStyle>
          <a:p>
            <a:r>
              <a:rPr lang="en-US"/>
              <a:t>Click to edit Master title style</a:t>
            </a:r>
            <a:endParaRPr lang="en-US" dirty="0"/>
          </a:p>
        </p:txBody>
      </p:sp>
      <p:cxnSp>
        <p:nvCxnSpPr>
          <p:cNvPr id="12" name="Title Page Rule Line"/>
          <p:cNvCxnSpPr/>
          <p:nvPr/>
        </p:nvCxnSpPr>
        <p:spPr>
          <a:xfrm>
            <a:off x="373487" y="1075347"/>
            <a:ext cx="11552349" cy="0"/>
          </a:xfrm>
          <a:prstGeom prst="line">
            <a:avLst/>
          </a:prstGeom>
          <a:ln w="15875">
            <a:solidFill>
              <a:srgbClr val="FFC843"/>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004060510"/>
      </p:ext>
    </p:extLst>
  </p:cSld>
  <p:clrMapOvr>
    <a:masterClrMapping/>
  </p:clrMapOvr>
  <mc:AlternateContent xmlns:mc="http://schemas.openxmlformats.org/markup-compatibility/2006" xmlns:p14="http://schemas.microsoft.com/office/powerpoint/2010/main">
    <mc:Choice Requires="p14">
      <p:transition p14:dur="10" advClick="0" advTm="10000"/>
    </mc:Choice>
    <mc:Fallback xmlns="">
      <p:transition advClick="0" advTm="10000"/>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cSld name="Brand DHHS End Slide Layout">
    <p:spTree>
      <p:nvGrpSpPr>
        <p:cNvPr id="1" name=""/>
        <p:cNvGrpSpPr/>
        <p:nvPr/>
      </p:nvGrpSpPr>
      <p:grpSpPr>
        <a:xfrm>
          <a:off x="0" y="0"/>
          <a:ext cx="0" cy="0"/>
          <a:chOff x="0" y="0"/>
          <a:chExt cx="0" cy="0"/>
        </a:xfrm>
      </p:grpSpPr>
      <p:sp>
        <p:nvSpPr>
          <p:cNvPr id="10" name="Subhead"/>
          <p:cNvSpPr>
            <a:spLocks noGrp="1"/>
          </p:cNvSpPr>
          <p:nvPr>
            <p:ph type="body" sz="quarter" idx="11" hasCustomPrompt="1"/>
          </p:nvPr>
        </p:nvSpPr>
        <p:spPr>
          <a:xfrm>
            <a:off x="838200" y="2755761"/>
            <a:ext cx="10478729" cy="774839"/>
          </a:xfrm>
          <a:prstGeom prst="rect">
            <a:avLst/>
          </a:prstGeom>
          <a:noFill/>
        </p:spPr>
        <p:txBody>
          <a:bodyPr anchor="t" anchorCtr="1">
            <a:noAutofit/>
          </a:bodyPr>
          <a:lstStyle>
            <a:lvl1pPr marL="0" marR="0" indent="0" algn="ctr" defTabSz="914400" rtl="0" eaLnBrk="1" fontAlgn="auto" latinLnBrk="0" hangingPunct="1">
              <a:lnSpc>
                <a:spcPct val="100000"/>
              </a:lnSpc>
              <a:spcBef>
                <a:spcPts val="0"/>
              </a:spcBef>
              <a:spcAft>
                <a:spcPts val="600"/>
              </a:spcAft>
              <a:buClrTx/>
              <a:buSzTx/>
              <a:buFontTx/>
              <a:buNone/>
              <a:tabLst/>
              <a:defRPr sz="2400">
                <a:solidFill>
                  <a:srgbClr val="5690E2"/>
                </a:solidFill>
                <a:latin typeface="Roboto" panose="02000000000000000000" pitchFamily="2" charset="0"/>
                <a:ea typeface="Roboto" panose="02000000000000000000" pitchFamily="2" charset="0"/>
                <a:cs typeface="Roboto" panose="02000000000000000000" pitchFamily="2" charset="0"/>
              </a:defRPr>
            </a:lvl1p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mn-lt"/>
                <a:ea typeface="+mn-ea"/>
                <a:cs typeface="+mn-cs"/>
              </a:rPr>
              <a:t>Click to edit Title</a:t>
            </a:r>
          </a:p>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mn-lt"/>
                <a:ea typeface="+mn-ea"/>
                <a:cs typeface="+mn-cs"/>
              </a:rPr>
              <a:t>Click to edit Department</a:t>
            </a:r>
          </a:p>
        </p:txBody>
      </p:sp>
      <p:grpSp>
        <p:nvGrpSpPr>
          <p:cNvPr id="4" name="Group 3"/>
          <p:cNvGrpSpPr/>
          <p:nvPr/>
        </p:nvGrpSpPr>
        <p:grpSpPr>
          <a:xfrm>
            <a:off x="508289" y="6065378"/>
            <a:ext cx="1675916" cy="438850"/>
            <a:chOff x="4913982" y="5342258"/>
            <a:chExt cx="1675916" cy="463617"/>
          </a:xfrm>
          <a:effectLst>
            <a:reflection stA="41000" endPos="65000" dist="50800" dir="5400000" sy="-100000" algn="bl" rotWithShape="0"/>
          </a:effectLst>
        </p:grpSpPr>
        <p:pic>
          <p:nvPicPr>
            <p:cNvPr id="5" name="Twitte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913982" y="5342258"/>
              <a:ext cx="467498" cy="457200"/>
            </a:xfrm>
            <a:prstGeom prst="rect">
              <a:avLst/>
            </a:prstGeom>
          </p:spPr>
        </p:pic>
        <p:pic>
          <p:nvPicPr>
            <p:cNvPr id="6" name="You Tube"/>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527001" y="5348675"/>
              <a:ext cx="457200" cy="457200"/>
            </a:xfrm>
            <a:prstGeom prst="rect">
              <a:avLst/>
            </a:prstGeom>
          </p:spPr>
        </p:pic>
        <p:pic>
          <p:nvPicPr>
            <p:cNvPr id="7" name="Facebook"/>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132698" y="5342258"/>
              <a:ext cx="457200" cy="457200"/>
            </a:xfrm>
            <a:prstGeom prst="rect">
              <a:avLst/>
            </a:prstGeom>
          </p:spPr>
        </p:pic>
      </p:grpSp>
      <p:sp>
        <p:nvSpPr>
          <p:cNvPr id="11" name="Page Subhead Bold"/>
          <p:cNvSpPr>
            <a:spLocks noGrp="1"/>
          </p:cNvSpPr>
          <p:nvPr>
            <p:ph type="body" sz="quarter" idx="12" hasCustomPrompt="1"/>
          </p:nvPr>
        </p:nvSpPr>
        <p:spPr>
          <a:xfrm>
            <a:off x="838200" y="2240666"/>
            <a:ext cx="10478729" cy="469563"/>
          </a:xfrm>
          <a:prstGeom prst="rect">
            <a:avLst/>
          </a:prstGeom>
          <a:solidFill>
            <a:srgbClr val="BABF33"/>
          </a:solidFill>
          <a:effectLst>
            <a:innerShdw blurRad="63500" dist="50800" dir="13500000">
              <a:prstClr val="black">
                <a:alpha val="50000"/>
              </a:prstClr>
            </a:innerShdw>
          </a:effectLst>
        </p:spPr>
        <p:txBody>
          <a:bodyPr>
            <a:noAutofit/>
          </a:bodyPr>
          <a:lstStyle>
            <a:lvl1pPr marL="0" indent="0" algn="ctr">
              <a:buClr>
                <a:srgbClr val="0036C9"/>
              </a:buClr>
              <a:buFont typeface="Wingdings 3" panose="05040102010807070707" pitchFamily="18" charset="2"/>
              <a:buNone/>
              <a:defRPr sz="2800" b="1" baseline="0">
                <a:solidFill>
                  <a:schemeClr val="bg1"/>
                </a:solidFill>
              </a:defRPr>
            </a:lvl1pPr>
          </a:lstStyle>
          <a:p>
            <a:pPr lvl="0"/>
            <a:r>
              <a:rPr lang="en-US" dirty="0"/>
              <a:t>Click to edit Contact Name</a:t>
            </a:r>
          </a:p>
        </p:txBody>
      </p:sp>
      <p:sp>
        <p:nvSpPr>
          <p:cNvPr id="13" name="Additonal Text"/>
          <p:cNvSpPr>
            <a:spLocks noGrp="1"/>
          </p:cNvSpPr>
          <p:nvPr>
            <p:ph type="body" sz="quarter" idx="13" hasCustomPrompt="1"/>
          </p:nvPr>
        </p:nvSpPr>
        <p:spPr>
          <a:xfrm>
            <a:off x="840085" y="4628162"/>
            <a:ext cx="10478729" cy="657500"/>
          </a:xfrm>
          <a:prstGeom prst="rect">
            <a:avLst/>
          </a:prstGeom>
        </p:spPr>
        <p:txBody>
          <a:bodyPr/>
          <a:lstStyle>
            <a:lvl1pPr marL="0" indent="0" algn="ctr">
              <a:buClr>
                <a:srgbClr val="0036C9"/>
              </a:buClr>
              <a:buFontTx/>
              <a:buNone/>
              <a:tabLst>
                <a:tab pos="182880" algn="l"/>
              </a:tabLst>
              <a:defRPr sz="1200" baseline="0">
                <a:solidFill>
                  <a:schemeClr val="tx1"/>
                </a:solidFill>
                <a:latin typeface="+mn-lt"/>
              </a:defRPr>
            </a:lvl1pPr>
            <a:lvl2pPr defTabSz="1828800">
              <a:defRPr/>
            </a:lvl2pPr>
            <a:lvl4pPr marL="1097280" indent="0">
              <a:spcBef>
                <a:spcPts val="1000"/>
              </a:spcBef>
              <a:buClr>
                <a:schemeClr val="accent1"/>
              </a:buClr>
              <a:buFontTx/>
              <a:buNone/>
              <a:defRPr/>
            </a:lvl4pPr>
          </a:lstStyle>
          <a:p>
            <a:pPr lvl="0"/>
            <a:r>
              <a:rPr lang="en-US" dirty="0"/>
              <a:t>Click to add additional text</a:t>
            </a:r>
          </a:p>
        </p:txBody>
      </p:sp>
      <p:sp>
        <p:nvSpPr>
          <p:cNvPr id="14" name="Email Text"/>
          <p:cNvSpPr>
            <a:spLocks noGrp="1"/>
          </p:cNvSpPr>
          <p:nvPr>
            <p:ph type="body" sz="quarter" idx="14" hasCustomPrompt="1"/>
          </p:nvPr>
        </p:nvSpPr>
        <p:spPr>
          <a:xfrm>
            <a:off x="846764" y="3644144"/>
            <a:ext cx="10478729" cy="405055"/>
          </a:xfrm>
          <a:prstGeom prst="rect">
            <a:avLst/>
          </a:prstGeom>
        </p:spPr>
        <p:txBody>
          <a:bodyPr>
            <a:normAutofit/>
          </a:bodyPr>
          <a:lstStyle>
            <a:lvl1pPr marL="0" indent="0" algn="ctr">
              <a:buClr>
                <a:srgbClr val="0036C9"/>
              </a:buClr>
              <a:buFontTx/>
              <a:buNone/>
              <a:tabLst>
                <a:tab pos="182880" algn="l"/>
              </a:tabLst>
              <a:defRPr lang="en-US" sz="1600" b="0" kern="1200" baseline="0" dirty="0" smtClean="0">
                <a:solidFill>
                  <a:srgbClr val="036080"/>
                </a:solidFill>
                <a:latin typeface="+mn-lt"/>
                <a:ea typeface="+mn-ea"/>
                <a:cs typeface="+mn-cs"/>
              </a:defRPr>
            </a:lvl1pPr>
            <a:lvl2pPr defTabSz="1828800">
              <a:defRPr/>
            </a:lvl2pPr>
            <a:lvl4pPr marL="1097280" indent="0">
              <a:spcBef>
                <a:spcPts val="1000"/>
              </a:spcBef>
              <a:buClr>
                <a:schemeClr val="accent1"/>
              </a:buClr>
              <a:buFontTx/>
              <a:buNone/>
              <a:defRPr/>
            </a:lvl4pPr>
          </a:lstStyle>
          <a:p>
            <a:pPr lvl="0"/>
            <a:r>
              <a:rPr lang="en-US" dirty="0">
                <a:solidFill>
                  <a:schemeClr val="accent2">
                    <a:lumMod val="50000"/>
                  </a:schemeClr>
                </a:solidFill>
                <a:hlinkClick r:id="rId5"/>
              </a:rPr>
              <a:t>First.Last@nebraska.gov</a:t>
            </a:r>
            <a:endParaRPr lang="en-US" dirty="0"/>
          </a:p>
        </p:txBody>
      </p:sp>
      <p:sp>
        <p:nvSpPr>
          <p:cNvPr id="16" name="Website"/>
          <p:cNvSpPr txBox="1">
            <a:spLocks/>
          </p:cNvSpPr>
          <p:nvPr/>
        </p:nvSpPr>
        <p:spPr>
          <a:xfrm>
            <a:off x="2318151" y="6123375"/>
            <a:ext cx="2148581" cy="427153"/>
          </a:xfrm>
          <a:prstGeom prst="rect">
            <a:avLst/>
          </a:prstGeom>
          <a:noFill/>
          <a:ln>
            <a:solidFill>
              <a:srgbClr val="5690E2"/>
            </a:solidFill>
          </a:ln>
          <a:effectLst>
            <a:softEdge rad="0"/>
          </a:effectLst>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400" b="1" dirty="0">
                <a:solidFill>
                  <a:srgbClr val="036080"/>
                </a:solidFill>
                <a:latin typeface="Gisha" panose="020B0502040204020203" pitchFamily="34" charset="-79"/>
                <a:cs typeface="Gisha" panose="020B0502040204020203" pitchFamily="34" charset="-79"/>
                <a:hlinkClick r:id="rId6"/>
              </a:rPr>
              <a:t>dhhs.ne.gov</a:t>
            </a:r>
            <a:endParaRPr lang="en-US" sz="2400" b="1" dirty="0">
              <a:solidFill>
                <a:srgbClr val="036080"/>
              </a:solidFill>
              <a:latin typeface="Gisha" panose="020B0502040204020203" pitchFamily="34" charset="-79"/>
              <a:cs typeface="Gisha" panose="020B0502040204020203" pitchFamily="34" charset="-79"/>
            </a:endParaRPr>
          </a:p>
        </p:txBody>
      </p:sp>
      <p:sp>
        <p:nvSpPr>
          <p:cNvPr id="18" name="Website"/>
          <p:cNvSpPr txBox="1">
            <a:spLocks/>
          </p:cNvSpPr>
          <p:nvPr/>
        </p:nvSpPr>
        <p:spPr>
          <a:xfrm>
            <a:off x="5012550" y="5402453"/>
            <a:ext cx="2148581" cy="438851"/>
          </a:xfrm>
          <a:prstGeom prst="rect">
            <a:avLst/>
          </a:prstGeom>
          <a:noFill/>
          <a:ln>
            <a:noFill/>
          </a:ln>
          <a:effectLst>
            <a:softEdge rad="0"/>
          </a:effectLst>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ts val="1200"/>
              </a:lnSpc>
            </a:pPr>
            <a:r>
              <a:rPr lang="en-US" sz="1400" b="1" dirty="0">
                <a:solidFill>
                  <a:schemeClr val="tx2"/>
                </a:solidFill>
                <a:latin typeface="Gisha" panose="020B0502040204020203" pitchFamily="34" charset="-79"/>
                <a:cs typeface="Gisha" panose="020B0502040204020203" pitchFamily="34" charset="-79"/>
              </a:rPr>
              <a:t>DHHS Helpline:</a:t>
            </a:r>
          </a:p>
          <a:p>
            <a:pPr>
              <a:lnSpc>
                <a:spcPts val="1200"/>
              </a:lnSpc>
            </a:pPr>
            <a:r>
              <a:rPr lang="en-US" sz="1050" b="0" dirty="0">
                <a:solidFill>
                  <a:schemeClr val="tx2"/>
                </a:solidFill>
                <a:latin typeface="Gisha" panose="020B0502040204020203" pitchFamily="34" charset="-79"/>
                <a:cs typeface="Gisha" panose="020B0502040204020203" pitchFamily="34" charset="-79"/>
              </a:rPr>
              <a:t>800-254-4202</a:t>
            </a:r>
          </a:p>
          <a:p>
            <a:pPr>
              <a:lnSpc>
                <a:spcPts val="1200"/>
              </a:lnSpc>
            </a:pPr>
            <a:r>
              <a:rPr lang="en-US" sz="1050" b="0" dirty="0">
                <a:solidFill>
                  <a:schemeClr val="tx2"/>
                </a:solidFill>
                <a:latin typeface="Gisha" panose="020B0502040204020203" pitchFamily="34" charset="-79"/>
                <a:cs typeface="Gisha" panose="020B0502040204020203" pitchFamily="34" charset="-79"/>
              </a:rPr>
              <a:t>DHHS.helpline@Nebraska.gov</a:t>
            </a:r>
          </a:p>
        </p:txBody>
      </p:sp>
      <p:sp>
        <p:nvSpPr>
          <p:cNvPr id="15" name="Phone"/>
          <p:cNvSpPr txBox="1"/>
          <p:nvPr/>
        </p:nvSpPr>
        <p:spPr>
          <a:xfrm>
            <a:off x="846763" y="4109007"/>
            <a:ext cx="10478729" cy="461665"/>
          </a:xfrm>
          <a:prstGeom prst="rect">
            <a:avLst/>
          </a:prstGeom>
          <a:noFill/>
        </p:spPr>
        <p:txBody>
          <a:bodyPr wrap="square" rtlCol="0">
            <a:spAutoFit/>
          </a:bodyPr>
          <a:lstStyle/>
          <a:p>
            <a:pPr algn="ctr"/>
            <a:r>
              <a:rPr lang="en-US" sz="2400" dirty="0">
                <a:solidFill>
                  <a:schemeClr val="tx2"/>
                </a:solidFill>
                <a:latin typeface="Montserrat Black" panose="00000A00000000000000" pitchFamily="50" charset="0"/>
              </a:rPr>
              <a:t>000-000-0000</a:t>
            </a:r>
          </a:p>
        </p:txBody>
      </p:sp>
    </p:spTree>
    <p:extLst>
      <p:ext uri="{BB962C8B-B14F-4D97-AF65-F5344CB8AC3E}">
        <p14:creationId xmlns:p14="http://schemas.microsoft.com/office/powerpoint/2010/main" val="3066316179"/>
      </p:ext>
    </p:extLst>
  </p:cSld>
  <p:clrMapOvr>
    <a:masterClrMapping/>
  </p:clrMapOvr>
  <mc:AlternateContent xmlns:mc="http://schemas.openxmlformats.org/markup-compatibility/2006" xmlns:p14="http://schemas.microsoft.com/office/powerpoint/2010/main">
    <mc:Choice Requires="p14">
      <p:transition p14:dur="10" advClick="0" advTm="10000"/>
    </mc:Choice>
    <mc:Fallback xmlns="">
      <p:transition advClick="0" advTm="10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Large logo">
    <p:spTree>
      <p:nvGrpSpPr>
        <p:cNvPr id="1" name=""/>
        <p:cNvGrpSpPr/>
        <p:nvPr/>
      </p:nvGrpSpPr>
      <p:grpSpPr>
        <a:xfrm>
          <a:off x="0" y="0"/>
          <a:ext cx="0" cy="0"/>
          <a:chOff x="0" y="0"/>
          <a:chExt cx="0" cy="0"/>
        </a:xfrm>
      </p:grpSpPr>
      <p:sp>
        <p:nvSpPr>
          <p:cNvPr id="6" name="Title Placeholder 3"/>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lvl1pPr>
              <a:defRPr>
                <a:latin typeface="+mj-lt"/>
              </a:defRPr>
            </a:lvl1pPr>
          </a:lstStyle>
          <a:p>
            <a:r>
              <a:rPr lang="en-US" dirty="0"/>
              <a:t>Master title</a:t>
            </a:r>
          </a:p>
        </p:txBody>
      </p:sp>
    </p:spTree>
    <p:extLst>
      <p:ext uri="{BB962C8B-B14F-4D97-AF65-F5344CB8AC3E}">
        <p14:creationId xmlns:p14="http://schemas.microsoft.com/office/powerpoint/2010/main" val="149519240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Headline / Subhead / 3-column / bulleted">
    <p:spTree>
      <p:nvGrpSpPr>
        <p:cNvPr id="1" name=""/>
        <p:cNvGrpSpPr/>
        <p:nvPr/>
      </p:nvGrpSpPr>
      <p:grpSpPr>
        <a:xfrm>
          <a:off x="0" y="0"/>
          <a:ext cx="0" cy="0"/>
          <a:chOff x="0" y="0"/>
          <a:chExt cx="0" cy="0"/>
        </a:xfrm>
      </p:grpSpPr>
      <p:sp>
        <p:nvSpPr>
          <p:cNvPr id="4" name="Page Subhead Bold"/>
          <p:cNvSpPr>
            <a:spLocks noGrp="1"/>
          </p:cNvSpPr>
          <p:nvPr>
            <p:ph type="body" sz="quarter" idx="12" hasCustomPrompt="1"/>
          </p:nvPr>
        </p:nvSpPr>
        <p:spPr>
          <a:xfrm>
            <a:off x="365097" y="1081211"/>
            <a:ext cx="11552349" cy="563070"/>
          </a:xfrm>
          <a:prstGeom prst="rect">
            <a:avLst/>
          </a:prstGeom>
        </p:spPr>
        <p:txBody>
          <a:bodyPr>
            <a:normAutofit/>
          </a:bodyPr>
          <a:lstStyle>
            <a:lvl1pPr marL="0" indent="0" algn="l">
              <a:buClr>
                <a:srgbClr val="0036C9"/>
              </a:buClr>
              <a:buFont typeface="Wingdings 3" panose="05040102010807070707" pitchFamily="18" charset="2"/>
              <a:buNone/>
              <a:defRPr sz="2400" b="0">
                <a:solidFill>
                  <a:srgbClr val="7E99A9"/>
                </a:solidFill>
                <a:latin typeface="+mn-lt"/>
                <a:ea typeface="Roboto" panose="02000000000000000000" pitchFamily="2" charset="0"/>
                <a:cs typeface="Roboto" panose="02000000000000000000" pitchFamily="2" charset="0"/>
              </a:defRPr>
            </a:lvl1pPr>
          </a:lstStyle>
          <a:p>
            <a:pPr lvl="0"/>
            <a:r>
              <a:rPr lang="en-US" dirty="0"/>
              <a:t>Subhead</a:t>
            </a:r>
          </a:p>
        </p:txBody>
      </p:sp>
      <p:sp>
        <p:nvSpPr>
          <p:cNvPr id="7" name="Body Text 3-col"/>
          <p:cNvSpPr>
            <a:spLocks noGrp="1"/>
          </p:cNvSpPr>
          <p:nvPr>
            <p:ph type="body" sz="quarter" idx="11" hasCustomPrompt="1"/>
          </p:nvPr>
        </p:nvSpPr>
        <p:spPr>
          <a:xfrm>
            <a:off x="365097" y="1657903"/>
            <a:ext cx="11560739" cy="4329942"/>
          </a:xfrm>
          <a:prstGeom prst="rect">
            <a:avLst/>
          </a:prstGeom>
        </p:spPr>
        <p:txBody>
          <a:bodyPr wrap="none" numCol="3" spcCol="274320">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2000">
                <a:solidFill>
                  <a:schemeClr val="tx1"/>
                </a:solidFill>
                <a:latin typeface="+mn-lt"/>
              </a:defRPr>
            </a:lvl1pPr>
            <a:lvl2pPr marL="685800" indent="-228600">
              <a:buFont typeface="Arial" panose="020B0604020202020204" pitchFamily="34" charset="0"/>
              <a:buChar char="•"/>
              <a:defRPr sz="2000">
                <a:latin typeface="+mn-lt"/>
              </a:defRPr>
            </a:lvl2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3-column text</a:t>
            </a:r>
          </a:p>
          <a:p>
            <a:pPr lvl="1"/>
            <a:r>
              <a:rPr lang="en-US" dirty="0"/>
              <a:t>Bulleted</a:t>
            </a:r>
          </a:p>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endParaRPr lang="en-US" dirty="0"/>
          </a:p>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endParaRPr lang="en-US" dirty="0"/>
          </a:p>
        </p:txBody>
      </p:sp>
      <p:sp>
        <p:nvSpPr>
          <p:cNvPr id="9" name="Title 1"/>
          <p:cNvSpPr>
            <a:spLocks noGrp="1"/>
          </p:cNvSpPr>
          <p:nvPr>
            <p:ph type="title" hasCustomPrompt="1"/>
          </p:nvPr>
        </p:nvSpPr>
        <p:spPr>
          <a:xfrm>
            <a:off x="373487" y="365126"/>
            <a:ext cx="11552349" cy="696420"/>
          </a:xfrm>
          <a:prstGeom prst="rect">
            <a:avLst/>
          </a:prstGeom>
        </p:spPr>
        <p:txBody>
          <a:bodyPr>
            <a:normAutofit/>
          </a:bodyPr>
          <a:lstStyle>
            <a:lvl1pPr algn="l">
              <a:defRPr sz="3600">
                <a:latin typeface="+mj-lt"/>
              </a:defRPr>
            </a:lvl1pPr>
          </a:lstStyle>
          <a:p>
            <a:r>
              <a:rPr lang="en-US" dirty="0"/>
              <a:t>Headline</a:t>
            </a:r>
          </a:p>
        </p:txBody>
      </p:sp>
      <p:cxnSp>
        <p:nvCxnSpPr>
          <p:cNvPr id="10" name="Title Page Rule Line"/>
          <p:cNvCxnSpPr/>
          <p:nvPr userDrawn="1"/>
        </p:nvCxnSpPr>
        <p:spPr>
          <a:xfrm>
            <a:off x="373487" y="940992"/>
            <a:ext cx="11552349" cy="0"/>
          </a:xfrm>
          <a:prstGeom prst="line">
            <a:avLst/>
          </a:prstGeom>
          <a:ln w="15875">
            <a:solidFill>
              <a:srgbClr val="FFC843"/>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705636281"/>
      </p:ext>
    </p:extLst>
  </p:cSld>
  <p:clrMapOvr>
    <a:masterClrMapping/>
  </p:clrMapOvr>
  <mc:AlternateContent xmlns:mc="http://schemas.openxmlformats.org/markup-compatibility/2006" xmlns:p14="http://schemas.microsoft.com/office/powerpoint/2010/main">
    <mc:Choice Requires="p14">
      <p:transition p14:dur="10" advClick="0" advTm="10000"/>
    </mc:Choice>
    <mc:Fallback xmlns="">
      <p:transition advClick="0" advTm="10000"/>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Headline / 2-column bulleted text">
    <p:spTree>
      <p:nvGrpSpPr>
        <p:cNvPr id="1" name=""/>
        <p:cNvGrpSpPr/>
        <p:nvPr/>
      </p:nvGrpSpPr>
      <p:grpSpPr>
        <a:xfrm>
          <a:off x="0" y="0"/>
          <a:ext cx="0" cy="0"/>
          <a:chOff x="0" y="0"/>
          <a:chExt cx="0" cy="0"/>
        </a:xfrm>
      </p:grpSpPr>
      <p:sp>
        <p:nvSpPr>
          <p:cNvPr id="6" name="Title 1"/>
          <p:cNvSpPr>
            <a:spLocks noGrp="1"/>
          </p:cNvSpPr>
          <p:nvPr>
            <p:ph type="title" hasCustomPrompt="1"/>
          </p:nvPr>
        </p:nvSpPr>
        <p:spPr>
          <a:xfrm>
            <a:off x="373487" y="365126"/>
            <a:ext cx="11552349" cy="696420"/>
          </a:xfrm>
          <a:prstGeom prst="rect">
            <a:avLst/>
          </a:prstGeom>
        </p:spPr>
        <p:txBody>
          <a:bodyPr>
            <a:normAutofit/>
          </a:bodyPr>
          <a:lstStyle>
            <a:lvl1pPr algn="l">
              <a:defRPr sz="3600">
                <a:latin typeface="+mj-lt"/>
              </a:defRPr>
            </a:lvl1pPr>
          </a:lstStyle>
          <a:p>
            <a:r>
              <a:rPr lang="en-US" dirty="0"/>
              <a:t>Headline</a:t>
            </a:r>
          </a:p>
        </p:txBody>
      </p:sp>
      <p:sp>
        <p:nvSpPr>
          <p:cNvPr id="7" name="Body Text"/>
          <p:cNvSpPr>
            <a:spLocks noGrp="1"/>
          </p:cNvSpPr>
          <p:nvPr>
            <p:ph type="body" sz="quarter" idx="11" hasCustomPrompt="1"/>
          </p:nvPr>
        </p:nvSpPr>
        <p:spPr>
          <a:xfrm>
            <a:off x="373487" y="1073568"/>
            <a:ext cx="11552349" cy="5060532"/>
          </a:xfrm>
          <a:prstGeom prst="rect">
            <a:avLst/>
          </a:prstGeom>
        </p:spPr>
        <p:txBody>
          <a:bodyPr numCol="2" spcCol="274320"/>
          <a:lstStyle>
            <a:lvl1pPr marL="171450" indent="-171450" algn="l">
              <a:buClr>
                <a:srgbClr val="7E99A9"/>
              </a:buClr>
              <a:buFont typeface="Wingdings 3" panose="05040102010807070707" pitchFamily="18" charset="2"/>
              <a:buChar char=""/>
              <a:defRPr sz="1200">
                <a:solidFill>
                  <a:schemeClr val="tx1"/>
                </a:solidFill>
                <a:latin typeface="+mn-lt"/>
              </a:defRPr>
            </a:lvl1pPr>
          </a:lstStyle>
          <a:p>
            <a:pPr lvl="0"/>
            <a:r>
              <a:rPr lang="en-US" dirty="0"/>
              <a:t>2-column</a:t>
            </a:r>
          </a:p>
        </p:txBody>
      </p:sp>
      <p:cxnSp>
        <p:nvCxnSpPr>
          <p:cNvPr id="8" name="Title Page Rule Line"/>
          <p:cNvCxnSpPr/>
          <p:nvPr userDrawn="1"/>
        </p:nvCxnSpPr>
        <p:spPr>
          <a:xfrm>
            <a:off x="373487" y="940992"/>
            <a:ext cx="11552349" cy="0"/>
          </a:xfrm>
          <a:prstGeom prst="line">
            <a:avLst/>
          </a:prstGeom>
          <a:ln w="15875">
            <a:solidFill>
              <a:srgbClr val="FFC843"/>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68215378"/>
      </p:ext>
    </p:extLst>
  </p:cSld>
  <p:clrMapOvr>
    <a:masterClrMapping/>
  </p:clrMapOvr>
  <mc:AlternateContent xmlns:mc="http://schemas.openxmlformats.org/markup-compatibility/2006" xmlns:p14="http://schemas.microsoft.com/office/powerpoint/2010/main">
    <mc:Choice Requires="p14">
      <p:transition p14:dur="10" advClick="0" advTm="10000"/>
    </mc:Choice>
    <mc:Fallback xmlns="">
      <p:transition advClick="0" advTm="10000"/>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End Slide">
    <p:spTree>
      <p:nvGrpSpPr>
        <p:cNvPr id="1" name=""/>
        <p:cNvGrpSpPr/>
        <p:nvPr/>
      </p:nvGrpSpPr>
      <p:grpSpPr>
        <a:xfrm>
          <a:off x="0" y="0"/>
          <a:ext cx="0" cy="0"/>
          <a:chOff x="0" y="0"/>
          <a:chExt cx="0" cy="0"/>
        </a:xfrm>
      </p:grpSpPr>
      <p:sp>
        <p:nvSpPr>
          <p:cNvPr id="10" name="Subhead"/>
          <p:cNvSpPr>
            <a:spLocks noGrp="1"/>
          </p:cNvSpPr>
          <p:nvPr>
            <p:ph type="body" sz="quarter" idx="11" hasCustomPrompt="1"/>
          </p:nvPr>
        </p:nvSpPr>
        <p:spPr>
          <a:xfrm>
            <a:off x="838200" y="2755761"/>
            <a:ext cx="10478729" cy="774839"/>
          </a:xfrm>
          <a:prstGeom prst="rect">
            <a:avLst/>
          </a:prstGeom>
          <a:noFill/>
        </p:spPr>
        <p:txBody>
          <a:bodyPr anchor="t" anchorCtr="1">
            <a:noAutofit/>
          </a:bodyPr>
          <a:lstStyle>
            <a:lvl1pPr marL="0" marR="0" indent="0" algn="ctr" defTabSz="914400" rtl="0" eaLnBrk="1" fontAlgn="auto" latinLnBrk="0" hangingPunct="1">
              <a:lnSpc>
                <a:spcPct val="100000"/>
              </a:lnSpc>
              <a:spcBef>
                <a:spcPts val="0"/>
              </a:spcBef>
              <a:spcAft>
                <a:spcPts val="600"/>
              </a:spcAft>
              <a:buClrTx/>
              <a:buSzTx/>
              <a:buFontTx/>
              <a:buNone/>
              <a:tabLst/>
              <a:defRPr sz="2400">
                <a:solidFill>
                  <a:srgbClr val="036080"/>
                </a:solidFill>
                <a:latin typeface="+mn-lt"/>
                <a:ea typeface="Roboto" panose="02000000000000000000" pitchFamily="2" charset="0"/>
                <a:cs typeface="Roboto" panose="02000000000000000000" pitchFamily="2" charset="0"/>
              </a:defRPr>
            </a:lvl1p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mn-lt"/>
                <a:ea typeface="+mn-ea"/>
                <a:cs typeface="+mn-cs"/>
              </a:rPr>
              <a:t>Title</a:t>
            </a:r>
          </a:p>
        </p:txBody>
      </p:sp>
      <p:sp>
        <p:nvSpPr>
          <p:cNvPr id="11" name="Page Subhead Bold"/>
          <p:cNvSpPr>
            <a:spLocks noGrp="1"/>
          </p:cNvSpPr>
          <p:nvPr>
            <p:ph type="body" sz="quarter" idx="12" hasCustomPrompt="1"/>
          </p:nvPr>
        </p:nvSpPr>
        <p:spPr>
          <a:xfrm>
            <a:off x="838200" y="2240666"/>
            <a:ext cx="10478729" cy="469563"/>
          </a:xfrm>
          <a:prstGeom prst="rect">
            <a:avLst/>
          </a:prstGeom>
          <a:solidFill>
            <a:srgbClr val="036080"/>
          </a:solidFill>
          <a:effectLst>
            <a:innerShdw blurRad="63500" dist="50800" dir="13500000">
              <a:prstClr val="black">
                <a:alpha val="50000"/>
              </a:prstClr>
            </a:innerShdw>
          </a:effectLst>
        </p:spPr>
        <p:txBody>
          <a:bodyPr>
            <a:noAutofit/>
          </a:bodyPr>
          <a:lstStyle>
            <a:lvl1pPr marL="0" indent="0" algn="ctr">
              <a:buClr>
                <a:srgbClr val="0036C9"/>
              </a:buClr>
              <a:buFont typeface="Wingdings 3" panose="05040102010807070707" pitchFamily="18" charset="2"/>
              <a:buNone/>
              <a:defRPr sz="2800" b="1" baseline="0">
                <a:solidFill>
                  <a:schemeClr val="bg1"/>
                </a:solidFill>
                <a:latin typeface="+mj-lt"/>
              </a:defRPr>
            </a:lvl1pPr>
          </a:lstStyle>
          <a:p>
            <a:pPr lvl="0"/>
            <a:r>
              <a:rPr lang="en-US" dirty="0"/>
              <a:t>Contact Name</a:t>
            </a:r>
          </a:p>
        </p:txBody>
      </p:sp>
      <p:sp>
        <p:nvSpPr>
          <p:cNvPr id="13" name="Additonal Text"/>
          <p:cNvSpPr>
            <a:spLocks noGrp="1"/>
          </p:cNvSpPr>
          <p:nvPr>
            <p:ph type="body" sz="quarter" idx="13" hasCustomPrompt="1"/>
          </p:nvPr>
        </p:nvSpPr>
        <p:spPr>
          <a:xfrm>
            <a:off x="840085" y="4610335"/>
            <a:ext cx="10478729" cy="765965"/>
          </a:xfrm>
          <a:prstGeom prst="rect">
            <a:avLst/>
          </a:prstGeom>
        </p:spPr>
        <p:txBody>
          <a:bodyPr/>
          <a:lstStyle>
            <a:lvl1pPr marL="0" indent="0" algn="ctr">
              <a:buClr>
                <a:srgbClr val="0036C9"/>
              </a:buClr>
              <a:buFontTx/>
              <a:buNone/>
              <a:tabLst>
                <a:tab pos="182880" algn="l"/>
              </a:tabLst>
              <a:defRPr sz="1200" baseline="0">
                <a:solidFill>
                  <a:schemeClr val="tx1"/>
                </a:solidFill>
                <a:latin typeface="+mn-lt"/>
              </a:defRPr>
            </a:lvl1pPr>
            <a:lvl2pPr defTabSz="1828800">
              <a:defRPr/>
            </a:lvl2pPr>
            <a:lvl4pPr marL="1097280" indent="0">
              <a:spcBef>
                <a:spcPts val="1000"/>
              </a:spcBef>
              <a:buClr>
                <a:schemeClr val="accent1"/>
              </a:buClr>
              <a:buFontTx/>
              <a:buNone/>
              <a:defRPr/>
            </a:lvl4pPr>
          </a:lstStyle>
          <a:p>
            <a:pPr lvl="0"/>
            <a:r>
              <a:rPr lang="en-US" dirty="0"/>
              <a:t>Click to add additional text</a:t>
            </a:r>
          </a:p>
        </p:txBody>
      </p:sp>
      <p:sp>
        <p:nvSpPr>
          <p:cNvPr id="14" name="Email Text"/>
          <p:cNvSpPr>
            <a:spLocks noGrp="1"/>
          </p:cNvSpPr>
          <p:nvPr>
            <p:ph type="body" sz="quarter" idx="14" hasCustomPrompt="1"/>
          </p:nvPr>
        </p:nvSpPr>
        <p:spPr>
          <a:xfrm>
            <a:off x="846764" y="3585624"/>
            <a:ext cx="10478729" cy="463576"/>
          </a:xfrm>
          <a:prstGeom prst="rect">
            <a:avLst/>
          </a:prstGeom>
        </p:spPr>
        <p:txBody>
          <a:bodyPr>
            <a:normAutofit/>
          </a:bodyPr>
          <a:lstStyle>
            <a:lvl1pPr marL="0" indent="0" algn="ctr">
              <a:buClr>
                <a:srgbClr val="0036C9"/>
              </a:buClr>
              <a:buFontTx/>
              <a:buNone/>
              <a:tabLst>
                <a:tab pos="182880" algn="l"/>
              </a:tabLst>
              <a:defRPr lang="en-US" sz="1600" b="0" kern="1200" baseline="0" dirty="0" smtClean="0">
                <a:solidFill>
                  <a:srgbClr val="7E99A9"/>
                </a:solidFill>
                <a:latin typeface="+mn-lt"/>
                <a:ea typeface="+mn-ea"/>
                <a:cs typeface="+mn-cs"/>
              </a:defRPr>
            </a:lvl1pPr>
            <a:lvl2pPr defTabSz="1828800">
              <a:defRPr/>
            </a:lvl2pPr>
            <a:lvl4pPr marL="1097280" indent="0">
              <a:spcBef>
                <a:spcPts val="1000"/>
              </a:spcBef>
              <a:buClr>
                <a:schemeClr val="accent1"/>
              </a:buClr>
              <a:buFontTx/>
              <a:buNone/>
              <a:defRPr/>
            </a:lvl4pPr>
          </a:lstStyle>
          <a:p>
            <a:pPr lvl="0"/>
            <a:r>
              <a:rPr lang="en-US" dirty="0">
                <a:solidFill>
                  <a:schemeClr val="accent2">
                    <a:lumMod val="50000"/>
                  </a:schemeClr>
                </a:solidFill>
                <a:hlinkClick r:id="rId2"/>
              </a:rPr>
              <a:t>First.Last@nebraska.gov</a:t>
            </a:r>
            <a:endParaRPr lang="en-US" dirty="0"/>
          </a:p>
        </p:txBody>
      </p:sp>
      <p:sp>
        <p:nvSpPr>
          <p:cNvPr id="16" name="Website"/>
          <p:cNvSpPr txBox="1">
            <a:spLocks/>
          </p:cNvSpPr>
          <p:nvPr/>
        </p:nvSpPr>
        <p:spPr>
          <a:xfrm>
            <a:off x="5194998" y="5431323"/>
            <a:ext cx="1788606" cy="361538"/>
          </a:xfrm>
          <a:prstGeom prst="rect">
            <a:avLst/>
          </a:prstGeom>
          <a:noFill/>
          <a:ln>
            <a:solidFill>
              <a:srgbClr val="FFC843"/>
            </a:solidFill>
          </a:ln>
          <a:effectLst>
            <a:softEdge rad="0"/>
          </a:effectLst>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600" b="1" spc="70" baseline="0" dirty="0">
                <a:solidFill>
                  <a:srgbClr val="036080"/>
                </a:solidFill>
                <a:latin typeface="+mj-lt"/>
                <a:cs typeface="Gisha" panose="020B0502040204020203" pitchFamily="34" charset="-79"/>
                <a:hlinkClick r:id="rId3"/>
              </a:rPr>
              <a:t>dhhs.ne.gov</a:t>
            </a:r>
            <a:endParaRPr lang="en-US" sz="1600" b="1" spc="70" baseline="0" dirty="0">
              <a:solidFill>
                <a:srgbClr val="036080"/>
              </a:solidFill>
              <a:latin typeface="+mj-lt"/>
              <a:cs typeface="Gisha" panose="020B0502040204020203" pitchFamily="34" charset="-79"/>
            </a:endParaRPr>
          </a:p>
        </p:txBody>
      </p:sp>
      <p:pic>
        <p:nvPicPr>
          <p:cNvPr id="7" name="Facebook"/>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202989" y="5360085"/>
            <a:ext cx="457200" cy="432776"/>
          </a:xfrm>
          <a:prstGeom prst="rect">
            <a:avLst/>
          </a:prstGeom>
          <a:effectLst/>
        </p:spPr>
      </p:pic>
      <p:sp>
        <p:nvSpPr>
          <p:cNvPr id="2" name="TextBox 1"/>
          <p:cNvSpPr txBox="1"/>
          <p:nvPr userDrawn="1"/>
        </p:nvSpPr>
        <p:spPr>
          <a:xfrm>
            <a:off x="2064425" y="5834088"/>
            <a:ext cx="769276" cy="223138"/>
          </a:xfrm>
          <a:prstGeom prst="rect">
            <a:avLst/>
          </a:prstGeom>
          <a:noFill/>
        </p:spPr>
        <p:txBody>
          <a:bodyPr wrap="square" rtlCol="0">
            <a:spAutoFit/>
          </a:bodyPr>
          <a:lstStyle/>
          <a:p>
            <a:r>
              <a:rPr lang="en-US" sz="850" kern="1200" dirty="0">
                <a:solidFill>
                  <a:schemeClr val="tx1"/>
                </a:solidFill>
                <a:effectLst/>
                <a:latin typeface="+mn-lt"/>
                <a:ea typeface="+mn-ea"/>
                <a:cs typeface="+mn-cs"/>
              </a:rPr>
              <a:t>@NEDHHS</a:t>
            </a:r>
            <a:endParaRPr lang="en-US" sz="850" dirty="0"/>
          </a:p>
        </p:txBody>
      </p:sp>
      <p:pic>
        <p:nvPicPr>
          <p:cNvPr id="5" name="Twitte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458976" y="5360085"/>
            <a:ext cx="467498" cy="432776"/>
          </a:xfrm>
          <a:prstGeom prst="rect">
            <a:avLst/>
          </a:prstGeom>
        </p:spPr>
      </p:pic>
      <p:sp>
        <p:nvSpPr>
          <p:cNvPr id="17" name="TextBox 16"/>
          <p:cNvSpPr txBox="1"/>
          <p:nvPr userDrawn="1"/>
        </p:nvSpPr>
        <p:spPr>
          <a:xfrm>
            <a:off x="297907" y="5834088"/>
            <a:ext cx="769276" cy="223138"/>
          </a:xfrm>
          <a:prstGeom prst="rect">
            <a:avLst/>
          </a:prstGeom>
          <a:noFill/>
        </p:spPr>
        <p:txBody>
          <a:bodyPr wrap="square" rtlCol="0">
            <a:spAutoFit/>
          </a:bodyPr>
          <a:lstStyle/>
          <a:p>
            <a:r>
              <a:rPr lang="en-US" sz="850" kern="1200" dirty="0">
                <a:solidFill>
                  <a:schemeClr val="tx1"/>
                </a:solidFill>
                <a:effectLst/>
                <a:latin typeface="+mn-lt"/>
                <a:ea typeface="+mn-ea"/>
                <a:cs typeface="+mn-cs"/>
              </a:rPr>
              <a:t>@NEDHHS</a:t>
            </a:r>
            <a:endParaRPr lang="en-US" sz="850" dirty="0"/>
          </a:p>
        </p:txBody>
      </p:sp>
      <p:pic>
        <p:nvPicPr>
          <p:cNvPr id="6" name="You Tube"/>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349525" y="5366159"/>
            <a:ext cx="457200" cy="432776"/>
          </a:xfrm>
          <a:prstGeom prst="rect">
            <a:avLst/>
          </a:prstGeom>
        </p:spPr>
      </p:pic>
      <p:sp>
        <p:nvSpPr>
          <p:cNvPr id="19" name="TextBox 18"/>
          <p:cNvSpPr txBox="1"/>
          <p:nvPr userDrawn="1"/>
        </p:nvSpPr>
        <p:spPr>
          <a:xfrm>
            <a:off x="956618" y="5834088"/>
            <a:ext cx="1213825" cy="223138"/>
          </a:xfrm>
          <a:prstGeom prst="rect">
            <a:avLst/>
          </a:prstGeom>
          <a:noFill/>
        </p:spPr>
        <p:txBody>
          <a:bodyPr wrap="square" rtlCol="0">
            <a:spAutoFit/>
          </a:bodyPr>
          <a:lstStyle/>
          <a:p>
            <a:pPr algn="ctr"/>
            <a:r>
              <a:rPr lang="en-US" sz="850" kern="1200" dirty="0" err="1">
                <a:solidFill>
                  <a:schemeClr val="tx1"/>
                </a:solidFill>
                <a:effectLst/>
                <a:latin typeface="+mn-lt"/>
                <a:ea typeface="+mn-ea"/>
                <a:cs typeface="+mn-cs"/>
              </a:rPr>
              <a:t>NebraskaDHHS</a:t>
            </a:r>
            <a:endParaRPr lang="en-US" sz="850" dirty="0"/>
          </a:p>
        </p:txBody>
      </p:sp>
      <p:sp>
        <p:nvSpPr>
          <p:cNvPr id="18" name="Email Text"/>
          <p:cNvSpPr>
            <a:spLocks noGrp="1"/>
          </p:cNvSpPr>
          <p:nvPr>
            <p:ph type="body" sz="quarter" idx="15" hasCustomPrompt="1"/>
          </p:nvPr>
        </p:nvSpPr>
        <p:spPr>
          <a:xfrm>
            <a:off x="846764" y="4049200"/>
            <a:ext cx="10478729" cy="525982"/>
          </a:xfrm>
          <a:prstGeom prst="rect">
            <a:avLst/>
          </a:prstGeom>
        </p:spPr>
        <p:txBody>
          <a:bodyPr>
            <a:normAutofit/>
          </a:bodyPr>
          <a:lstStyle>
            <a:lvl1pPr marL="0" indent="0" algn="ctr">
              <a:buClr>
                <a:srgbClr val="0036C9"/>
              </a:buClr>
              <a:buFontTx/>
              <a:buNone/>
              <a:tabLst>
                <a:tab pos="182880" algn="l"/>
              </a:tabLst>
              <a:defRPr lang="en-US" sz="2400" b="0" kern="1200" baseline="0" dirty="0" smtClean="0">
                <a:solidFill>
                  <a:srgbClr val="7E99A9"/>
                </a:solidFill>
                <a:latin typeface="+mn-lt"/>
                <a:ea typeface="+mn-ea"/>
                <a:cs typeface="+mn-cs"/>
              </a:defRPr>
            </a:lvl1pPr>
            <a:lvl2pPr defTabSz="1828800">
              <a:defRPr/>
            </a:lvl2pPr>
            <a:lvl4pPr marL="1097280" indent="0">
              <a:spcBef>
                <a:spcPts val="1000"/>
              </a:spcBef>
              <a:buClr>
                <a:schemeClr val="accent1"/>
              </a:buClr>
              <a:buFontTx/>
              <a:buNone/>
              <a:defRPr/>
            </a:lvl4pPr>
          </a:lstStyle>
          <a:p>
            <a:pPr lvl="0"/>
            <a:r>
              <a:rPr lang="en-US" dirty="0"/>
              <a:t>000-000-0000</a:t>
            </a:r>
          </a:p>
        </p:txBody>
      </p:sp>
    </p:spTree>
    <p:extLst>
      <p:ext uri="{BB962C8B-B14F-4D97-AF65-F5344CB8AC3E}">
        <p14:creationId xmlns:p14="http://schemas.microsoft.com/office/powerpoint/2010/main" val="2856809389"/>
      </p:ext>
    </p:extLst>
  </p:cSld>
  <p:clrMapOvr>
    <a:masterClrMapping/>
  </p:clrMapOvr>
  <mc:AlternateContent xmlns:mc="http://schemas.openxmlformats.org/markup-compatibility/2006" xmlns:p14="http://schemas.microsoft.com/office/powerpoint/2010/main">
    <mc:Choice Requires="p14">
      <p:transition p14:dur="10" advClick="0" advTm="10000"/>
    </mc:Choice>
    <mc:Fallback xmlns="">
      <p:transition advClick="0" advTm="10000"/>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3.png"/><Relationship Id="rId2" Type="http://schemas.openxmlformats.org/officeDocument/2006/relationships/slideLayout" Target="../slideLayouts/slideLayout2.xml"/><Relationship Id="rId16" Type="http://schemas.openxmlformats.org/officeDocument/2006/relationships/image" Target="../media/image2.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18" Type="http://schemas.openxmlformats.org/officeDocument/2006/relationships/image" Target="../media/image3.png"/><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17" Type="http://schemas.openxmlformats.org/officeDocument/2006/relationships/image" Target="../media/image2.jpeg"/><Relationship Id="rId2" Type="http://schemas.openxmlformats.org/officeDocument/2006/relationships/slideLayout" Target="../slideLayouts/slideLayout15.xml"/><Relationship Id="rId16" Type="http://schemas.openxmlformats.org/officeDocument/2006/relationships/image" Target="../media/image8.wmf"/><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image" Target="../media/image7.jpg"/><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5">
            <a:lum/>
          </a:blip>
          <a:srcRect/>
          <a:stretch>
            <a:fillRect/>
          </a:stretch>
        </a:blipFill>
        <a:effectLst/>
      </p:bgPr>
    </p:bg>
    <p:spTree>
      <p:nvGrpSpPr>
        <p:cNvPr id="1" name=""/>
        <p:cNvGrpSpPr/>
        <p:nvPr/>
      </p:nvGrpSpPr>
      <p:grpSpPr>
        <a:xfrm>
          <a:off x="0" y="0"/>
          <a:ext cx="0" cy="0"/>
          <a:chOff x="0" y="0"/>
          <a:chExt cx="0" cy="0"/>
        </a:xfrm>
      </p:grpSpPr>
      <p:pic>
        <p:nvPicPr>
          <p:cNvPr id="11" name="Picture 10"/>
          <p:cNvPicPr>
            <a:picLocks noChangeAspect="1"/>
          </p:cNvPicPr>
          <p:nvPr userDrawn="1"/>
        </p:nvPicPr>
        <p:blipFill>
          <a:blip r:embed="rId16" cstate="print">
            <a:extLst>
              <a:ext uri="{28A0092B-C50C-407E-A947-70E740481C1C}">
                <a14:useLocalDpi xmlns:a14="http://schemas.microsoft.com/office/drawing/2010/main" val="0"/>
              </a:ext>
            </a:extLst>
          </a:blip>
          <a:stretch>
            <a:fillRect/>
          </a:stretch>
        </p:blipFill>
        <p:spPr>
          <a:xfrm>
            <a:off x="5041" y="10049"/>
            <a:ext cx="12170664" cy="6839924"/>
          </a:xfrm>
          <a:prstGeom prst="rect">
            <a:avLst/>
          </a:prstGeom>
          <a:ln>
            <a:solidFill>
              <a:schemeClr val="tx1"/>
            </a:solidFill>
          </a:ln>
        </p:spPr>
      </p:pic>
      <p:pic>
        <p:nvPicPr>
          <p:cNvPr id="7" name="Picture 6"/>
          <p:cNvPicPr>
            <a:picLocks noChangeAspect="1"/>
          </p:cNvPicPr>
          <p:nvPr userDrawn="1"/>
        </p:nvPicPr>
        <p:blipFill>
          <a:blip r:embed="rId17" cstate="print">
            <a:extLst>
              <a:ext uri="{28A0092B-C50C-407E-A947-70E740481C1C}">
                <a14:useLocalDpi xmlns:a14="http://schemas.microsoft.com/office/drawing/2010/main" val="0"/>
              </a:ext>
            </a:extLst>
          </a:blip>
          <a:stretch>
            <a:fillRect/>
          </a:stretch>
        </p:blipFill>
        <p:spPr>
          <a:xfrm>
            <a:off x="9475089" y="4845428"/>
            <a:ext cx="2360315" cy="971453"/>
          </a:xfrm>
          <a:prstGeom prst="rect">
            <a:avLst/>
          </a:prstGeom>
        </p:spPr>
      </p:pic>
      <p:sp>
        <p:nvSpPr>
          <p:cNvPr id="13" name="Rectangle 12"/>
          <p:cNvSpPr/>
          <p:nvPr userDrawn="1"/>
        </p:nvSpPr>
        <p:spPr>
          <a:xfrm>
            <a:off x="2852230" y="6055600"/>
            <a:ext cx="2885379" cy="276999"/>
          </a:xfrm>
          <a:prstGeom prst="rect">
            <a:avLst/>
          </a:prstGeom>
          <a:effectLst>
            <a:outerShdw blurRad="50800" dist="38100" dir="2700000" algn="tl" rotWithShape="0">
              <a:sysClr val="window" lastClr="FFFFFF">
                <a:alpha val="40000"/>
              </a:sysClr>
            </a:outerShdw>
          </a:effectLst>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0" i="1" u="none" strike="noStrike" kern="0" cap="none" spc="20" normalizeH="0" baseline="0" noProof="0" dirty="0">
                <a:ln>
                  <a:noFill/>
                </a:ln>
                <a:solidFill>
                  <a:srgbClr val="036080"/>
                </a:solidFill>
                <a:effectLst/>
                <a:uLnTx/>
                <a:uFillTx/>
                <a:latin typeface="Montserrat"/>
              </a:rPr>
              <a:t>Helping People Live Better Lives.</a:t>
            </a:r>
          </a:p>
        </p:txBody>
      </p:sp>
      <p:sp>
        <p:nvSpPr>
          <p:cNvPr id="8" name="Slide Number Placeholder 3"/>
          <p:cNvSpPr txBox="1">
            <a:spLocks/>
          </p:cNvSpPr>
          <p:nvPr userDrawn="1"/>
        </p:nvSpPr>
        <p:spPr>
          <a:xfrm>
            <a:off x="9456174" y="6356350"/>
            <a:ext cx="2283542"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7E7C557-6977-4010-A8B0-973A074F99DE}" type="slidenum">
              <a:rPr lang="en-US" sz="1100" smtClean="0"/>
              <a:pPr/>
              <a:t>‹#›</a:t>
            </a:fld>
            <a:endParaRPr lang="en-US" sz="1100" dirty="0"/>
          </a:p>
        </p:txBody>
      </p:sp>
      <p:sp>
        <p:nvSpPr>
          <p:cNvPr id="4" name="Title Placeholder 3"/>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Master title</a:t>
            </a:r>
          </a:p>
        </p:txBody>
      </p:sp>
    </p:spTree>
    <p:extLst>
      <p:ext uri="{BB962C8B-B14F-4D97-AF65-F5344CB8AC3E}">
        <p14:creationId xmlns:p14="http://schemas.microsoft.com/office/powerpoint/2010/main" val="4112078921"/>
      </p:ext>
    </p:extLst>
  </p:cSld>
  <p:clrMap bg1="lt1" tx1="dk1" bg2="lt2" tx2="dk2" accent1="accent1" accent2="accent2" accent3="accent3" accent4="accent4" accent5="accent5" accent6="accent6" hlink="hlink" folHlink="folHlink"/>
  <p:sldLayoutIdLst>
    <p:sldLayoutId id="2147483787" r:id="rId1"/>
    <p:sldLayoutId id="2147483800" r:id="rId2"/>
    <p:sldLayoutId id="2147483801" r:id="rId3"/>
    <p:sldLayoutId id="2147483802" r:id="rId4"/>
    <p:sldLayoutId id="2147483789" r:id="rId5"/>
    <p:sldLayoutId id="2147483798" r:id="rId6"/>
    <p:sldLayoutId id="2147483790" r:id="rId7"/>
    <p:sldLayoutId id="2147483792" r:id="rId8"/>
    <p:sldLayoutId id="2147483793" r:id="rId9"/>
    <p:sldLayoutId id="2147483795" r:id="rId10"/>
    <p:sldLayoutId id="2147483796" r:id="rId11"/>
    <p:sldLayoutId id="2147483797" r:id="rId12"/>
    <p:sldLayoutId id="2147483799" r:id="rId13"/>
  </p:sldLayoutIdLst>
  <p:txStyles>
    <p:titleStyle>
      <a:lvl1pPr algn="ctr" defTabSz="914400" rtl="0" eaLnBrk="1" latinLnBrk="0" hangingPunct="1">
        <a:lnSpc>
          <a:spcPct val="90000"/>
        </a:lnSpc>
        <a:spcBef>
          <a:spcPct val="0"/>
        </a:spcBef>
        <a:buNone/>
        <a:defRPr sz="4400" kern="1200">
          <a:solidFill>
            <a:srgbClr val="036080"/>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5">
            <a:lum/>
          </a:blip>
          <a:srcRect/>
          <a:stretch>
            <a:fillRect/>
          </a:stretch>
        </a:blipFill>
        <a:effectLst/>
      </p:bgPr>
    </p:bg>
    <p:spTree>
      <p:nvGrpSpPr>
        <p:cNvPr id="1" name=""/>
        <p:cNvGrpSpPr/>
        <p:nvPr/>
      </p:nvGrpSpPr>
      <p:grpSpPr>
        <a:xfrm>
          <a:off x="0" y="0"/>
          <a:ext cx="0" cy="0"/>
          <a:chOff x="0" y="0"/>
          <a:chExt cx="0" cy="0"/>
        </a:xfrm>
      </p:grpSpPr>
      <p:pic>
        <p:nvPicPr>
          <p:cNvPr id="3" name="Picture 2"/>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8967831" y="5659880"/>
            <a:ext cx="3101912" cy="821546"/>
          </a:xfrm>
          <a:prstGeom prst="rect">
            <a:avLst/>
          </a:prstGeom>
        </p:spPr>
      </p:pic>
      <p:sp>
        <p:nvSpPr>
          <p:cNvPr id="7" name="Rectangle 6"/>
          <p:cNvSpPr/>
          <p:nvPr/>
        </p:nvSpPr>
        <p:spPr>
          <a:xfrm>
            <a:off x="4777503" y="6278948"/>
            <a:ext cx="2644790" cy="278371"/>
          </a:xfrm>
          <a:prstGeom prst="rect">
            <a:avLst/>
          </a:prstGeom>
        </p:spPr>
        <p:txBody>
          <a:bodyPr wrap="square">
            <a:spAutoFit/>
          </a:bodyPr>
          <a:lstStyle/>
          <a:p>
            <a:r>
              <a:rPr lang="en-US" sz="1200" i="1" dirty="0">
                <a:solidFill>
                  <a:srgbClr val="036080"/>
                </a:solidFill>
              </a:rPr>
              <a:t>Helping People Live better Lives.</a:t>
            </a:r>
          </a:p>
        </p:txBody>
      </p:sp>
      <p:pic>
        <p:nvPicPr>
          <p:cNvPr id="5" name="Picture 4"/>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8967831" y="5659880"/>
            <a:ext cx="3101912" cy="821546"/>
          </a:xfrm>
          <a:prstGeom prst="rect">
            <a:avLst/>
          </a:prstGeom>
        </p:spPr>
      </p:pic>
      <p:pic>
        <p:nvPicPr>
          <p:cNvPr id="6" name="Picture 5"/>
          <p:cNvPicPr>
            <a:picLocks noChangeAspect="1"/>
          </p:cNvPicPr>
          <p:nvPr userDrawn="1"/>
        </p:nvPicPr>
        <p:blipFill>
          <a:blip r:embed="rId17" cstate="print">
            <a:extLst>
              <a:ext uri="{28A0092B-C50C-407E-A947-70E740481C1C}">
                <a14:useLocalDpi xmlns:a14="http://schemas.microsoft.com/office/drawing/2010/main" val="0"/>
              </a:ext>
            </a:extLst>
          </a:blip>
          <a:stretch>
            <a:fillRect/>
          </a:stretch>
        </p:blipFill>
        <p:spPr>
          <a:xfrm>
            <a:off x="5041" y="10049"/>
            <a:ext cx="12170664" cy="6839924"/>
          </a:xfrm>
          <a:prstGeom prst="rect">
            <a:avLst/>
          </a:prstGeom>
          <a:ln>
            <a:solidFill>
              <a:schemeClr val="tx1"/>
            </a:solidFill>
          </a:ln>
        </p:spPr>
      </p:pic>
      <p:pic>
        <p:nvPicPr>
          <p:cNvPr id="8" name="Picture 7"/>
          <p:cNvPicPr>
            <a:picLocks noChangeAspect="1"/>
          </p:cNvPicPr>
          <p:nvPr userDrawn="1"/>
        </p:nvPicPr>
        <p:blipFill>
          <a:blip r:embed="rId18" cstate="print">
            <a:extLst>
              <a:ext uri="{28A0092B-C50C-407E-A947-70E740481C1C}">
                <a14:useLocalDpi xmlns:a14="http://schemas.microsoft.com/office/drawing/2010/main" val="0"/>
              </a:ext>
            </a:extLst>
          </a:blip>
          <a:stretch>
            <a:fillRect/>
          </a:stretch>
        </p:blipFill>
        <p:spPr>
          <a:xfrm>
            <a:off x="9475089" y="4845428"/>
            <a:ext cx="2360315" cy="971453"/>
          </a:xfrm>
          <a:prstGeom prst="rect">
            <a:avLst/>
          </a:prstGeom>
        </p:spPr>
      </p:pic>
      <p:sp>
        <p:nvSpPr>
          <p:cNvPr id="9" name="Rectangle 8"/>
          <p:cNvSpPr/>
          <p:nvPr userDrawn="1"/>
        </p:nvSpPr>
        <p:spPr>
          <a:xfrm>
            <a:off x="2852230" y="6055600"/>
            <a:ext cx="2885379" cy="276999"/>
          </a:xfrm>
          <a:prstGeom prst="rect">
            <a:avLst/>
          </a:prstGeom>
          <a:effectLst>
            <a:outerShdw blurRad="50800" dist="38100" dir="2700000" algn="tl" rotWithShape="0">
              <a:sysClr val="window" lastClr="FFFFFF">
                <a:alpha val="40000"/>
              </a:sysClr>
            </a:outerShdw>
          </a:effectLst>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0" i="1" u="none" strike="noStrike" kern="0" cap="none" spc="20" normalizeH="0" baseline="0" noProof="0" dirty="0">
                <a:ln>
                  <a:noFill/>
                </a:ln>
                <a:solidFill>
                  <a:srgbClr val="036080"/>
                </a:solidFill>
                <a:effectLst/>
                <a:uLnTx/>
                <a:uFillTx/>
                <a:latin typeface="Montserrat"/>
              </a:rPr>
              <a:t>Helping People Live Better Lives.</a:t>
            </a:r>
          </a:p>
        </p:txBody>
      </p:sp>
      <p:sp>
        <p:nvSpPr>
          <p:cNvPr id="10" name="Slide Number Placeholder 3"/>
          <p:cNvSpPr txBox="1">
            <a:spLocks/>
          </p:cNvSpPr>
          <p:nvPr userDrawn="1"/>
        </p:nvSpPr>
        <p:spPr>
          <a:xfrm>
            <a:off x="9456174" y="6356350"/>
            <a:ext cx="2283542"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7E7C557-6977-4010-A8B0-973A074F99DE}" type="slidenum">
              <a:rPr lang="en-US" sz="1100" smtClean="0"/>
              <a:pPr/>
              <a:t>‹#›</a:t>
            </a:fld>
            <a:endParaRPr lang="en-US" sz="1100" dirty="0"/>
          </a:p>
        </p:txBody>
      </p:sp>
    </p:spTree>
    <p:extLst>
      <p:ext uri="{BB962C8B-B14F-4D97-AF65-F5344CB8AC3E}">
        <p14:creationId xmlns:p14="http://schemas.microsoft.com/office/powerpoint/2010/main" val="3536283188"/>
      </p:ext>
    </p:extLst>
  </p:cSld>
  <p:clrMap bg1="lt1" tx1="dk1" bg2="lt2" tx2="dk2" accent1="accent1" accent2="accent2" accent3="accent3" accent4="accent4" accent5="accent5" accent6="accent6" hlink="hlink" folHlink="folHlink"/>
  <p:sldLayoutIdLst>
    <p:sldLayoutId id="2147483804" r:id="rId1"/>
    <p:sldLayoutId id="2147483805" r:id="rId2"/>
    <p:sldLayoutId id="2147483806" r:id="rId3"/>
    <p:sldLayoutId id="2147483807" r:id="rId4"/>
    <p:sldLayoutId id="2147483808" r:id="rId5"/>
    <p:sldLayoutId id="2147483809" r:id="rId6"/>
    <p:sldLayoutId id="2147483810" r:id="rId7"/>
    <p:sldLayoutId id="2147483811" r:id="rId8"/>
    <p:sldLayoutId id="2147483812" r:id="rId9"/>
    <p:sldLayoutId id="2147483813" r:id="rId10"/>
    <p:sldLayoutId id="2147483814" r:id="rId11"/>
    <p:sldLayoutId id="2147483815" r:id="rId12"/>
    <p:sldLayoutId id="2147483816" r:id="rId13"/>
  </p:sldLayoutIdLst>
  <mc:AlternateContent xmlns:mc="http://schemas.openxmlformats.org/markup-compatibility/2006" xmlns:p14="http://schemas.microsoft.com/office/powerpoint/2010/main">
    <mc:Choice Requires="p14">
      <p:transition p14:dur="10" advClick="0" advTm="10000"/>
    </mc:Choice>
    <mc:Fallback xmlns="">
      <p:transition advClick="0" advTm="10000"/>
    </mc:Fallback>
  </mc:AlternateContent>
  <p:txStyles>
    <p:titleStyle>
      <a:lvl1pPr algn="ctr" defTabSz="914400" rtl="0" eaLnBrk="1" latinLnBrk="0" hangingPunct="1">
        <a:lnSpc>
          <a:spcPct val="90000"/>
        </a:lnSpc>
        <a:spcBef>
          <a:spcPct val="0"/>
        </a:spcBef>
        <a:buNone/>
        <a:defRPr sz="4400" kern="1200" baseline="0">
          <a:ln>
            <a:noFill/>
          </a:ln>
          <a:solidFill>
            <a:srgbClr val="036080"/>
          </a:solidFill>
          <a:latin typeface="Montserrat Semi Bold" panose="00000700000000000000" pitchFamily="50" charset="0"/>
          <a:ea typeface="+mj-ea"/>
          <a:cs typeface="+mj-cs"/>
        </a:defRPr>
      </a:lvl1pPr>
    </p:titleStyle>
    <p:bodyStyle>
      <a:lvl1pPr marL="0" indent="0" algn="ctr" defTabSz="914400" rtl="0" eaLnBrk="1" latinLnBrk="0" hangingPunct="1">
        <a:lnSpc>
          <a:spcPct val="100000"/>
        </a:lnSpc>
        <a:spcBef>
          <a:spcPts val="1000"/>
        </a:spcBef>
        <a:buFont typeface="Arial" panose="020B0604020202020204" pitchFamily="34" charset="0"/>
        <a:buNone/>
        <a:defRPr sz="3200" kern="1200" baseline="0">
          <a:solidFill>
            <a:srgbClr val="BABF33"/>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Clr>
          <a:srgbClr val="B9C8D3"/>
        </a:buClr>
        <a:buFont typeface="Wingdings 3" panose="05040102010807070707" pitchFamily="18" charset="2"/>
        <a:buChar char=""/>
        <a:defRPr sz="2400" kern="1200">
          <a:solidFill>
            <a:schemeClr val="tx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Clr>
          <a:srgbClr val="B9C8D3"/>
        </a:buClr>
        <a:buFont typeface="Wingdings 3" panose="05040102010807070707" pitchFamily="18" charset="2"/>
        <a:buChar char=""/>
        <a:defRPr sz="2000" kern="1200">
          <a:solidFill>
            <a:schemeClr val="tx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Clr>
          <a:srgbClr val="B9C8D3"/>
        </a:buClr>
        <a:buFont typeface="Wingdings 3" panose="05040102010807070707" pitchFamily="18" charset="2"/>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Clr>
          <a:srgbClr val="B9C8D3"/>
        </a:buClr>
        <a:buFont typeface="Wingdings 3" panose="05040102010807070707" pitchFamily="18" charset="2"/>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3" Type="http://schemas.openxmlformats.org/officeDocument/2006/relationships/hyperlink" Target="https://seer.cancer.gov/tools/casefinding/"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18.png"/></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microsoft.com/office/2007/relationships/hdphoto" Target="../media/hdphoto1.wdp"/></Relationships>
</file>

<file path=ppt/slides/_rels/slide11.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a:xfrm>
            <a:off x="165980" y="314607"/>
            <a:ext cx="11860039" cy="1984973"/>
          </a:xfrm>
        </p:spPr>
        <p:txBody>
          <a:bodyPr>
            <a:normAutofit/>
          </a:bodyPr>
          <a:lstStyle/>
          <a:p>
            <a:pPr>
              <a:lnSpc>
                <a:spcPct val="150000"/>
              </a:lnSpc>
              <a:spcBef>
                <a:spcPts val="1200"/>
              </a:spcBef>
              <a:spcAft>
                <a:spcPts val="1200"/>
              </a:spcAft>
            </a:pPr>
            <a:r>
              <a:rPr lang="en-US" sz="3600" b="1" dirty="0">
                <a:latin typeface="Arial" panose="020B0604020202020204" pitchFamily="34" charset="0"/>
                <a:cs typeface="Arial" panose="020B0604020202020204" pitchFamily="34" charset="0"/>
              </a:rPr>
              <a:t>Using Natural Language Processing (NLP) to Identify Reportability of Cancer Reports</a:t>
            </a:r>
            <a:endParaRPr lang="en-US" sz="2400" dirty="0">
              <a:solidFill>
                <a:schemeClr val="tx1"/>
              </a:solidFill>
            </a:endParaRPr>
          </a:p>
        </p:txBody>
      </p:sp>
      <p:sp>
        <p:nvSpPr>
          <p:cNvPr id="3" name="Title 8">
            <a:extLst>
              <a:ext uri="{FF2B5EF4-FFF2-40B4-BE49-F238E27FC236}">
                <a16:creationId xmlns:a16="http://schemas.microsoft.com/office/drawing/2014/main" id="{605EF98C-CF87-4C7D-91A8-0ADBC4845159}"/>
              </a:ext>
            </a:extLst>
          </p:cNvPr>
          <p:cNvSpPr txBox="1">
            <a:spLocks/>
          </p:cNvSpPr>
          <p:nvPr/>
        </p:nvSpPr>
        <p:spPr>
          <a:xfrm>
            <a:off x="165980" y="2502567"/>
            <a:ext cx="11860039" cy="1376413"/>
          </a:xfrm>
          <a:prstGeom prst="rect">
            <a:avLst/>
          </a:prstGeom>
        </p:spPr>
        <p:txBody>
          <a:bodyPr vert="horz" lIns="91440" tIns="45720" rIns="91440" bIns="45720" rtlCol="0" anchor="t" anchorCtr="0">
            <a:noAutofit/>
          </a:bodyPr>
          <a:lstStyle>
            <a:lvl1pPr algn="ctr" defTabSz="914400" rtl="0" eaLnBrk="1" latinLnBrk="0" hangingPunct="1">
              <a:lnSpc>
                <a:spcPct val="90000"/>
              </a:lnSpc>
              <a:spcBef>
                <a:spcPct val="0"/>
              </a:spcBef>
              <a:buNone/>
              <a:defRPr sz="4400" kern="1200">
                <a:solidFill>
                  <a:srgbClr val="036080"/>
                </a:solidFill>
                <a:latin typeface="+mj-lt"/>
                <a:ea typeface="+mj-ea"/>
                <a:cs typeface="+mj-cs"/>
              </a:defRPr>
            </a:lvl1pPr>
          </a:lstStyle>
          <a:p>
            <a:pPr>
              <a:lnSpc>
                <a:spcPct val="150000"/>
              </a:lnSpc>
              <a:spcBef>
                <a:spcPts val="0"/>
              </a:spcBef>
            </a:pPr>
            <a:r>
              <a:rPr lang="en-US" sz="2800" b="1" dirty="0">
                <a:solidFill>
                  <a:schemeClr val="tx1"/>
                </a:solidFill>
                <a:latin typeface="Arial" panose="020B0604020202020204" pitchFamily="34" charset="0"/>
                <a:cs typeface="Arial" panose="020B0604020202020204" pitchFamily="34" charset="0"/>
              </a:rPr>
              <a:t>Nebraska Department of Health and Human Services</a:t>
            </a:r>
          </a:p>
          <a:p>
            <a:pPr>
              <a:lnSpc>
                <a:spcPct val="150000"/>
              </a:lnSpc>
              <a:spcBef>
                <a:spcPts val="0"/>
              </a:spcBef>
            </a:pPr>
            <a:r>
              <a:rPr lang="en-US" sz="2100" b="1" dirty="0">
                <a:solidFill>
                  <a:schemeClr val="tx1"/>
                </a:solidFill>
                <a:latin typeface="Arial" panose="020B0604020202020204" pitchFamily="34" charset="0"/>
                <a:cs typeface="Arial" panose="020B0604020202020204" pitchFamily="34" charset="0"/>
              </a:rPr>
              <a:t>December 14</a:t>
            </a:r>
            <a:r>
              <a:rPr lang="en-US" sz="2100" b="1" baseline="30000" dirty="0">
                <a:solidFill>
                  <a:schemeClr val="tx1"/>
                </a:solidFill>
                <a:latin typeface="Arial" panose="020B0604020202020204" pitchFamily="34" charset="0"/>
                <a:cs typeface="Arial" panose="020B0604020202020204" pitchFamily="34" charset="0"/>
              </a:rPr>
              <a:t>th</a:t>
            </a:r>
            <a:r>
              <a:rPr lang="en-US" sz="2100" b="1" dirty="0">
                <a:solidFill>
                  <a:schemeClr val="tx1"/>
                </a:solidFill>
                <a:latin typeface="Arial" panose="020B0604020202020204" pitchFamily="34" charset="0"/>
                <a:cs typeface="Arial" panose="020B0604020202020204" pitchFamily="34" charset="0"/>
              </a:rPr>
              <a:t>, 2022</a:t>
            </a:r>
            <a:endParaRPr lang="en-US" sz="2100" dirty="0">
              <a:solidFill>
                <a:schemeClr val="tx1"/>
              </a:solidFill>
            </a:endParaRPr>
          </a:p>
        </p:txBody>
      </p:sp>
      <p:sp>
        <p:nvSpPr>
          <p:cNvPr id="4" name="Title 8">
            <a:extLst>
              <a:ext uri="{FF2B5EF4-FFF2-40B4-BE49-F238E27FC236}">
                <a16:creationId xmlns:a16="http://schemas.microsoft.com/office/drawing/2014/main" id="{25AB7C85-B785-4678-8127-4865E42C95F7}"/>
              </a:ext>
            </a:extLst>
          </p:cNvPr>
          <p:cNvSpPr txBox="1">
            <a:spLocks/>
          </p:cNvSpPr>
          <p:nvPr/>
        </p:nvSpPr>
        <p:spPr>
          <a:xfrm>
            <a:off x="1597267" y="4156760"/>
            <a:ext cx="8997463" cy="1982711"/>
          </a:xfrm>
          <a:prstGeom prst="rect">
            <a:avLst/>
          </a:prstGeom>
        </p:spPr>
        <p:txBody>
          <a:bodyPr vert="horz" lIns="91440" tIns="45720" rIns="91440" bIns="45720" rtlCol="0" anchor="t" anchorCtr="0">
            <a:noAutofit/>
          </a:bodyPr>
          <a:lstStyle>
            <a:lvl1pPr algn="ctr" defTabSz="914400" rtl="0" eaLnBrk="1" latinLnBrk="0" hangingPunct="1">
              <a:lnSpc>
                <a:spcPct val="90000"/>
              </a:lnSpc>
              <a:spcBef>
                <a:spcPct val="0"/>
              </a:spcBef>
              <a:buNone/>
              <a:defRPr sz="4400" kern="1200">
                <a:solidFill>
                  <a:srgbClr val="036080"/>
                </a:solidFill>
                <a:latin typeface="+mj-lt"/>
                <a:ea typeface="+mj-ea"/>
                <a:cs typeface="+mj-cs"/>
              </a:defRPr>
            </a:lvl1pPr>
          </a:lstStyle>
          <a:p>
            <a:pPr marL="342900" indent="-342900" algn="l">
              <a:lnSpc>
                <a:spcPct val="100000"/>
              </a:lnSpc>
              <a:spcBef>
                <a:spcPts val="0"/>
              </a:spcBef>
              <a:buFont typeface="Courier New" panose="02070309020205020404" pitchFamily="49" charset="0"/>
              <a:buChar char="o"/>
            </a:pPr>
            <a:r>
              <a:rPr lang="en-US" sz="1800" b="1" dirty="0">
                <a:solidFill>
                  <a:srgbClr val="666633"/>
                </a:solidFill>
                <a:latin typeface="Courier New" panose="02070309020205020404" pitchFamily="49" charset="0"/>
                <a:cs typeface="Courier New" panose="02070309020205020404" pitchFamily="49" charset="0"/>
              </a:rPr>
              <a:t>Lifeng Li:        </a:t>
            </a:r>
            <a:r>
              <a:rPr lang="en-US" sz="1800" dirty="0">
                <a:solidFill>
                  <a:srgbClr val="666633"/>
                </a:solidFill>
                <a:latin typeface="Courier New" panose="02070309020205020404" pitchFamily="49" charset="0"/>
                <a:cs typeface="Courier New" panose="02070309020205020404" pitchFamily="49" charset="0"/>
              </a:rPr>
              <a:t>Epidemiology Surveillance Coordinator</a:t>
            </a:r>
          </a:p>
          <a:p>
            <a:pPr marL="342900" indent="-342900" algn="l">
              <a:lnSpc>
                <a:spcPct val="100000"/>
              </a:lnSpc>
              <a:spcBef>
                <a:spcPts val="0"/>
              </a:spcBef>
              <a:buFont typeface="Courier New" panose="02070309020205020404" pitchFamily="49" charset="0"/>
              <a:buChar char="o"/>
            </a:pPr>
            <a:r>
              <a:rPr lang="en-US" sz="1800" b="1" dirty="0">
                <a:solidFill>
                  <a:srgbClr val="666633"/>
                </a:solidFill>
                <a:latin typeface="Courier New" panose="02070309020205020404" pitchFamily="49" charset="0"/>
                <a:cs typeface="Courier New" panose="02070309020205020404" pitchFamily="49" charset="0"/>
              </a:rPr>
              <a:t>Bhavana Srinivas: </a:t>
            </a:r>
            <a:r>
              <a:rPr lang="en-US" sz="1800" dirty="0">
                <a:solidFill>
                  <a:srgbClr val="666633"/>
                </a:solidFill>
                <a:latin typeface="Courier New" panose="02070309020205020404" pitchFamily="49" charset="0"/>
                <a:cs typeface="Courier New" panose="02070309020205020404" pitchFamily="49" charset="0"/>
              </a:rPr>
              <a:t>ELR Informatics Specialist</a:t>
            </a:r>
          </a:p>
          <a:p>
            <a:pPr marL="342900" indent="-342900" algn="l">
              <a:lnSpc>
                <a:spcPct val="100000"/>
              </a:lnSpc>
              <a:spcBef>
                <a:spcPts val="0"/>
              </a:spcBef>
              <a:buFont typeface="Courier New" panose="02070309020205020404" pitchFamily="49" charset="0"/>
              <a:buChar char="o"/>
            </a:pPr>
            <a:r>
              <a:rPr lang="en-US" sz="1800" b="1" dirty="0">
                <a:solidFill>
                  <a:srgbClr val="666633"/>
                </a:solidFill>
                <a:latin typeface="Courier New" panose="02070309020205020404" pitchFamily="49" charset="0"/>
                <a:cs typeface="Courier New" panose="02070309020205020404" pitchFamily="49" charset="0"/>
              </a:rPr>
              <a:t>Qianru Wu:        </a:t>
            </a:r>
            <a:r>
              <a:rPr lang="en-US" sz="1800" dirty="0">
                <a:solidFill>
                  <a:srgbClr val="666633"/>
                </a:solidFill>
                <a:latin typeface="Courier New" panose="02070309020205020404" pitchFamily="49" charset="0"/>
                <a:cs typeface="Courier New" panose="02070309020205020404" pitchFamily="49" charset="0"/>
              </a:rPr>
              <a:t>Cancer Registry Informatician</a:t>
            </a:r>
          </a:p>
          <a:p>
            <a:pPr marL="342900" indent="-342900" algn="l">
              <a:lnSpc>
                <a:spcPct val="100000"/>
              </a:lnSpc>
              <a:spcBef>
                <a:spcPts val="0"/>
              </a:spcBef>
              <a:buFont typeface="Courier New" panose="02070309020205020404" pitchFamily="49" charset="0"/>
              <a:buChar char="o"/>
            </a:pPr>
            <a:r>
              <a:rPr lang="en-US" sz="1800" b="1" dirty="0">
                <a:solidFill>
                  <a:srgbClr val="666633"/>
                </a:solidFill>
                <a:latin typeface="Courier New" panose="02070309020205020404" pitchFamily="49" charset="0"/>
                <a:cs typeface="Courier New" panose="02070309020205020404" pitchFamily="49" charset="0"/>
              </a:rPr>
              <a:t>Remy Poudel:      </a:t>
            </a:r>
            <a:r>
              <a:rPr lang="en-US" sz="1800" dirty="0">
                <a:solidFill>
                  <a:srgbClr val="666633"/>
                </a:solidFill>
                <a:latin typeface="Courier New" panose="02070309020205020404" pitchFamily="49" charset="0"/>
                <a:cs typeface="Courier New" panose="02070309020205020404" pitchFamily="49" charset="0"/>
              </a:rPr>
              <a:t>DHHS Statistician</a:t>
            </a:r>
          </a:p>
          <a:p>
            <a:pPr marL="342900" indent="-342900" algn="l">
              <a:lnSpc>
                <a:spcPct val="100000"/>
              </a:lnSpc>
              <a:spcBef>
                <a:spcPts val="0"/>
              </a:spcBef>
              <a:buFont typeface="Courier New" panose="02070309020205020404" pitchFamily="49" charset="0"/>
              <a:buChar char="o"/>
            </a:pPr>
            <a:r>
              <a:rPr lang="en-US" sz="1800" b="1" dirty="0">
                <a:solidFill>
                  <a:srgbClr val="666633"/>
                </a:solidFill>
                <a:latin typeface="Courier New" panose="02070309020205020404" pitchFamily="49" charset="0"/>
                <a:cs typeface="Courier New" panose="02070309020205020404" pitchFamily="49" charset="0"/>
              </a:rPr>
              <a:t>Yi Du:            </a:t>
            </a:r>
            <a:r>
              <a:rPr lang="en-US" sz="1800" dirty="0">
                <a:solidFill>
                  <a:srgbClr val="666633"/>
                </a:solidFill>
                <a:latin typeface="Courier New" panose="02070309020205020404" pitchFamily="49" charset="0"/>
                <a:cs typeface="Courier New" panose="02070309020205020404" pitchFamily="49" charset="0"/>
              </a:rPr>
              <a:t>Healthcare Epidemiologist</a:t>
            </a:r>
            <a:br>
              <a:rPr lang="en-US" sz="1800" b="1" dirty="0">
                <a:solidFill>
                  <a:srgbClr val="666633"/>
                </a:solidFill>
                <a:latin typeface="Arial" panose="020B0604020202020204" pitchFamily="34" charset="0"/>
                <a:cs typeface="Arial" panose="020B0604020202020204" pitchFamily="34" charset="0"/>
              </a:rPr>
            </a:br>
            <a:endParaRPr lang="en-US" sz="1800" dirty="0">
              <a:solidFill>
                <a:srgbClr val="666633"/>
              </a:solidFill>
            </a:endParaRPr>
          </a:p>
        </p:txBody>
      </p:sp>
    </p:spTree>
    <p:extLst>
      <p:ext uri="{BB962C8B-B14F-4D97-AF65-F5344CB8AC3E}">
        <p14:creationId xmlns:p14="http://schemas.microsoft.com/office/powerpoint/2010/main" val="25540593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8875" y="252848"/>
            <a:ext cx="11552349" cy="696420"/>
          </a:xfrm>
        </p:spPr>
        <p:txBody>
          <a:bodyPr>
            <a:normAutofit/>
          </a:bodyPr>
          <a:lstStyle/>
          <a:p>
            <a:r>
              <a:rPr lang="en-US" dirty="0"/>
              <a:t>Project Background</a:t>
            </a:r>
          </a:p>
        </p:txBody>
      </p:sp>
      <p:sp>
        <p:nvSpPr>
          <p:cNvPr id="7" name="Rectangle 6"/>
          <p:cNvSpPr/>
          <p:nvPr/>
        </p:nvSpPr>
        <p:spPr>
          <a:xfrm>
            <a:off x="575335" y="1238842"/>
            <a:ext cx="11041330" cy="1538883"/>
          </a:xfrm>
          <a:prstGeom prst="rect">
            <a:avLst/>
          </a:prstGeom>
        </p:spPr>
        <p:txBody>
          <a:bodyPr wrap="square">
            <a:spAutoFit/>
          </a:bodyPr>
          <a:lstStyle/>
          <a:p>
            <a:pPr>
              <a:spcAft>
                <a:spcPts val="1200"/>
              </a:spcAft>
            </a:pPr>
            <a:r>
              <a:rPr lang="en-US" sz="2000" b="1" dirty="0">
                <a:solidFill>
                  <a:srgbClr val="666633"/>
                </a:solidFill>
              </a:rPr>
              <a:t>Data Science Problem:</a:t>
            </a:r>
          </a:p>
          <a:p>
            <a:pPr marL="342900" indent="-342900">
              <a:spcAft>
                <a:spcPts val="600"/>
              </a:spcAft>
              <a:buFont typeface="Courier New" panose="02070309020205020404" pitchFamily="49" charset="0"/>
              <a:buChar char="o"/>
            </a:pPr>
            <a:r>
              <a:rPr lang="en-US" dirty="0"/>
              <a:t>Pathology laboratory may not have an effective filter to avoid non-reportable reports being sent.</a:t>
            </a:r>
          </a:p>
          <a:p>
            <a:pPr marL="285750" indent="-285750">
              <a:spcAft>
                <a:spcPts val="600"/>
              </a:spcAft>
              <a:buFont typeface="Courier New" panose="02070309020205020404" pitchFamily="49" charset="0"/>
              <a:buChar char="o"/>
            </a:pPr>
            <a:r>
              <a:rPr lang="en-US" dirty="0"/>
              <a:t> About </a:t>
            </a:r>
            <a:r>
              <a:rPr lang="en-US" dirty="0">
                <a:solidFill>
                  <a:srgbClr val="FF6600"/>
                </a:solidFill>
              </a:rPr>
              <a:t>1/3</a:t>
            </a:r>
            <a:r>
              <a:rPr lang="en-US" dirty="0"/>
              <a:t> of pathology reports received by the cancer registry were non-reportable.</a:t>
            </a:r>
          </a:p>
          <a:p>
            <a:pPr marL="342900" indent="-342900">
              <a:spcAft>
                <a:spcPts val="600"/>
              </a:spcAft>
              <a:buFont typeface="Courier New" panose="02070309020205020404" pitchFamily="49" charset="0"/>
              <a:buChar char="o"/>
            </a:pPr>
            <a:r>
              <a:rPr lang="en-US" dirty="0"/>
              <a:t>Certified Tumor Registrar (CTR) needs to </a:t>
            </a:r>
            <a:r>
              <a:rPr lang="en-US" dirty="0">
                <a:solidFill>
                  <a:srgbClr val="FF6600"/>
                </a:solidFill>
              </a:rPr>
              <a:t>manually</a:t>
            </a:r>
            <a:r>
              <a:rPr lang="en-US" dirty="0"/>
              <a:t> identify reportability for </a:t>
            </a:r>
            <a:r>
              <a:rPr lang="en-US" dirty="0">
                <a:solidFill>
                  <a:srgbClr val="FF6600"/>
                </a:solidFill>
              </a:rPr>
              <a:t>all reports </a:t>
            </a:r>
            <a:r>
              <a:rPr lang="en-US" dirty="0"/>
              <a:t>received.</a:t>
            </a:r>
          </a:p>
        </p:txBody>
      </p:sp>
      <p:sp>
        <p:nvSpPr>
          <p:cNvPr id="12" name="Rectangle 11">
            <a:extLst>
              <a:ext uri="{FF2B5EF4-FFF2-40B4-BE49-F238E27FC236}">
                <a16:creationId xmlns:a16="http://schemas.microsoft.com/office/drawing/2014/main" id="{CD8D5732-FD10-4B69-A026-FE34E7BF1AEC}"/>
              </a:ext>
            </a:extLst>
          </p:cNvPr>
          <p:cNvSpPr/>
          <p:nvPr/>
        </p:nvSpPr>
        <p:spPr>
          <a:xfrm>
            <a:off x="575335" y="3359686"/>
            <a:ext cx="11041330" cy="830997"/>
          </a:xfrm>
          <a:prstGeom prst="rect">
            <a:avLst/>
          </a:prstGeom>
        </p:spPr>
        <p:txBody>
          <a:bodyPr wrap="square">
            <a:spAutoFit/>
          </a:bodyPr>
          <a:lstStyle/>
          <a:p>
            <a:pPr>
              <a:spcAft>
                <a:spcPts val="1200"/>
              </a:spcAft>
            </a:pPr>
            <a:r>
              <a:rPr lang="en-US" sz="2000" b="1" dirty="0">
                <a:solidFill>
                  <a:srgbClr val="666633"/>
                </a:solidFill>
              </a:rPr>
              <a:t>Project Goal:</a:t>
            </a:r>
          </a:p>
          <a:p>
            <a:pPr marL="342900" indent="-342900">
              <a:spcAft>
                <a:spcPts val="1200"/>
              </a:spcAft>
              <a:buFont typeface="Courier New" panose="02070309020205020404" pitchFamily="49" charset="0"/>
              <a:buChar char="o"/>
            </a:pPr>
            <a:r>
              <a:rPr lang="en-US" dirty="0"/>
              <a:t>Automate the identification process as much as possible </a:t>
            </a:r>
          </a:p>
        </p:txBody>
      </p:sp>
      <p:sp>
        <p:nvSpPr>
          <p:cNvPr id="13" name="Rectangle 12">
            <a:extLst>
              <a:ext uri="{FF2B5EF4-FFF2-40B4-BE49-F238E27FC236}">
                <a16:creationId xmlns:a16="http://schemas.microsoft.com/office/drawing/2014/main" id="{9B647CF2-D32D-4445-8C77-5A9208B4965B}"/>
              </a:ext>
            </a:extLst>
          </p:cNvPr>
          <p:cNvSpPr/>
          <p:nvPr/>
        </p:nvSpPr>
        <p:spPr>
          <a:xfrm>
            <a:off x="575335" y="4495646"/>
            <a:ext cx="8450028" cy="1384995"/>
          </a:xfrm>
          <a:prstGeom prst="rect">
            <a:avLst/>
          </a:prstGeom>
        </p:spPr>
        <p:txBody>
          <a:bodyPr wrap="square">
            <a:spAutoFit/>
          </a:bodyPr>
          <a:lstStyle/>
          <a:p>
            <a:pPr>
              <a:spcAft>
                <a:spcPts val="1200"/>
              </a:spcAft>
            </a:pPr>
            <a:r>
              <a:rPr lang="en-US" sz="2000" b="1" dirty="0">
                <a:solidFill>
                  <a:srgbClr val="666633"/>
                </a:solidFill>
              </a:rPr>
              <a:t>Align with Data Modernization Initiative (DMI):</a:t>
            </a:r>
          </a:p>
          <a:p>
            <a:pPr marL="342900" indent="-342900">
              <a:spcAft>
                <a:spcPts val="1200"/>
              </a:spcAft>
              <a:buFont typeface="Courier New" panose="02070309020205020404" pitchFamily="49" charset="0"/>
              <a:buChar char="o"/>
            </a:pPr>
            <a:r>
              <a:rPr lang="en-US" dirty="0"/>
              <a:t>Pursue innovation and explore new methods to strengthen data reporting, management, and analytics across public health, as well as to increase efficiency and accuracy</a:t>
            </a:r>
          </a:p>
        </p:txBody>
      </p:sp>
      <p:pic>
        <p:nvPicPr>
          <p:cNvPr id="1026" name="Picture 2" descr="Report - Free marketing icons">
            <a:extLst>
              <a:ext uri="{FF2B5EF4-FFF2-40B4-BE49-F238E27FC236}">
                <a16:creationId xmlns:a16="http://schemas.microsoft.com/office/drawing/2014/main" id="{362BC1BC-C0D7-4E2C-8F6A-28EC5361855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57108" y="3221187"/>
            <a:ext cx="1479597" cy="14795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35899113"/>
      </p:ext>
    </p:extLst>
  </p:cSld>
  <p:clrMapOvr>
    <a:masterClrMapping/>
  </p:clrMapOvr>
  <mc:AlternateContent xmlns:mc="http://schemas.openxmlformats.org/markup-compatibility/2006" xmlns:p14="http://schemas.microsoft.com/office/powerpoint/2010/main">
    <mc:Choice Requires="p14">
      <p:transition p14:dur="10" advClick="0" advTm="10000"/>
    </mc:Choice>
    <mc:Fallback xmlns="">
      <p:transition advClick="0" advTm="10000"/>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0D136E52-215B-4937-BDA3-CC936F637F5C}"/>
              </a:ext>
            </a:extLst>
          </p:cNvPr>
          <p:cNvSpPr txBox="1">
            <a:spLocks/>
          </p:cNvSpPr>
          <p:nvPr/>
        </p:nvSpPr>
        <p:spPr>
          <a:xfrm>
            <a:off x="338875" y="252848"/>
            <a:ext cx="11552349" cy="69642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kern="1200">
                <a:solidFill>
                  <a:srgbClr val="036080"/>
                </a:solidFill>
                <a:latin typeface="+mj-lt"/>
                <a:ea typeface="+mj-ea"/>
                <a:cs typeface="+mj-cs"/>
              </a:defRPr>
            </a:lvl1pPr>
          </a:lstStyle>
          <a:p>
            <a:r>
              <a:rPr lang="en-US" dirty="0"/>
              <a:t>Project Summary</a:t>
            </a:r>
          </a:p>
        </p:txBody>
      </p:sp>
      <p:sp>
        <p:nvSpPr>
          <p:cNvPr id="10" name="Rectangle 9">
            <a:extLst>
              <a:ext uri="{FF2B5EF4-FFF2-40B4-BE49-F238E27FC236}">
                <a16:creationId xmlns:a16="http://schemas.microsoft.com/office/drawing/2014/main" id="{6EBF377C-ED81-42AF-A1C0-9A15A6F7385F}"/>
              </a:ext>
            </a:extLst>
          </p:cNvPr>
          <p:cNvSpPr/>
          <p:nvPr/>
        </p:nvSpPr>
        <p:spPr>
          <a:xfrm>
            <a:off x="575334" y="1238842"/>
            <a:ext cx="11315889" cy="4170372"/>
          </a:xfrm>
          <a:prstGeom prst="rect">
            <a:avLst/>
          </a:prstGeom>
        </p:spPr>
        <p:txBody>
          <a:bodyPr wrap="square">
            <a:spAutoFit/>
          </a:bodyPr>
          <a:lstStyle/>
          <a:p>
            <a:pPr marL="342900" indent="-342900">
              <a:spcAft>
                <a:spcPts val="1200"/>
              </a:spcAft>
              <a:buFont typeface="Courier New" panose="02070309020205020404" pitchFamily="49" charset="0"/>
              <a:buChar char="o"/>
            </a:pPr>
            <a:r>
              <a:rPr lang="en-US" sz="2000" dirty="0"/>
              <a:t>Evaluated project goal and explored potential solutions to achieve this goal.</a:t>
            </a:r>
          </a:p>
          <a:p>
            <a:pPr marL="800100" lvl="1" indent="-342900">
              <a:buFont typeface="Arial" panose="020B0604020202020204" pitchFamily="34" charset="0"/>
              <a:buChar char="•"/>
            </a:pPr>
            <a:r>
              <a:rPr lang="en-US" sz="2000" dirty="0">
                <a:solidFill>
                  <a:srgbClr val="036080"/>
                </a:solidFill>
              </a:rPr>
              <a:t>What we already have: </a:t>
            </a:r>
            <a:r>
              <a:rPr lang="en-US" sz="2000" dirty="0">
                <a:solidFill>
                  <a:srgbClr val="FF6600"/>
                </a:solidFill>
              </a:rPr>
              <a:t>data</a:t>
            </a:r>
          </a:p>
          <a:p>
            <a:pPr marL="800100" lvl="1" indent="-342900">
              <a:buFont typeface="Arial" panose="020B0604020202020204" pitchFamily="34" charset="0"/>
              <a:buChar char="•"/>
            </a:pPr>
            <a:r>
              <a:rPr lang="en-US" sz="2000" dirty="0">
                <a:solidFill>
                  <a:srgbClr val="036080"/>
                </a:solidFill>
              </a:rPr>
              <a:t>What is the current solution: </a:t>
            </a:r>
            <a:r>
              <a:rPr lang="en-US" sz="2000" dirty="0">
                <a:solidFill>
                  <a:srgbClr val="FF6600"/>
                </a:solidFill>
              </a:rPr>
              <a:t>manual review </a:t>
            </a:r>
          </a:p>
          <a:p>
            <a:pPr marL="800100" lvl="1" indent="-342900">
              <a:buFont typeface="Arial" panose="020B0604020202020204" pitchFamily="34" charset="0"/>
              <a:buChar char="•"/>
            </a:pPr>
            <a:r>
              <a:rPr lang="en-US" sz="2000" dirty="0">
                <a:solidFill>
                  <a:srgbClr val="036080"/>
                </a:solidFill>
              </a:rPr>
              <a:t>What needs to be employed: </a:t>
            </a:r>
            <a:r>
              <a:rPr lang="en-US" sz="2000" dirty="0">
                <a:solidFill>
                  <a:srgbClr val="FF6600"/>
                </a:solidFill>
              </a:rPr>
              <a:t>knowledge of NLP and python programming</a:t>
            </a:r>
            <a:r>
              <a:rPr lang="en-US" sz="2000" dirty="0">
                <a:solidFill>
                  <a:srgbClr val="036080"/>
                </a:solidFill>
              </a:rPr>
              <a:t> </a:t>
            </a:r>
          </a:p>
          <a:p>
            <a:pPr marL="800100" lvl="1" indent="-342900">
              <a:spcAft>
                <a:spcPts val="1800"/>
              </a:spcAft>
              <a:buFont typeface="Arial" panose="020B0604020202020204" pitchFamily="34" charset="0"/>
              <a:buChar char="•"/>
            </a:pPr>
            <a:r>
              <a:rPr lang="en-US" sz="2000" dirty="0">
                <a:solidFill>
                  <a:srgbClr val="036080"/>
                </a:solidFill>
              </a:rPr>
              <a:t>Where to get the resources: </a:t>
            </a:r>
            <a:r>
              <a:rPr lang="en-US" sz="2000" dirty="0">
                <a:solidFill>
                  <a:srgbClr val="FF6600"/>
                </a:solidFill>
              </a:rPr>
              <a:t>online courses and coach from CSTE </a:t>
            </a:r>
          </a:p>
          <a:p>
            <a:pPr marL="342900" indent="-342900">
              <a:spcBef>
                <a:spcPts val="600"/>
              </a:spcBef>
              <a:spcAft>
                <a:spcPts val="1800"/>
              </a:spcAft>
              <a:buFont typeface="Courier New" panose="02070309020205020404" pitchFamily="49" charset="0"/>
              <a:buChar char="o"/>
            </a:pPr>
            <a:r>
              <a:rPr lang="en-US" sz="2000" dirty="0"/>
              <a:t>Took online courses to learn necessary data science skills.</a:t>
            </a:r>
          </a:p>
          <a:p>
            <a:pPr marL="342900" indent="-342900">
              <a:spcBef>
                <a:spcPts val="600"/>
              </a:spcBef>
              <a:spcAft>
                <a:spcPts val="1800"/>
              </a:spcAft>
              <a:buFont typeface="Courier New" panose="02070309020205020404" pitchFamily="49" charset="0"/>
              <a:buChar char="o"/>
            </a:pPr>
            <a:r>
              <a:rPr lang="en-US" sz="2000" dirty="0"/>
              <a:t>The coach, Mr. Patric Prado, provided useful insights and suggestions for this project.</a:t>
            </a:r>
          </a:p>
          <a:p>
            <a:pPr marL="342900" indent="-342900">
              <a:spcBef>
                <a:spcPts val="600"/>
              </a:spcBef>
              <a:spcAft>
                <a:spcPts val="1200"/>
              </a:spcAft>
              <a:buFont typeface="Courier New" panose="02070309020205020404" pitchFamily="49" charset="0"/>
              <a:buChar char="o"/>
            </a:pPr>
            <a:r>
              <a:rPr lang="en-US" sz="2000" dirty="0"/>
              <a:t>Communicated with other teams during the DSTT monthly meeting.</a:t>
            </a:r>
          </a:p>
          <a:p>
            <a:pPr marL="342900" indent="-342900">
              <a:spcBef>
                <a:spcPts val="600"/>
              </a:spcBef>
              <a:spcAft>
                <a:spcPts val="1200"/>
              </a:spcAft>
              <a:buFont typeface="Courier New" panose="02070309020205020404" pitchFamily="49" charset="0"/>
              <a:buChar char="o"/>
            </a:pPr>
            <a:r>
              <a:rPr lang="en-US" sz="2000" dirty="0"/>
              <a:t>Invited CTR to introduce their current method of identifying reportability.</a:t>
            </a:r>
          </a:p>
        </p:txBody>
      </p:sp>
      <p:pic>
        <p:nvPicPr>
          <p:cNvPr id="2056" name="Picture 8" descr="Analytics - Free business and finance icons">
            <a:extLst>
              <a:ext uri="{FF2B5EF4-FFF2-40B4-BE49-F238E27FC236}">
                <a16:creationId xmlns:a16="http://schemas.microsoft.com/office/drawing/2014/main" id="{1E0F0649-CC90-486E-A6A0-D0F1CA015DA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325083" y="949268"/>
            <a:ext cx="1528042" cy="15280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96581482"/>
      </p:ext>
    </p:extLst>
  </p:cSld>
  <p:clrMapOvr>
    <a:masterClrMapping/>
  </p:clrMapOvr>
  <mc:AlternateContent xmlns:mc="http://schemas.openxmlformats.org/markup-compatibility/2006" xmlns:p14="http://schemas.microsoft.com/office/powerpoint/2010/main">
    <mc:Choice Requires="p14">
      <p:transition p14:dur="10" advClick="0" advTm="10000"/>
    </mc:Choice>
    <mc:Fallback xmlns="">
      <p:transition advClick="0" advTm="10000"/>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8873" y="201558"/>
            <a:ext cx="11552349" cy="696420"/>
          </a:xfrm>
        </p:spPr>
        <p:txBody>
          <a:bodyPr>
            <a:noAutofit/>
          </a:bodyPr>
          <a:lstStyle/>
          <a:p>
            <a:r>
              <a:rPr lang="en-US" dirty="0"/>
              <a:t>Data</a:t>
            </a:r>
          </a:p>
        </p:txBody>
      </p:sp>
      <p:sp>
        <p:nvSpPr>
          <p:cNvPr id="3" name="Rectangle 2">
            <a:extLst>
              <a:ext uri="{FF2B5EF4-FFF2-40B4-BE49-F238E27FC236}">
                <a16:creationId xmlns:a16="http://schemas.microsoft.com/office/drawing/2014/main" id="{048848CA-EC87-466A-95D5-85670F577F87}"/>
              </a:ext>
            </a:extLst>
          </p:cNvPr>
          <p:cNvSpPr/>
          <p:nvPr/>
        </p:nvSpPr>
        <p:spPr>
          <a:xfrm>
            <a:off x="338873" y="1238842"/>
            <a:ext cx="11277792" cy="2062103"/>
          </a:xfrm>
          <a:prstGeom prst="rect">
            <a:avLst/>
          </a:prstGeom>
        </p:spPr>
        <p:txBody>
          <a:bodyPr wrap="square">
            <a:spAutoFit/>
          </a:bodyPr>
          <a:lstStyle/>
          <a:p>
            <a:pPr marL="342900" indent="-342900">
              <a:spcAft>
                <a:spcPts val="600"/>
              </a:spcAft>
              <a:buFont typeface="Courier New" panose="02070309020205020404" pitchFamily="49" charset="0"/>
              <a:buChar char="o"/>
            </a:pPr>
            <a:r>
              <a:rPr lang="en-US" dirty="0"/>
              <a:t>Standard electronic pathology reports in </a:t>
            </a:r>
            <a:r>
              <a:rPr lang="en-US" dirty="0">
                <a:solidFill>
                  <a:srgbClr val="FF6600"/>
                </a:solidFill>
              </a:rPr>
              <a:t>HL7</a:t>
            </a:r>
            <a:r>
              <a:rPr lang="en-US" dirty="0"/>
              <a:t> format from 4 pathology laboratories, </a:t>
            </a:r>
            <a:r>
              <a:rPr lang="en-US" dirty="0">
                <a:solidFill>
                  <a:srgbClr val="FF6600"/>
                </a:solidFill>
              </a:rPr>
              <a:t>4295</a:t>
            </a:r>
            <a:r>
              <a:rPr lang="en-US" dirty="0"/>
              <a:t> reports in total.</a:t>
            </a:r>
          </a:p>
          <a:p>
            <a:pPr marL="800100" lvl="1" indent="-342900">
              <a:buFont typeface="Arial" panose="020B0604020202020204" pitchFamily="34" charset="0"/>
              <a:buChar char="•"/>
            </a:pPr>
            <a:r>
              <a:rPr lang="en-US" dirty="0"/>
              <a:t>Only diagnostic text in </a:t>
            </a:r>
            <a:r>
              <a:rPr lang="en-US" dirty="0">
                <a:solidFill>
                  <a:srgbClr val="FF6600"/>
                </a:solidFill>
              </a:rPr>
              <a:t>OBX-5</a:t>
            </a:r>
            <a:r>
              <a:rPr lang="en-US" dirty="0"/>
              <a:t> was analyzed </a:t>
            </a:r>
          </a:p>
          <a:p>
            <a:pPr marL="800100" lvl="1" indent="-342900">
              <a:spcAft>
                <a:spcPts val="1800"/>
              </a:spcAft>
              <a:buFont typeface="Arial" panose="020B0604020202020204" pitchFamily="34" charset="0"/>
              <a:buChar char="•"/>
            </a:pPr>
            <a:r>
              <a:rPr lang="en-US" dirty="0"/>
              <a:t>All reports were de-identified </a:t>
            </a:r>
          </a:p>
          <a:p>
            <a:pPr marL="342900" indent="-342900">
              <a:buFont typeface="Courier New" panose="02070309020205020404" pitchFamily="49" charset="0"/>
              <a:buChar char="o"/>
            </a:pPr>
            <a:r>
              <a:rPr lang="en-US" dirty="0"/>
              <a:t>CTRs in the Nebraska Cancer Registry manually reviewed all reports and filtered out non-reportable reports. Then we compared the resulted and original datasets to encode each report. </a:t>
            </a:r>
          </a:p>
          <a:p>
            <a:r>
              <a:rPr lang="en-US" dirty="0"/>
              <a:t>	</a:t>
            </a:r>
            <a:r>
              <a:rPr lang="en-US" dirty="0">
                <a:solidFill>
                  <a:srgbClr val="00B050"/>
                </a:solidFill>
              </a:rPr>
              <a:t>0 – non-reportable</a:t>
            </a:r>
            <a:r>
              <a:rPr lang="en-US" dirty="0"/>
              <a:t>	</a:t>
            </a:r>
            <a:r>
              <a:rPr lang="en-US" dirty="0">
                <a:solidFill>
                  <a:srgbClr val="FF0000"/>
                </a:solidFill>
              </a:rPr>
              <a:t>1 – reportable  </a:t>
            </a:r>
          </a:p>
        </p:txBody>
      </p:sp>
      <p:pic>
        <p:nvPicPr>
          <p:cNvPr id="3074" name="Picture 2" descr="HL7 Vector Logo - Download Free SVG Icon | Worldvectorlogo">
            <a:extLst>
              <a:ext uri="{FF2B5EF4-FFF2-40B4-BE49-F238E27FC236}">
                <a16:creationId xmlns:a16="http://schemas.microsoft.com/office/drawing/2014/main" id="{5DB9196F-9687-4CAB-A0F3-63AE3F9B5C4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189563" y="171046"/>
            <a:ext cx="1067460" cy="1067460"/>
          </a:xfrm>
          <a:prstGeom prst="rect">
            <a:avLst/>
          </a:prstGeom>
          <a:noFill/>
          <a:extLst>
            <a:ext uri="{909E8E84-426E-40DD-AFC4-6F175D3DCCD1}">
              <a14:hiddenFill xmlns:a14="http://schemas.microsoft.com/office/drawing/2010/main">
                <a:solidFill>
                  <a:srgbClr val="FFFFFF"/>
                </a:solidFill>
              </a14:hiddenFill>
            </a:ext>
          </a:extLst>
        </p:spPr>
      </p:pic>
      <p:grpSp>
        <p:nvGrpSpPr>
          <p:cNvPr id="11" name="Group 10">
            <a:extLst>
              <a:ext uri="{FF2B5EF4-FFF2-40B4-BE49-F238E27FC236}">
                <a16:creationId xmlns:a16="http://schemas.microsoft.com/office/drawing/2014/main" id="{0780488F-7E19-472E-A74B-CADC58530F29}"/>
              </a:ext>
            </a:extLst>
          </p:cNvPr>
          <p:cNvGrpSpPr/>
          <p:nvPr/>
        </p:nvGrpSpPr>
        <p:grpSpPr>
          <a:xfrm>
            <a:off x="430939" y="3429000"/>
            <a:ext cx="11368216" cy="2911137"/>
            <a:chOff x="523006" y="3474676"/>
            <a:chExt cx="11368216" cy="2911137"/>
          </a:xfrm>
        </p:grpSpPr>
        <p:pic>
          <p:nvPicPr>
            <p:cNvPr id="8" name="Picture 7">
              <a:extLst>
                <a:ext uri="{FF2B5EF4-FFF2-40B4-BE49-F238E27FC236}">
                  <a16:creationId xmlns:a16="http://schemas.microsoft.com/office/drawing/2014/main" id="{9B6F0D97-69FF-4175-982F-0B48B272E0EB}"/>
                </a:ext>
              </a:extLst>
            </p:cNvPr>
            <p:cNvPicPr>
              <a:picLocks noChangeAspect="1"/>
            </p:cNvPicPr>
            <p:nvPr/>
          </p:nvPicPr>
          <p:blipFill>
            <a:blip r:embed="rId4"/>
            <a:stretch>
              <a:fillRect/>
            </a:stretch>
          </p:blipFill>
          <p:spPr>
            <a:xfrm>
              <a:off x="523006" y="3474676"/>
              <a:ext cx="11368216" cy="2911137"/>
            </a:xfrm>
            <a:prstGeom prst="rect">
              <a:avLst/>
            </a:prstGeom>
            <a:effectLst>
              <a:outerShdw blurRad="63500" sx="102000" sy="102000" algn="ctr" rotWithShape="0">
                <a:prstClr val="black">
                  <a:alpha val="40000"/>
                </a:prstClr>
              </a:outerShdw>
            </a:effectLst>
          </p:spPr>
        </p:pic>
        <p:sp>
          <p:nvSpPr>
            <p:cNvPr id="10" name="Rectangle: Rounded Corners 9">
              <a:extLst>
                <a:ext uri="{FF2B5EF4-FFF2-40B4-BE49-F238E27FC236}">
                  <a16:creationId xmlns:a16="http://schemas.microsoft.com/office/drawing/2014/main" id="{467C20DA-D087-4DF8-A1A0-66BF7F9F6E5C}"/>
                </a:ext>
              </a:extLst>
            </p:cNvPr>
            <p:cNvSpPr/>
            <p:nvPr/>
          </p:nvSpPr>
          <p:spPr>
            <a:xfrm>
              <a:off x="5502876" y="4712043"/>
              <a:ext cx="230659" cy="131806"/>
            </a:xfrm>
            <a:prstGeom prst="roundRect">
              <a:avLst/>
            </a:prstGeom>
            <a:solidFill>
              <a:srgbClr val="FF6600">
                <a:alpha val="3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12" name="Rectangle: Rounded Corners 11">
              <a:extLst>
                <a:ext uri="{FF2B5EF4-FFF2-40B4-BE49-F238E27FC236}">
                  <a16:creationId xmlns:a16="http://schemas.microsoft.com/office/drawing/2014/main" id="{4F66C980-E35F-4BAA-9C08-850BBACAED9E}"/>
                </a:ext>
              </a:extLst>
            </p:cNvPr>
            <p:cNvSpPr/>
            <p:nvPr/>
          </p:nvSpPr>
          <p:spPr>
            <a:xfrm>
              <a:off x="5165125" y="4843850"/>
              <a:ext cx="4555524" cy="131806"/>
            </a:xfrm>
            <a:prstGeom prst="roundRect">
              <a:avLst/>
            </a:prstGeom>
            <a:solidFill>
              <a:srgbClr val="FF6600">
                <a:alpha val="3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13" name="Rectangle: Rounded Corners 12">
              <a:extLst>
                <a:ext uri="{FF2B5EF4-FFF2-40B4-BE49-F238E27FC236}">
                  <a16:creationId xmlns:a16="http://schemas.microsoft.com/office/drawing/2014/main" id="{0C571047-CED9-4CBD-84C4-BBDB69F27A99}"/>
                </a:ext>
              </a:extLst>
            </p:cNvPr>
            <p:cNvSpPr/>
            <p:nvPr/>
          </p:nvSpPr>
          <p:spPr>
            <a:xfrm>
              <a:off x="4672632" y="4991523"/>
              <a:ext cx="3720597" cy="131806"/>
            </a:xfrm>
            <a:prstGeom prst="roundRect">
              <a:avLst/>
            </a:prstGeom>
            <a:solidFill>
              <a:srgbClr val="FF6600">
                <a:alpha val="3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14" name="Rectangle: Rounded Corners 13">
              <a:extLst>
                <a:ext uri="{FF2B5EF4-FFF2-40B4-BE49-F238E27FC236}">
                  <a16:creationId xmlns:a16="http://schemas.microsoft.com/office/drawing/2014/main" id="{EF279B0E-81D9-4C3E-9034-A7FEE223267A}"/>
                </a:ext>
              </a:extLst>
            </p:cNvPr>
            <p:cNvSpPr/>
            <p:nvPr/>
          </p:nvSpPr>
          <p:spPr>
            <a:xfrm>
              <a:off x="5733534" y="5139157"/>
              <a:ext cx="6157687" cy="131806"/>
            </a:xfrm>
            <a:prstGeom prst="roundRect">
              <a:avLst/>
            </a:prstGeom>
            <a:solidFill>
              <a:srgbClr val="FF6600">
                <a:alpha val="3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15" name="Rectangle: Rounded Corners 14">
              <a:extLst>
                <a:ext uri="{FF2B5EF4-FFF2-40B4-BE49-F238E27FC236}">
                  <a16:creationId xmlns:a16="http://schemas.microsoft.com/office/drawing/2014/main" id="{94AE2E49-121D-45E3-802A-5F9A93210BD6}"/>
                </a:ext>
              </a:extLst>
            </p:cNvPr>
            <p:cNvSpPr/>
            <p:nvPr/>
          </p:nvSpPr>
          <p:spPr>
            <a:xfrm>
              <a:off x="5165126" y="5540995"/>
              <a:ext cx="3228104" cy="131806"/>
            </a:xfrm>
            <a:prstGeom prst="roundRect">
              <a:avLst/>
            </a:prstGeom>
            <a:solidFill>
              <a:srgbClr val="FF6600">
                <a:alpha val="3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16" name="Rectangle: Rounded Corners 15">
              <a:extLst>
                <a:ext uri="{FF2B5EF4-FFF2-40B4-BE49-F238E27FC236}">
                  <a16:creationId xmlns:a16="http://schemas.microsoft.com/office/drawing/2014/main" id="{01CCB3A8-5016-4378-8135-999516854AB4}"/>
                </a:ext>
              </a:extLst>
            </p:cNvPr>
            <p:cNvSpPr/>
            <p:nvPr/>
          </p:nvSpPr>
          <p:spPr>
            <a:xfrm>
              <a:off x="4672632" y="5674519"/>
              <a:ext cx="2161305" cy="131806"/>
            </a:xfrm>
            <a:prstGeom prst="roundRect">
              <a:avLst/>
            </a:prstGeom>
            <a:solidFill>
              <a:srgbClr val="FF6600">
                <a:alpha val="3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17" name="Rectangle: Rounded Corners 16">
              <a:extLst>
                <a:ext uri="{FF2B5EF4-FFF2-40B4-BE49-F238E27FC236}">
                  <a16:creationId xmlns:a16="http://schemas.microsoft.com/office/drawing/2014/main" id="{A0043A60-A522-406A-9516-EE877973047C}"/>
                </a:ext>
              </a:extLst>
            </p:cNvPr>
            <p:cNvSpPr/>
            <p:nvPr/>
          </p:nvSpPr>
          <p:spPr>
            <a:xfrm>
              <a:off x="5733534" y="5822153"/>
              <a:ext cx="6157686" cy="120680"/>
            </a:xfrm>
            <a:prstGeom prst="roundRect">
              <a:avLst/>
            </a:prstGeom>
            <a:solidFill>
              <a:srgbClr val="FF6600">
                <a:alpha val="3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339124286"/>
      </p:ext>
    </p:extLst>
  </p:cSld>
  <p:clrMapOvr>
    <a:masterClrMapping/>
  </p:clrMapOvr>
  <mc:AlternateContent xmlns:mc="http://schemas.openxmlformats.org/markup-compatibility/2006" xmlns:p14="http://schemas.microsoft.com/office/powerpoint/2010/main">
    <mc:Choice Requires="p14">
      <p:transition p14:dur="10" advClick="0" advTm="10000"/>
    </mc:Choice>
    <mc:Fallback xmlns="">
      <p:transition advClick="0" advTm="10000"/>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8873" y="201558"/>
            <a:ext cx="11552349" cy="696420"/>
          </a:xfrm>
        </p:spPr>
        <p:txBody>
          <a:bodyPr>
            <a:noAutofit/>
          </a:bodyPr>
          <a:lstStyle/>
          <a:p>
            <a:r>
              <a:rPr lang="en-US" dirty="0"/>
              <a:t>Current Solutions</a:t>
            </a:r>
          </a:p>
        </p:txBody>
      </p:sp>
      <p:sp>
        <p:nvSpPr>
          <p:cNvPr id="9" name="Rectangle 8">
            <a:extLst>
              <a:ext uri="{FF2B5EF4-FFF2-40B4-BE49-F238E27FC236}">
                <a16:creationId xmlns:a16="http://schemas.microsoft.com/office/drawing/2014/main" id="{2D5C3511-E016-4C4D-8B28-8BE35712E8AD}"/>
              </a:ext>
            </a:extLst>
          </p:cNvPr>
          <p:cNvSpPr/>
          <p:nvPr/>
        </p:nvSpPr>
        <p:spPr>
          <a:xfrm>
            <a:off x="575335" y="1238842"/>
            <a:ext cx="11041330" cy="2169825"/>
          </a:xfrm>
          <a:prstGeom prst="rect">
            <a:avLst/>
          </a:prstGeom>
        </p:spPr>
        <p:txBody>
          <a:bodyPr wrap="square">
            <a:spAutoFit/>
          </a:bodyPr>
          <a:lstStyle/>
          <a:p>
            <a:pPr marL="457200" indent="-457200">
              <a:spcAft>
                <a:spcPts val="1200"/>
              </a:spcAft>
              <a:buFont typeface="+mj-lt"/>
              <a:buAutoNum type="arabicPeriod"/>
            </a:pPr>
            <a:r>
              <a:rPr lang="en-US" sz="2000" b="1" dirty="0">
                <a:solidFill>
                  <a:srgbClr val="666633"/>
                </a:solidFill>
              </a:rPr>
              <a:t>Use case-finding ICD-10 code list:</a:t>
            </a:r>
          </a:p>
          <a:p>
            <a:pPr marL="800100" lvl="1" indent="-342900">
              <a:spcAft>
                <a:spcPts val="600"/>
              </a:spcAft>
              <a:buFont typeface="Courier New" panose="02070309020205020404" pitchFamily="49" charset="0"/>
              <a:buChar char="o"/>
            </a:pPr>
            <a:r>
              <a:rPr lang="en-US" dirty="0"/>
              <a:t>Surveillance, Epidemiology, and End Results Program (SEER) case-finding ICD-10 code list: </a:t>
            </a:r>
            <a:r>
              <a:rPr lang="en-US" dirty="0">
                <a:hlinkClick r:id="rId3"/>
              </a:rPr>
              <a:t>https://seer.cancer.gov/tools/casefinding/</a:t>
            </a:r>
            <a:endParaRPr lang="en-US" dirty="0"/>
          </a:p>
          <a:p>
            <a:pPr lvl="1" indent="341313">
              <a:spcAft>
                <a:spcPts val="600"/>
              </a:spcAft>
            </a:pPr>
            <a:r>
              <a:rPr lang="en-US" sz="1600" dirty="0">
                <a:solidFill>
                  <a:srgbClr val="FF0000"/>
                </a:solidFill>
              </a:rPr>
              <a:t>Note: this list includes more codes than those in the reportable list so as not to miss any reportable cases.</a:t>
            </a:r>
          </a:p>
          <a:p>
            <a:pPr lvl="2">
              <a:spcAft>
                <a:spcPts val="600"/>
              </a:spcAft>
            </a:pPr>
            <a:endParaRPr lang="en-US" dirty="0"/>
          </a:p>
          <a:p>
            <a:pPr marL="457200" indent="-457200">
              <a:spcAft>
                <a:spcPts val="600"/>
              </a:spcAft>
              <a:buFont typeface="+mj-lt"/>
              <a:buAutoNum type="arabicPeriod"/>
            </a:pPr>
            <a:r>
              <a:rPr lang="en-US" sz="2000" b="1" dirty="0">
                <a:solidFill>
                  <a:srgbClr val="666633"/>
                </a:solidFill>
              </a:rPr>
              <a:t>Analyze ambiguous terms manually:</a:t>
            </a:r>
          </a:p>
        </p:txBody>
      </p:sp>
      <p:sp>
        <p:nvSpPr>
          <p:cNvPr id="6" name="TextBox 5">
            <a:extLst>
              <a:ext uri="{FF2B5EF4-FFF2-40B4-BE49-F238E27FC236}">
                <a16:creationId xmlns:a16="http://schemas.microsoft.com/office/drawing/2014/main" id="{5C5F0BA4-AEB0-419D-A8A5-8286075671B9}"/>
              </a:ext>
            </a:extLst>
          </p:cNvPr>
          <p:cNvSpPr txBox="1"/>
          <p:nvPr/>
        </p:nvSpPr>
        <p:spPr>
          <a:xfrm>
            <a:off x="1371557" y="3449334"/>
            <a:ext cx="7191633" cy="2308324"/>
          </a:xfrm>
          <a:prstGeom prst="rect">
            <a:avLst/>
          </a:prstGeom>
          <a:noFill/>
        </p:spPr>
        <p:txBody>
          <a:bodyPr wrap="square" numCol="2" rtlCol="0">
            <a:spAutoFit/>
          </a:bodyPr>
          <a:lstStyle/>
          <a:p>
            <a:r>
              <a:rPr lang="en-US" dirty="0"/>
              <a:t>Apparent(</a:t>
            </a:r>
            <a:r>
              <a:rPr lang="en-US" dirty="0" err="1"/>
              <a:t>ly</a:t>
            </a:r>
            <a:r>
              <a:rPr lang="en-US" dirty="0"/>
              <a:t>)	</a:t>
            </a:r>
          </a:p>
          <a:p>
            <a:r>
              <a:rPr lang="en-US" dirty="0"/>
              <a:t>Appears</a:t>
            </a:r>
          </a:p>
          <a:p>
            <a:r>
              <a:rPr lang="en-US" dirty="0"/>
              <a:t>Comparable with                              Compatible with</a:t>
            </a:r>
          </a:p>
          <a:p>
            <a:r>
              <a:rPr lang="en-US" dirty="0"/>
              <a:t>Consistent with                                 Favors</a:t>
            </a:r>
          </a:p>
          <a:p>
            <a:r>
              <a:rPr lang="en-US" dirty="0"/>
              <a:t>Malignant appearing                         Most likely</a:t>
            </a:r>
          </a:p>
          <a:p>
            <a:r>
              <a:rPr lang="en-US" dirty="0"/>
              <a:t>Presumed                                           Probable</a:t>
            </a:r>
          </a:p>
          <a:p>
            <a:r>
              <a:rPr lang="en-US" dirty="0"/>
              <a:t>Suspect(ed)                                        Suspicious (for)     </a:t>
            </a:r>
          </a:p>
          <a:p>
            <a:r>
              <a:rPr lang="en-US" dirty="0"/>
              <a:t>Typical of</a:t>
            </a:r>
          </a:p>
          <a:p>
            <a:r>
              <a:rPr lang="en-US" sz="1800" dirty="0">
                <a:effectLst/>
                <a:ea typeface="Times New Roman" panose="02020603050405020304" pitchFamily="18" charset="0"/>
              </a:rPr>
              <a:t>Tumor</a:t>
            </a:r>
          </a:p>
          <a:p>
            <a:r>
              <a:rPr lang="en-US" sz="1800" dirty="0">
                <a:effectLst/>
                <a:ea typeface="Times New Roman" panose="02020603050405020304" pitchFamily="18" charset="0"/>
              </a:rPr>
              <a:t>Neoplasm</a:t>
            </a:r>
          </a:p>
          <a:p>
            <a:r>
              <a:rPr lang="en-US" dirty="0"/>
              <a:t>……</a:t>
            </a:r>
          </a:p>
        </p:txBody>
      </p:sp>
      <p:pic>
        <p:nvPicPr>
          <p:cNvPr id="4098" name="Picture 2" descr="✓[Updated] ICD 10 Codes Offline for PC / Mac / Windows 7,8,10 - Free Mod  Download (2022)">
            <a:extLst>
              <a:ext uri="{FF2B5EF4-FFF2-40B4-BE49-F238E27FC236}">
                <a16:creationId xmlns:a16="http://schemas.microsoft.com/office/drawing/2014/main" id="{DB4588A9-28AA-4FB5-8FB2-34B71FE393D1}"/>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819503" y="235217"/>
            <a:ext cx="1400432" cy="14004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02307599"/>
      </p:ext>
    </p:extLst>
  </p:cSld>
  <p:clrMapOvr>
    <a:masterClrMapping/>
  </p:clrMapOvr>
  <mc:AlternateContent xmlns:mc="http://schemas.openxmlformats.org/markup-compatibility/2006" xmlns:p14="http://schemas.microsoft.com/office/powerpoint/2010/main">
    <mc:Choice Requires="p14">
      <p:transition p14:dur="10" advClick="0" advTm="10000"/>
    </mc:Choice>
    <mc:Fallback xmlns="">
      <p:transition advClick="0" advTm="10000"/>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A3096AD6-547B-47F2-B3B0-EBB9222C93DB}"/>
              </a:ext>
            </a:extLst>
          </p:cNvPr>
          <p:cNvSpPr txBox="1">
            <a:spLocks/>
          </p:cNvSpPr>
          <p:nvPr/>
        </p:nvSpPr>
        <p:spPr>
          <a:xfrm>
            <a:off x="491273" y="353958"/>
            <a:ext cx="11552349" cy="69642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600" kern="1200">
                <a:solidFill>
                  <a:srgbClr val="036080"/>
                </a:solidFill>
                <a:latin typeface="+mj-lt"/>
                <a:ea typeface="+mj-ea"/>
                <a:cs typeface="+mj-cs"/>
              </a:defRPr>
            </a:lvl1pPr>
          </a:lstStyle>
          <a:p>
            <a:r>
              <a:rPr lang="en-US" dirty="0"/>
              <a:t>Results: ICD-10 Codes Summary</a:t>
            </a:r>
          </a:p>
        </p:txBody>
      </p:sp>
      <p:pic>
        <p:nvPicPr>
          <p:cNvPr id="5" name="Picture 4">
            <a:extLst>
              <a:ext uri="{FF2B5EF4-FFF2-40B4-BE49-F238E27FC236}">
                <a16:creationId xmlns:a16="http://schemas.microsoft.com/office/drawing/2014/main" id="{A77AA746-F307-4BFA-9B47-257412A649B6}"/>
              </a:ext>
            </a:extLst>
          </p:cNvPr>
          <p:cNvPicPr>
            <a:picLocks noChangeAspect="1"/>
          </p:cNvPicPr>
          <p:nvPr/>
        </p:nvPicPr>
        <p:blipFill rotWithShape="1">
          <a:blip r:embed="rId3"/>
          <a:srcRect r="5224"/>
          <a:stretch/>
        </p:blipFill>
        <p:spPr>
          <a:xfrm>
            <a:off x="5711556" y="1364520"/>
            <a:ext cx="6219831" cy="4524375"/>
          </a:xfrm>
          <a:prstGeom prst="rect">
            <a:avLst/>
          </a:prstGeom>
        </p:spPr>
      </p:pic>
      <p:sp>
        <p:nvSpPr>
          <p:cNvPr id="8" name="TextBox 7">
            <a:extLst>
              <a:ext uri="{FF2B5EF4-FFF2-40B4-BE49-F238E27FC236}">
                <a16:creationId xmlns:a16="http://schemas.microsoft.com/office/drawing/2014/main" id="{42EDB8A3-23A8-48F2-8854-9E476EA93B33}"/>
              </a:ext>
            </a:extLst>
          </p:cNvPr>
          <p:cNvSpPr txBox="1"/>
          <p:nvPr/>
        </p:nvSpPr>
        <p:spPr>
          <a:xfrm>
            <a:off x="491273" y="1225455"/>
            <a:ext cx="5398781" cy="3200876"/>
          </a:xfrm>
          <a:prstGeom prst="rect">
            <a:avLst/>
          </a:prstGeom>
          <a:noFill/>
        </p:spPr>
        <p:txBody>
          <a:bodyPr wrap="square">
            <a:spAutoFit/>
          </a:bodyPr>
          <a:lstStyle/>
          <a:p>
            <a:r>
              <a:rPr lang="en-US" b="1" dirty="0">
                <a:solidFill>
                  <a:srgbClr val="666633"/>
                </a:solidFill>
              </a:rPr>
              <a:t>Number of reports contains:</a:t>
            </a:r>
          </a:p>
          <a:p>
            <a:pPr marL="285750" indent="-285750">
              <a:buFont typeface="Courier New" panose="02070309020205020404" pitchFamily="49" charset="0"/>
              <a:buChar char="o"/>
            </a:pPr>
            <a:r>
              <a:rPr lang="en-US" sz="1600" dirty="0"/>
              <a:t>One ICD-10 code: </a:t>
            </a:r>
            <a:r>
              <a:rPr lang="en-US" sz="1600" b="1" dirty="0"/>
              <a:t>2301</a:t>
            </a:r>
          </a:p>
          <a:p>
            <a:pPr marL="285750" indent="-285750">
              <a:buFont typeface="Courier New" panose="02070309020205020404" pitchFamily="49" charset="0"/>
              <a:buChar char="o"/>
            </a:pPr>
            <a:r>
              <a:rPr lang="en-US" sz="1600" dirty="0"/>
              <a:t>Multiple codes:      </a:t>
            </a:r>
            <a:r>
              <a:rPr lang="en-US" sz="1600" b="1" dirty="0"/>
              <a:t>812</a:t>
            </a:r>
          </a:p>
          <a:p>
            <a:pPr marL="285750" indent="-285750">
              <a:spcAft>
                <a:spcPts val="1200"/>
              </a:spcAft>
              <a:buFont typeface="Courier New" panose="02070309020205020404" pitchFamily="49" charset="0"/>
              <a:buChar char="o"/>
            </a:pPr>
            <a:r>
              <a:rPr lang="en-US" sz="1600" dirty="0"/>
              <a:t>No code:               </a:t>
            </a:r>
            <a:r>
              <a:rPr lang="en-US" sz="1600" b="1" dirty="0"/>
              <a:t>1182</a:t>
            </a:r>
          </a:p>
          <a:p>
            <a:r>
              <a:rPr lang="en-US" b="1" dirty="0">
                <a:solidFill>
                  <a:srgbClr val="666633"/>
                </a:solidFill>
              </a:rPr>
              <a:t>Among reports with one code:</a:t>
            </a:r>
          </a:p>
          <a:p>
            <a:pPr marL="285750" indent="-285750">
              <a:buFont typeface="Courier New" panose="02070309020205020404" pitchFamily="49" charset="0"/>
              <a:buChar char="o"/>
            </a:pPr>
            <a:r>
              <a:rPr lang="en-US" sz="1600" dirty="0"/>
              <a:t>One reportable code:          </a:t>
            </a:r>
            <a:r>
              <a:rPr lang="en-US" sz="1600" b="1" dirty="0"/>
              <a:t>880</a:t>
            </a:r>
          </a:p>
          <a:p>
            <a:pPr marL="285750" indent="-285750">
              <a:spcAft>
                <a:spcPts val="1200"/>
              </a:spcAft>
              <a:buFont typeface="Courier New" panose="02070309020205020404" pitchFamily="49" charset="0"/>
              <a:buChar char="o"/>
            </a:pPr>
            <a:r>
              <a:rPr lang="en-US" sz="1600" dirty="0"/>
              <a:t>One non-reportable code:  </a:t>
            </a:r>
            <a:r>
              <a:rPr lang="en-US" sz="1600" b="1" dirty="0"/>
              <a:t>1421</a:t>
            </a:r>
          </a:p>
          <a:p>
            <a:r>
              <a:rPr lang="en-US" b="1" dirty="0">
                <a:solidFill>
                  <a:srgbClr val="666633"/>
                </a:solidFill>
              </a:rPr>
              <a:t>Among reports with multiple codes:</a:t>
            </a:r>
          </a:p>
          <a:p>
            <a:pPr marL="285750" indent="-285750">
              <a:buFont typeface="Courier New" panose="02070309020205020404" pitchFamily="49" charset="0"/>
              <a:buChar char="o"/>
            </a:pPr>
            <a:r>
              <a:rPr lang="en-US" sz="1600" dirty="0"/>
              <a:t>Different codes, all reportable:                      </a:t>
            </a:r>
            <a:r>
              <a:rPr lang="en-US" sz="1600" b="1" dirty="0"/>
              <a:t>50</a:t>
            </a:r>
          </a:p>
          <a:p>
            <a:pPr marL="285750" indent="-285750">
              <a:buFont typeface="Courier New" panose="02070309020205020404" pitchFamily="49" charset="0"/>
              <a:buChar char="o"/>
            </a:pPr>
            <a:r>
              <a:rPr lang="en-US" sz="1600" dirty="0"/>
              <a:t>Different codes, all non-reportable:              </a:t>
            </a:r>
            <a:r>
              <a:rPr lang="en-US" sz="1600" b="1" dirty="0"/>
              <a:t>492</a:t>
            </a:r>
          </a:p>
          <a:p>
            <a:pPr marL="285750" indent="-285750">
              <a:buFont typeface="Courier New" panose="02070309020205020404" pitchFamily="49" charset="0"/>
              <a:buChar char="o"/>
            </a:pPr>
            <a:r>
              <a:rPr lang="en-US" sz="1600" dirty="0"/>
              <a:t>Both reportable and non-reportable codes:  </a:t>
            </a:r>
            <a:r>
              <a:rPr lang="en-US" sz="1600" b="1" dirty="0"/>
              <a:t>270</a:t>
            </a:r>
            <a:endParaRPr lang="en-US" sz="1600" b="1" strike="sngStrike" dirty="0"/>
          </a:p>
        </p:txBody>
      </p:sp>
      <p:sp>
        <p:nvSpPr>
          <p:cNvPr id="9" name="TextBox 8">
            <a:extLst>
              <a:ext uri="{FF2B5EF4-FFF2-40B4-BE49-F238E27FC236}">
                <a16:creationId xmlns:a16="http://schemas.microsoft.com/office/drawing/2014/main" id="{23FC1C39-8CEE-4F3F-9CC7-188373805B1E}"/>
              </a:ext>
            </a:extLst>
          </p:cNvPr>
          <p:cNvSpPr txBox="1"/>
          <p:nvPr/>
        </p:nvSpPr>
        <p:spPr>
          <a:xfrm>
            <a:off x="491273" y="4659729"/>
            <a:ext cx="5481159" cy="1431161"/>
          </a:xfrm>
          <a:prstGeom prst="rect">
            <a:avLst/>
          </a:prstGeom>
          <a:noFill/>
        </p:spPr>
        <p:txBody>
          <a:bodyPr wrap="square">
            <a:spAutoFit/>
          </a:bodyPr>
          <a:lstStyle/>
          <a:p>
            <a:r>
              <a:rPr lang="en-US" b="1" u="sng" dirty="0">
                <a:solidFill>
                  <a:srgbClr val="0070C0"/>
                </a:solidFill>
              </a:rPr>
              <a:t>Hypothesis</a:t>
            </a:r>
            <a:r>
              <a:rPr lang="en-US" b="1" dirty="0">
                <a:solidFill>
                  <a:srgbClr val="0070C0"/>
                </a:solidFill>
              </a:rPr>
              <a:t>: </a:t>
            </a:r>
            <a:r>
              <a:rPr lang="en-US" dirty="0">
                <a:solidFill>
                  <a:srgbClr val="0070C0"/>
                </a:solidFill>
              </a:rPr>
              <a:t>a report is reportable if it contains reportable ICD-10 code(s). </a:t>
            </a:r>
          </a:p>
          <a:p>
            <a:pPr marL="285750" indent="-285750">
              <a:spcAft>
                <a:spcPts val="600"/>
              </a:spcAft>
              <a:buFont typeface="Arial" panose="020B0604020202020204" pitchFamily="34" charset="0"/>
              <a:buChar char="•"/>
            </a:pPr>
            <a:r>
              <a:rPr lang="en-US" sz="1400" dirty="0"/>
              <a:t>Include only the reports containing at least one ICD-10 code (3113 reports in total – 72% of all reports).   </a:t>
            </a:r>
          </a:p>
          <a:p>
            <a:r>
              <a:rPr lang="en-US" b="1" dirty="0">
                <a:solidFill>
                  <a:srgbClr val="0070C0"/>
                </a:solidFill>
              </a:rPr>
              <a:t>Accuracy: </a:t>
            </a:r>
            <a:r>
              <a:rPr lang="en-US" b="1" dirty="0">
                <a:solidFill>
                  <a:srgbClr val="FF0000"/>
                </a:solidFill>
              </a:rPr>
              <a:t>58%</a:t>
            </a:r>
          </a:p>
        </p:txBody>
      </p:sp>
    </p:spTree>
    <p:extLst>
      <p:ext uri="{BB962C8B-B14F-4D97-AF65-F5344CB8AC3E}">
        <p14:creationId xmlns:p14="http://schemas.microsoft.com/office/powerpoint/2010/main" val="2806900611"/>
      </p:ext>
    </p:extLst>
  </p:cSld>
  <p:clrMapOvr>
    <a:masterClrMapping/>
  </p:clrMapOvr>
  <mc:AlternateContent xmlns:mc="http://schemas.openxmlformats.org/markup-compatibility/2006" xmlns:p14="http://schemas.microsoft.com/office/powerpoint/2010/main">
    <mc:Choice Requires="p14">
      <p:transition p14:dur="10" advClick="0" advTm="10000"/>
    </mc:Choice>
    <mc:Fallback xmlns="">
      <p:transition advClick="0" advTm="10000"/>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3486" y="242034"/>
            <a:ext cx="11552349" cy="696420"/>
          </a:xfrm>
        </p:spPr>
        <p:txBody>
          <a:bodyPr/>
          <a:lstStyle/>
          <a:p>
            <a:r>
              <a:rPr lang="en-US" dirty="0"/>
              <a:t>NLP Solution</a:t>
            </a:r>
          </a:p>
        </p:txBody>
      </p:sp>
      <p:sp>
        <p:nvSpPr>
          <p:cNvPr id="6" name="Rectangle 5">
            <a:extLst>
              <a:ext uri="{FF2B5EF4-FFF2-40B4-BE49-F238E27FC236}">
                <a16:creationId xmlns:a16="http://schemas.microsoft.com/office/drawing/2014/main" id="{C9D94B36-F93B-4858-B8D4-89AEB51C1C72}"/>
              </a:ext>
            </a:extLst>
          </p:cNvPr>
          <p:cNvSpPr/>
          <p:nvPr/>
        </p:nvSpPr>
        <p:spPr>
          <a:xfrm>
            <a:off x="575335" y="1238842"/>
            <a:ext cx="11041330" cy="400110"/>
          </a:xfrm>
          <a:prstGeom prst="rect">
            <a:avLst/>
          </a:prstGeom>
        </p:spPr>
        <p:txBody>
          <a:bodyPr wrap="square">
            <a:spAutoFit/>
          </a:bodyPr>
          <a:lstStyle/>
          <a:p>
            <a:pPr>
              <a:spcAft>
                <a:spcPts val="1200"/>
              </a:spcAft>
            </a:pPr>
            <a:r>
              <a:rPr lang="en-US" sz="2000" b="1" dirty="0">
                <a:solidFill>
                  <a:srgbClr val="666633"/>
                </a:solidFill>
              </a:rPr>
              <a:t>Text preprocess:</a:t>
            </a:r>
          </a:p>
        </p:txBody>
      </p:sp>
      <p:grpSp>
        <p:nvGrpSpPr>
          <p:cNvPr id="11" name="Group 10">
            <a:extLst>
              <a:ext uri="{FF2B5EF4-FFF2-40B4-BE49-F238E27FC236}">
                <a16:creationId xmlns:a16="http://schemas.microsoft.com/office/drawing/2014/main" id="{4ECC0EDA-EF23-4849-89F0-1940198A7C35}"/>
              </a:ext>
            </a:extLst>
          </p:cNvPr>
          <p:cNvGrpSpPr/>
          <p:nvPr/>
        </p:nvGrpSpPr>
        <p:grpSpPr>
          <a:xfrm>
            <a:off x="575335" y="3335241"/>
            <a:ext cx="11041330" cy="2658415"/>
            <a:chOff x="575335" y="3229051"/>
            <a:chExt cx="11041330" cy="2766817"/>
          </a:xfrm>
        </p:grpSpPr>
        <p:sp>
          <p:nvSpPr>
            <p:cNvPr id="15" name="Rectangle 14">
              <a:extLst>
                <a:ext uri="{FF2B5EF4-FFF2-40B4-BE49-F238E27FC236}">
                  <a16:creationId xmlns:a16="http://schemas.microsoft.com/office/drawing/2014/main" id="{7F55C0B5-AEF1-4B0E-8C24-4F8DE317000D}"/>
                </a:ext>
              </a:extLst>
            </p:cNvPr>
            <p:cNvSpPr/>
            <p:nvPr/>
          </p:nvSpPr>
          <p:spPr>
            <a:xfrm>
              <a:off x="575335" y="3229051"/>
              <a:ext cx="11041330" cy="1153177"/>
            </a:xfrm>
            <a:prstGeom prst="rect">
              <a:avLst/>
            </a:prstGeom>
          </p:spPr>
          <p:txBody>
            <a:bodyPr wrap="square">
              <a:spAutoFit/>
            </a:bodyPr>
            <a:lstStyle/>
            <a:p>
              <a:pPr>
                <a:spcAft>
                  <a:spcPts val="1200"/>
                </a:spcAft>
              </a:pPr>
              <a:r>
                <a:rPr lang="en-US" sz="2000" b="1" dirty="0">
                  <a:solidFill>
                    <a:srgbClr val="666633"/>
                  </a:solidFill>
                </a:rPr>
                <a:t>Vectorization:</a:t>
              </a:r>
            </a:p>
            <a:p>
              <a:pPr marL="285750" indent="-285750">
                <a:buFont typeface="Courier New" panose="02070309020205020404" pitchFamily="49" charset="0"/>
                <a:buChar char="o"/>
              </a:pPr>
              <a:r>
                <a:rPr lang="en-US" dirty="0"/>
                <a:t>Frequency vector / Count vector</a:t>
              </a:r>
            </a:p>
            <a:p>
              <a:pPr marL="285750" indent="-285750">
                <a:spcAft>
                  <a:spcPts val="1200"/>
                </a:spcAft>
                <a:buFont typeface="Courier New" panose="02070309020205020404" pitchFamily="49" charset="0"/>
                <a:buChar char="o"/>
              </a:pPr>
              <a:r>
                <a:rPr lang="en-US" dirty="0"/>
                <a:t>Term frequency-Inverse Document Frequency (TF-IDF) vector</a:t>
              </a:r>
            </a:p>
          </p:txBody>
        </p:sp>
        <p:sp>
          <p:nvSpPr>
            <p:cNvPr id="16" name="Rectangle 15">
              <a:extLst>
                <a:ext uri="{FF2B5EF4-FFF2-40B4-BE49-F238E27FC236}">
                  <a16:creationId xmlns:a16="http://schemas.microsoft.com/office/drawing/2014/main" id="{50E34B4F-109F-4418-9532-A9438601A052}"/>
                </a:ext>
              </a:extLst>
            </p:cNvPr>
            <p:cNvSpPr/>
            <p:nvPr/>
          </p:nvSpPr>
          <p:spPr>
            <a:xfrm>
              <a:off x="575335" y="4554397"/>
              <a:ext cx="11041330" cy="1441471"/>
            </a:xfrm>
            <a:prstGeom prst="rect">
              <a:avLst/>
            </a:prstGeom>
          </p:spPr>
          <p:txBody>
            <a:bodyPr wrap="square">
              <a:spAutoFit/>
            </a:bodyPr>
            <a:lstStyle/>
            <a:p>
              <a:pPr>
                <a:spcAft>
                  <a:spcPts val="1200"/>
                </a:spcAft>
              </a:pPr>
              <a:r>
                <a:rPr lang="en-US" sz="2000" b="1" dirty="0">
                  <a:solidFill>
                    <a:srgbClr val="666633"/>
                  </a:solidFill>
                </a:rPr>
                <a:t>Model selection for text classification:</a:t>
              </a:r>
            </a:p>
            <a:p>
              <a:pPr marL="285750" indent="-285750">
                <a:buFont typeface="Courier New" panose="02070309020205020404" pitchFamily="49" charset="0"/>
                <a:buChar char="o"/>
              </a:pPr>
              <a:r>
                <a:rPr lang="en-US" dirty="0"/>
                <a:t>Naïve Bayes </a:t>
              </a:r>
            </a:p>
            <a:p>
              <a:pPr marL="285750" indent="-285750">
                <a:buFont typeface="Courier New" panose="02070309020205020404" pitchFamily="49" charset="0"/>
                <a:buChar char="o"/>
              </a:pPr>
              <a:r>
                <a:rPr lang="en-US" dirty="0"/>
                <a:t>Logistic Regression</a:t>
              </a:r>
            </a:p>
            <a:p>
              <a:pPr marL="285750" indent="-285750">
                <a:buFont typeface="Courier New" panose="02070309020205020404" pitchFamily="49" charset="0"/>
                <a:buChar char="o"/>
              </a:pPr>
              <a:r>
                <a:rPr lang="en-US" dirty="0"/>
                <a:t>Linear Support Vector Machine</a:t>
              </a:r>
            </a:p>
          </p:txBody>
        </p:sp>
      </p:grpSp>
      <p:pic>
        <p:nvPicPr>
          <p:cNvPr id="5132" name="Picture 12" descr="Leveraging capabilities of NLP in manufacturing industries - KR Knowledge  World">
            <a:extLst>
              <a:ext uri="{FF2B5EF4-FFF2-40B4-BE49-F238E27FC236}">
                <a16:creationId xmlns:a16="http://schemas.microsoft.com/office/drawing/2014/main" id="{F008E921-76C2-4D35-8C34-B9D14FDD106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52566" y="66916"/>
            <a:ext cx="2619375" cy="1743075"/>
          </a:xfrm>
          <a:prstGeom prst="rect">
            <a:avLst/>
          </a:prstGeom>
          <a:noFill/>
          <a:extLst>
            <a:ext uri="{909E8E84-426E-40DD-AFC4-6F175D3DCCD1}">
              <a14:hiddenFill xmlns:a14="http://schemas.microsoft.com/office/drawing/2010/main">
                <a:solidFill>
                  <a:srgbClr val="FFFFFF"/>
                </a:solidFill>
              </a14:hiddenFill>
            </a:ext>
          </a:extLst>
        </p:spPr>
      </p:pic>
      <p:grpSp>
        <p:nvGrpSpPr>
          <p:cNvPr id="23" name="Group 22">
            <a:extLst>
              <a:ext uri="{FF2B5EF4-FFF2-40B4-BE49-F238E27FC236}">
                <a16:creationId xmlns:a16="http://schemas.microsoft.com/office/drawing/2014/main" id="{F6033E02-EAC9-4CC1-850F-1CC0D7409DD7}"/>
              </a:ext>
            </a:extLst>
          </p:cNvPr>
          <p:cNvGrpSpPr/>
          <p:nvPr/>
        </p:nvGrpSpPr>
        <p:grpSpPr>
          <a:xfrm>
            <a:off x="219424" y="1756204"/>
            <a:ext cx="11253621" cy="1554119"/>
            <a:chOff x="219424" y="1756204"/>
            <a:chExt cx="11253621" cy="1554119"/>
          </a:xfrm>
        </p:grpSpPr>
        <p:sp>
          <p:nvSpPr>
            <p:cNvPr id="3" name="TextBox 2">
              <a:extLst>
                <a:ext uri="{FF2B5EF4-FFF2-40B4-BE49-F238E27FC236}">
                  <a16:creationId xmlns:a16="http://schemas.microsoft.com/office/drawing/2014/main" id="{27EEE89B-676A-4DB5-98E7-5DA0AA67F2EE}"/>
                </a:ext>
              </a:extLst>
            </p:cNvPr>
            <p:cNvSpPr txBox="1"/>
            <p:nvPr/>
          </p:nvSpPr>
          <p:spPr>
            <a:xfrm>
              <a:off x="650788" y="1894703"/>
              <a:ext cx="1620773" cy="369332"/>
            </a:xfrm>
            <a:prstGeom prst="rect">
              <a:avLst/>
            </a:prstGeom>
            <a:gradFill flip="none" rotWithShape="1">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tileRect/>
            </a:gradFill>
            <a:ln w="15875">
              <a:solidFill>
                <a:schemeClr val="tx1"/>
              </a:solidFill>
            </a:ln>
            <a:effectLst>
              <a:outerShdw blurRad="50800" dist="38100" dir="8100000" algn="tr" rotWithShape="0">
                <a:prstClr val="black">
                  <a:alpha val="40000"/>
                </a:prstClr>
              </a:outerShdw>
            </a:effectLst>
          </p:spPr>
          <p:txBody>
            <a:bodyPr wrap="square" rtlCol="0" anchor="ctr" anchorCtr="0">
              <a:spAutoFit/>
            </a:bodyPr>
            <a:lstStyle/>
            <a:p>
              <a:pPr algn="ctr"/>
              <a:r>
                <a:rPr lang="en-US" dirty="0">
                  <a:ln w="0"/>
                  <a:effectLst>
                    <a:outerShdw blurRad="38100" dist="19050" dir="2700000" algn="tl" rotWithShape="0">
                      <a:schemeClr val="dk1">
                        <a:alpha val="40000"/>
                      </a:schemeClr>
                    </a:outerShdw>
                  </a:effectLst>
                </a:rPr>
                <a:t>Tokenization</a:t>
              </a:r>
            </a:p>
          </p:txBody>
        </p:sp>
        <p:sp>
          <p:nvSpPr>
            <p:cNvPr id="7" name="TextBox 6">
              <a:extLst>
                <a:ext uri="{FF2B5EF4-FFF2-40B4-BE49-F238E27FC236}">
                  <a16:creationId xmlns:a16="http://schemas.microsoft.com/office/drawing/2014/main" id="{5F8E5F4E-2AD7-4D5D-8EDC-594B4A276B0B}"/>
                </a:ext>
              </a:extLst>
            </p:cNvPr>
            <p:cNvSpPr txBox="1"/>
            <p:nvPr/>
          </p:nvSpPr>
          <p:spPr>
            <a:xfrm>
              <a:off x="2875694" y="1760610"/>
              <a:ext cx="1620773" cy="646331"/>
            </a:xfrm>
            <a:prstGeom prst="rect">
              <a:avLst/>
            </a:prstGeom>
            <a:gradFill flip="none" rotWithShape="1">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tileRect/>
            </a:gradFill>
            <a:ln w="15875">
              <a:solidFill>
                <a:schemeClr val="tx1"/>
              </a:solidFill>
            </a:ln>
            <a:effectLst>
              <a:outerShdw blurRad="50800" dist="38100" dir="8100000" algn="tr" rotWithShape="0">
                <a:prstClr val="black">
                  <a:alpha val="40000"/>
                </a:prstClr>
              </a:outerShdw>
            </a:effectLst>
          </p:spPr>
          <p:txBody>
            <a:bodyPr wrap="square" rtlCol="0" anchor="ctr" anchorCtr="0">
              <a:spAutoFit/>
            </a:bodyPr>
            <a:lstStyle/>
            <a:p>
              <a:pPr algn="ctr"/>
              <a:r>
                <a:rPr lang="en-US" dirty="0">
                  <a:ln w="0"/>
                  <a:effectLst>
                    <a:outerShdw blurRad="38100" dist="19050" dir="2700000" algn="tl" rotWithShape="0">
                      <a:schemeClr val="dk1">
                        <a:alpha val="40000"/>
                      </a:schemeClr>
                    </a:outerShdw>
                  </a:effectLst>
                </a:rPr>
                <a:t>Remove Stop Words</a:t>
              </a:r>
            </a:p>
          </p:txBody>
        </p:sp>
        <p:sp>
          <p:nvSpPr>
            <p:cNvPr id="8" name="TextBox 7">
              <a:extLst>
                <a:ext uri="{FF2B5EF4-FFF2-40B4-BE49-F238E27FC236}">
                  <a16:creationId xmlns:a16="http://schemas.microsoft.com/office/drawing/2014/main" id="{1CD3CCE6-6912-4E57-8B31-B266F88CAE7E}"/>
                </a:ext>
              </a:extLst>
            </p:cNvPr>
            <p:cNvSpPr txBox="1"/>
            <p:nvPr/>
          </p:nvSpPr>
          <p:spPr>
            <a:xfrm>
              <a:off x="5100600" y="1756204"/>
              <a:ext cx="1620773" cy="646331"/>
            </a:xfrm>
            <a:prstGeom prst="rect">
              <a:avLst/>
            </a:prstGeom>
            <a:gradFill flip="none" rotWithShape="1">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tileRect/>
            </a:gradFill>
            <a:ln w="15875">
              <a:solidFill>
                <a:schemeClr val="tx1"/>
              </a:solidFill>
            </a:ln>
            <a:effectLst>
              <a:outerShdw blurRad="50800" dist="38100" dir="8100000" algn="tr" rotWithShape="0">
                <a:prstClr val="black">
                  <a:alpha val="40000"/>
                </a:prstClr>
              </a:outerShdw>
            </a:effectLst>
          </p:spPr>
          <p:txBody>
            <a:bodyPr wrap="square" rtlCol="0" anchor="ctr" anchorCtr="0">
              <a:spAutoFit/>
            </a:bodyPr>
            <a:lstStyle/>
            <a:p>
              <a:pPr algn="ctr"/>
              <a:r>
                <a:rPr lang="en-US" dirty="0">
                  <a:ln w="0"/>
                  <a:effectLst>
                    <a:outerShdw blurRad="38100" dist="19050" dir="2700000" algn="tl" rotWithShape="0">
                      <a:schemeClr val="dk1">
                        <a:alpha val="40000"/>
                      </a:schemeClr>
                    </a:outerShdw>
                  </a:effectLst>
                </a:rPr>
                <a:t>Remove Punctuations</a:t>
              </a:r>
            </a:p>
          </p:txBody>
        </p:sp>
        <p:sp>
          <p:nvSpPr>
            <p:cNvPr id="9" name="TextBox 8">
              <a:extLst>
                <a:ext uri="{FF2B5EF4-FFF2-40B4-BE49-F238E27FC236}">
                  <a16:creationId xmlns:a16="http://schemas.microsoft.com/office/drawing/2014/main" id="{0B91A9B4-DDF1-4318-A9A4-EA6989AA3E39}"/>
                </a:ext>
              </a:extLst>
            </p:cNvPr>
            <p:cNvSpPr txBox="1"/>
            <p:nvPr/>
          </p:nvSpPr>
          <p:spPr>
            <a:xfrm>
              <a:off x="7325506" y="1756204"/>
              <a:ext cx="1771703" cy="646331"/>
            </a:xfrm>
            <a:prstGeom prst="rect">
              <a:avLst/>
            </a:prstGeom>
            <a:gradFill flip="none" rotWithShape="1">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tileRect/>
            </a:gradFill>
            <a:ln w="15875">
              <a:solidFill>
                <a:schemeClr val="tx1"/>
              </a:solidFill>
            </a:ln>
            <a:effectLst>
              <a:outerShdw blurRad="50800" dist="38100" dir="8100000" algn="tr" rotWithShape="0">
                <a:prstClr val="black">
                  <a:alpha val="40000"/>
                </a:prstClr>
              </a:outerShdw>
            </a:effectLst>
          </p:spPr>
          <p:txBody>
            <a:bodyPr wrap="square" rtlCol="0" anchor="ctr" anchorCtr="0">
              <a:spAutoFit/>
            </a:bodyPr>
            <a:lstStyle/>
            <a:p>
              <a:pPr algn="ctr"/>
              <a:r>
                <a:rPr lang="en-US" dirty="0">
                  <a:ln w="0"/>
                  <a:effectLst>
                    <a:outerShdw blurRad="38100" dist="19050" dir="2700000" algn="tl" rotWithShape="0">
                      <a:schemeClr val="dk1">
                        <a:alpha val="40000"/>
                      </a:schemeClr>
                    </a:outerShdw>
                  </a:effectLst>
                </a:rPr>
                <a:t>Assign Part-Of-Speech Tags</a:t>
              </a:r>
            </a:p>
          </p:txBody>
        </p:sp>
        <p:sp>
          <p:nvSpPr>
            <p:cNvPr id="10" name="TextBox 9">
              <a:extLst>
                <a:ext uri="{FF2B5EF4-FFF2-40B4-BE49-F238E27FC236}">
                  <a16:creationId xmlns:a16="http://schemas.microsoft.com/office/drawing/2014/main" id="{E376CF3A-5C55-4502-A62C-B02E0AC72283}"/>
                </a:ext>
              </a:extLst>
            </p:cNvPr>
            <p:cNvSpPr txBox="1"/>
            <p:nvPr/>
          </p:nvSpPr>
          <p:spPr>
            <a:xfrm>
              <a:off x="9701342" y="1893229"/>
              <a:ext cx="1771703" cy="369332"/>
            </a:xfrm>
            <a:prstGeom prst="rect">
              <a:avLst/>
            </a:prstGeom>
            <a:gradFill flip="none" rotWithShape="1">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tileRect/>
            </a:gradFill>
            <a:ln w="15875">
              <a:solidFill>
                <a:schemeClr val="tx1"/>
              </a:solidFill>
            </a:ln>
            <a:effectLst>
              <a:outerShdw blurRad="50800" dist="38100" dir="8100000" algn="tr" rotWithShape="0">
                <a:prstClr val="black">
                  <a:alpha val="40000"/>
                </a:prstClr>
              </a:outerShdw>
            </a:effectLst>
          </p:spPr>
          <p:txBody>
            <a:bodyPr wrap="square" rtlCol="0" anchor="ctr" anchorCtr="0">
              <a:spAutoFit/>
            </a:bodyPr>
            <a:lstStyle/>
            <a:p>
              <a:pPr algn="ctr"/>
              <a:r>
                <a:rPr lang="en-US" dirty="0">
                  <a:ln w="0"/>
                  <a:effectLst>
                    <a:outerShdw blurRad="38100" dist="19050" dir="2700000" algn="tl" rotWithShape="0">
                      <a:schemeClr val="dk1">
                        <a:alpha val="40000"/>
                      </a:schemeClr>
                    </a:outerShdw>
                  </a:effectLst>
                </a:rPr>
                <a:t>Lemmatization</a:t>
              </a:r>
            </a:p>
          </p:txBody>
        </p:sp>
        <p:sp>
          <p:nvSpPr>
            <p:cNvPr id="4" name="Arrow: Right 3">
              <a:extLst>
                <a:ext uri="{FF2B5EF4-FFF2-40B4-BE49-F238E27FC236}">
                  <a16:creationId xmlns:a16="http://schemas.microsoft.com/office/drawing/2014/main" id="{59B90E41-316A-4B05-929A-6DED45B43798}"/>
                </a:ext>
              </a:extLst>
            </p:cNvPr>
            <p:cNvSpPr/>
            <p:nvPr/>
          </p:nvSpPr>
          <p:spPr>
            <a:xfrm>
              <a:off x="2392395" y="1947512"/>
              <a:ext cx="362465" cy="260766"/>
            </a:xfrm>
            <a:prstGeom prst="rightArrow">
              <a:avLst/>
            </a:prstGeom>
          </p:spPr>
          <p:style>
            <a:lnRef idx="0">
              <a:schemeClr val="dk1"/>
            </a:lnRef>
            <a:fillRef idx="3">
              <a:schemeClr val="dk1"/>
            </a:fillRef>
            <a:effectRef idx="3">
              <a:schemeClr val="dk1"/>
            </a:effectRef>
            <a:fontRef idx="minor">
              <a:schemeClr val="lt1"/>
            </a:fontRef>
          </p:style>
          <p:txBody>
            <a:bodyPr rtlCol="0" anchor="ctr"/>
            <a:lstStyle/>
            <a:p>
              <a:pPr algn="ctr"/>
              <a:endParaRPr lang="en-US">
                <a:ln w="0"/>
                <a:solidFill>
                  <a:schemeClr val="tx1"/>
                </a:solidFill>
                <a:effectLst>
                  <a:outerShdw blurRad="38100" dist="19050" dir="2700000" algn="tl" rotWithShape="0">
                    <a:schemeClr val="dk1">
                      <a:alpha val="40000"/>
                    </a:schemeClr>
                  </a:outerShdw>
                </a:effectLst>
              </a:endParaRPr>
            </a:p>
          </p:txBody>
        </p:sp>
        <p:sp>
          <p:nvSpPr>
            <p:cNvPr id="12" name="Arrow: Right 11">
              <a:extLst>
                <a:ext uri="{FF2B5EF4-FFF2-40B4-BE49-F238E27FC236}">
                  <a16:creationId xmlns:a16="http://schemas.microsoft.com/office/drawing/2014/main" id="{3A726FCF-DA0A-4C5E-BFF4-08863A21FD4D}"/>
                </a:ext>
              </a:extLst>
            </p:cNvPr>
            <p:cNvSpPr/>
            <p:nvPr/>
          </p:nvSpPr>
          <p:spPr>
            <a:xfrm>
              <a:off x="4617301" y="1947512"/>
              <a:ext cx="362465" cy="260766"/>
            </a:xfrm>
            <a:prstGeom prst="rightArrow">
              <a:avLst/>
            </a:prstGeom>
          </p:spPr>
          <p:style>
            <a:lnRef idx="0">
              <a:schemeClr val="dk1"/>
            </a:lnRef>
            <a:fillRef idx="3">
              <a:schemeClr val="dk1"/>
            </a:fillRef>
            <a:effectRef idx="3">
              <a:schemeClr val="dk1"/>
            </a:effectRef>
            <a:fontRef idx="minor">
              <a:schemeClr val="lt1"/>
            </a:fontRef>
          </p:style>
          <p:txBody>
            <a:bodyPr rtlCol="0" anchor="ctr"/>
            <a:lstStyle/>
            <a:p>
              <a:pPr algn="ctr"/>
              <a:endParaRPr lang="en-US">
                <a:ln w="0"/>
                <a:solidFill>
                  <a:schemeClr val="tx1"/>
                </a:solidFill>
                <a:effectLst>
                  <a:outerShdw blurRad="38100" dist="19050" dir="2700000" algn="tl" rotWithShape="0">
                    <a:schemeClr val="dk1">
                      <a:alpha val="40000"/>
                    </a:schemeClr>
                  </a:outerShdw>
                </a:effectLst>
              </a:endParaRPr>
            </a:p>
          </p:txBody>
        </p:sp>
        <p:sp>
          <p:nvSpPr>
            <p:cNvPr id="13" name="Arrow: Right 12">
              <a:extLst>
                <a:ext uri="{FF2B5EF4-FFF2-40B4-BE49-F238E27FC236}">
                  <a16:creationId xmlns:a16="http://schemas.microsoft.com/office/drawing/2014/main" id="{519FA05A-D746-4CF8-87CD-F97EF0B085E1}"/>
                </a:ext>
              </a:extLst>
            </p:cNvPr>
            <p:cNvSpPr/>
            <p:nvPr/>
          </p:nvSpPr>
          <p:spPr>
            <a:xfrm>
              <a:off x="6842207" y="1948049"/>
              <a:ext cx="362465" cy="260766"/>
            </a:xfrm>
            <a:prstGeom prst="rightArrow">
              <a:avLst/>
            </a:prstGeom>
          </p:spPr>
          <p:style>
            <a:lnRef idx="0">
              <a:schemeClr val="dk1"/>
            </a:lnRef>
            <a:fillRef idx="3">
              <a:schemeClr val="dk1"/>
            </a:fillRef>
            <a:effectRef idx="3">
              <a:schemeClr val="dk1"/>
            </a:effectRef>
            <a:fontRef idx="minor">
              <a:schemeClr val="lt1"/>
            </a:fontRef>
          </p:style>
          <p:txBody>
            <a:bodyPr rtlCol="0" anchor="ctr"/>
            <a:lstStyle/>
            <a:p>
              <a:pPr algn="ctr"/>
              <a:endParaRPr lang="en-US">
                <a:ln w="0"/>
                <a:solidFill>
                  <a:schemeClr val="tx1"/>
                </a:solidFill>
                <a:effectLst>
                  <a:outerShdw blurRad="38100" dist="19050" dir="2700000" algn="tl" rotWithShape="0">
                    <a:schemeClr val="dk1">
                      <a:alpha val="40000"/>
                    </a:schemeClr>
                  </a:outerShdw>
                </a:effectLst>
              </a:endParaRPr>
            </a:p>
          </p:txBody>
        </p:sp>
        <p:sp>
          <p:nvSpPr>
            <p:cNvPr id="14" name="Arrow: Right 13">
              <a:extLst>
                <a:ext uri="{FF2B5EF4-FFF2-40B4-BE49-F238E27FC236}">
                  <a16:creationId xmlns:a16="http://schemas.microsoft.com/office/drawing/2014/main" id="{AAB7258E-DC03-44EF-8923-912D5227B2DE}"/>
                </a:ext>
              </a:extLst>
            </p:cNvPr>
            <p:cNvSpPr/>
            <p:nvPr/>
          </p:nvSpPr>
          <p:spPr>
            <a:xfrm>
              <a:off x="9218043" y="1948049"/>
              <a:ext cx="362465" cy="260766"/>
            </a:xfrm>
            <a:prstGeom prst="rightArrow">
              <a:avLst/>
            </a:prstGeom>
          </p:spPr>
          <p:style>
            <a:lnRef idx="0">
              <a:schemeClr val="dk1"/>
            </a:lnRef>
            <a:fillRef idx="3">
              <a:schemeClr val="dk1"/>
            </a:fillRef>
            <a:effectRef idx="3">
              <a:schemeClr val="dk1"/>
            </a:effectRef>
            <a:fontRef idx="minor">
              <a:schemeClr val="lt1"/>
            </a:fontRef>
          </p:style>
          <p:txBody>
            <a:bodyPr rtlCol="0" anchor="ctr"/>
            <a:lstStyle/>
            <a:p>
              <a:pPr algn="ctr"/>
              <a:endParaRPr lang="en-US">
                <a:ln w="0"/>
                <a:solidFill>
                  <a:schemeClr val="tx1"/>
                </a:solidFill>
                <a:effectLst>
                  <a:outerShdw blurRad="38100" dist="19050" dir="2700000" algn="tl" rotWithShape="0">
                    <a:schemeClr val="dk1">
                      <a:alpha val="40000"/>
                    </a:schemeClr>
                  </a:outerShdw>
                </a:effectLst>
              </a:endParaRPr>
            </a:p>
          </p:txBody>
        </p:sp>
        <p:sp>
          <p:nvSpPr>
            <p:cNvPr id="5" name="TextBox 4">
              <a:extLst>
                <a:ext uri="{FF2B5EF4-FFF2-40B4-BE49-F238E27FC236}">
                  <a16:creationId xmlns:a16="http://schemas.microsoft.com/office/drawing/2014/main" id="{D40369CF-D5E3-462A-A993-B1F7ED68A564}"/>
                </a:ext>
              </a:extLst>
            </p:cNvPr>
            <p:cNvSpPr txBox="1"/>
            <p:nvPr/>
          </p:nvSpPr>
          <p:spPr>
            <a:xfrm>
              <a:off x="219424" y="2591295"/>
              <a:ext cx="2573627" cy="430887"/>
            </a:xfrm>
            <a:prstGeom prst="rect">
              <a:avLst/>
            </a:prstGeom>
            <a:noFill/>
          </p:spPr>
          <p:txBody>
            <a:bodyPr wrap="square" rtlCol="0">
              <a:spAutoFit/>
            </a:bodyPr>
            <a:lstStyle/>
            <a:p>
              <a:pPr algn="ctr"/>
              <a:r>
                <a:rPr lang="en-US" sz="1050" dirty="0">
                  <a:solidFill>
                    <a:srgbClr val="0070C0"/>
                  </a:solidFill>
                </a:rPr>
                <a:t>A dog ran away.</a:t>
              </a:r>
            </a:p>
            <a:p>
              <a:pPr algn="ctr"/>
              <a:r>
                <a:rPr lang="en-US" sz="1050" dirty="0">
                  <a:solidFill>
                    <a:srgbClr val="0070C0"/>
                  </a:solidFill>
                </a:rPr>
                <a:t>['A', 'dog', 'ran’, 'away', '.']</a:t>
              </a:r>
            </a:p>
          </p:txBody>
        </p:sp>
        <p:sp>
          <p:nvSpPr>
            <p:cNvPr id="18" name="TextBox 17">
              <a:extLst>
                <a:ext uri="{FF2B5EF4-FFF2-40B4-BE49-F238E27FC236}">
                  <a16:creationId xmlns:a16="http://schemas.microsoft.com/office/drawing/2014/main" id="{3E590B39-3D35-4B43-9F7F-A977D97ADECC}"/>
                </a:ext>
              </a:extLst>
            </p:cNvPr>
            <p:cNvSpPr txBox="1"/>
            <p:nvPr/>
          </p:nvSpPr>
          <p:spPr>
            <a:xfrm>
              <a:off x="2532783" y="2587553"/>
              <a:ext cx="2567817" cy="430887"/>
            </a:xfrm>
            <a:prstGeom prst="rect">
              <a:avLst/>
            </a:prstGeom>
            <a:noFill/>
          </p:spPr>
          <p:txBody>
            <a:bodyPr wrap="square" rtlCol="0">
              <a:spAutoFit/>
            </a:bodyPr>
            <a:lstStyle/>
            <a:p>
              <a:pPr algn="ctr"/>
              <a:r>
                <a:rPr lang="en-US" sz="1050" dirty="0">
                  <a:solidFill>
                    <a:srgbClr val="0070C0"/>
                  </a:solidFill>
                </a:rPr>
                <a:t>['</a:t>
              </a:r>
              <a:r>
                <a:rPr lang="en-US" sz="1050" dirty="0">
                  <a:solidFill>
                    <a:srgbClr val="FF6600"/>
                  </a:solidFill>
                </a:rPr>
                <a:t>A</a:t>
              </a:r>
              <a:r>
                <a:rPr lang="en-US" sz="1050" dirty="0">
                  <a:solidFill>
                    <a:srgbClr val="0070C0"/>
                  </a:solidFill>
                </a:rPr>
                <a:t>', 'dog', 'ran', 'away', '.']</a:t>
              </a:r>
            </a:p>
            <a:p>
              <a:pPr algn="ctr"/>
              <a:r>
                <a:rPr lang="en-US" sz="1050" dirty="0">
                  <a:solidFill>
                    <a:srgbClr val="0070C0"/>
                  </a:solidFill>
                </a:rPr>
                <a:t>['dog', ‘ran', 'away', '.']</a:t>
              </a:r>
            </a:p>
          </p:txBody>
        </p:sp>
        <p:sp>
          <p:nvSpPr>
            <p:cNvPr id="19" name="TextBox 18">
              <a:extLst>
                <a:ext uri="{FF2B5EF4-FFF2-40B4-BE49-F238E27FC236}">
                  <a16:creationId xmlns:a16="http://schemas.microsoft.com/office/drawing/2014/main" id="{66F2A6E8-509B-47CC-A250-10219AE4DEC0}"/>
                </a:ext>
              </a:extLst>
            </p:cNvPr>
            <p:cNvSpPr txBox="1"/>
            <p:nvPr/>
          </p:nvSpPr>
          <p:spPr>
            <a:xfrm>
              <a:off x="4784808" y="2546740"/>
              <a:ext cx="2306594" cy="469359"/>
            </a:xfrm>
            <a:prstGeom prst="rect">
              <a:avLst/>
            </a:prstGeom>
            <a:noFill/>
          </p:spPr>
          <p:txBody>
            <a:bodyPr wrap="square" rtlCol="0">
              <a:spAutoFit/>
            </a:bodyPr>
            <a:lstStyle/>
            <a:p>
              <a:pPr algn="ctr"/>
              <a:r>
                <a:rPr lang="en-US" sz="1050" dirty="0">
                  <a:solidFill>
                    <a:srgbClr val="0070C0"/>
                  </a:solidFill>
                </a:rPr>
                <a:t>['dog', ‘ran', 'away', '</a:t>
              </a:r>
              <a:r>
                <a:rPr lang="en-US" sz="1400" b="1" dirty="0">
                  <a:solidFill>
                    <a:srgbClr val="FF6600"/>
                  </a:solidFill>
                </a:rPr>
                <a:t>.</a:t>
              </a:r>
              <a:r>
                <a:rPr lang="en-US" sz="1050" dirty="0">
                  <a:solidFill>
                    <a:srgbClr val="0070C0"/>
                  </a:solidFill>
                </a:rPr>
                <a:t>']</a:t>
              </a:r>
            </a:p>
            <a:p>
              <a:pPr algn="ctr"/>
              <a:r>
                <a:rPr lang="en-US" sz="1050" dirty="0">
                  <a:solidFill>
                    <a:srgbClr val="0070C0"/>
                  </a:solidFill>
                </a:rPr>
                <a:t>['dog', ‘ran', 'away']</a:t>
              </a:r>
            </a:p>
          </p:txBody>
        </p:sp>
        <p:sp>
          <p:nvSpPr>
            <p:cNvPr id="20" name="TextBox 19">
              <a:extLst>
                <a:ext uri="{FF2B5EF4-FFF2-40B4-BE49-F238E27FC236}">
                  <a16:creationId xmlns:a16="http://schemas.microsoft.com/office/drawing/2014/main" id="{DF3CD043-01D8-4F27-BA4B-62BE8F8794D1}"/>
                </a:ext>
              </a:extLst>
            </p:cNvPr>
            <p:cNvSpPr txBox="1"/>
            <p:nvPr/>
          </p:nvSpPr>
          <p:spPr>
            <a:xfrm>
              <a:off x="6927448" y="2571659"/>
              <a:ext cx="2567818" cy="738664"/>
            </a:xfrm>
            <a:prstGeom prst="rect">
              <a:avLst/>
            </a:prstGeom>
            <a:noFill/>
          </p:spPr>
          <p:txBody>
            <a:bodyPr wrap="square" rtlCol="0">
              <a:spAutoFit/>
            </a:bodyPr>
            <a:lstStyle/>
            <a:p>
              <a:pPr algn="ctr"/>
              <a:r>
                <a:rPr lang="en-US" sz="1050" dirty="0">
                  <a:solidFill>
                    <a:srgbClr val="0070C0"/>
                  </a:solidFill>
                </a:rPr>
                <a:t>('dog', 'NN'), ('ran', 'VBD'), ('away', 'RB’)</a:t>
              </a:r>
            </a:p>
            <a:p>
              <a:r>
                <a:rPr lang="en-US" sz="1050" dirty="0">
                  <a:solidFill>
                    <a:schemeClr val="accent6">
                      <a:lumMod val="75000"/>
                    </a:schemeClr>
                  </a:solidFill>
                </a:rPr>
                <a:t>         NN: noun, singular </a:t>
              </a:r>
            </a:p>
            <a:p>
              <a:r>
                <a:rPr lang="en-US" sz="1050" dirty="0">
                  <a:solidFill>
                    <a:schemeClr val="accent6">
                      <a:lumMod val="75000"/>
                    </a:schemeClr>
                  </a:solidFill>
                </a:rPr>
                <a:t>         VBD: verb, past tense</a:t>
              </a:r>
            </a:p>
            <a:p>
              <a:r>
                <a:rPr lang="en-US" sz="1050" dirty="0">
                  <a:solidFill>
                    <a:schemeClr val="accent6">
                      <a:lumMod val="75000"/>
                    </a:schemeClr>
                  </a:solidFill>
                </a:rPr>
                <a:t>         RB: adverb </a:t>
              </a:r>
            </a:p>
          </p:txBody>
        </p:sp>
        <p:sp>
          <p:nvSpPr>
            <p:cNvPr id="24" name="TextBox 23">
              <a:extLst>
                <a:ext uri="{FF2B5EF4-FFF2-40B4-BE49-F238E27FC236}">
                  <a16:creationId xmlns:a16="http://schemas.microsoft.com/office/drawing/2014/main" id="{7FE33F60-F6CB-481D-A36B-76E700EB2689}"/>
                </a:ext>
              </a:extLst>
            </p:cNvPr>
            <p:cNvSpPr txBox="1"/>
            <p:nvPr/>
          </p:nvSpPr>
          <p:spPr>
            <a:xfrm>
              <a:off x="9564353" y="2587550"/>
              <a:ext cx="1908692" cy="577081"/>
            </a:xfrm>
            <a:prstGeom prst="rect">
              <a:avLst/>
            </a:prstGeom>
            <a:noFill/>
          </p:spPr>
          <p:txBody>
            <a:bodyPr wrap="square" rtlCol="0">
              <a:spAutoFit/>
            </a:bodyPr>
            <a:lstStyle/>
            <a:p>
              <a:pPr algn="ctr"/>
              <a:r>
                <a:rPr lang="en-US" sz="1050" dirty="0">
                  <a:solidFill>
                    <a:srgbClr val="0070C0"/>
                  </a:solidFill>
                </a:rPr>
                <a:t>dog </a:t>
              </a:r>
              <a:r>
                <a:rPr lang="en-US" sz="1050" dirty="0">
                  <a:solidFill>
                    <a:srgbClr val="0070C0"/>
                  </a:solidFill>
                  <a:sym typeface="Wingdings" panose="05000000000000000000" pitchFamily="2" charset="2"/>
                </a:rPr>
                <a:t> dog</a:t>
              </a:r>
              <a:endParaRPr lang="en-US" sz="1050" dirty="0">
                <a:solidFill>
                  <a:srgbClr val="0070C0"/>
                </a:solidFill>
              </a:endParaRPr>
            </a:p>
            <a:p>
              <a:pPr algn="ctr"/>
              <a:r>
                <a:rPr lang="en-US" sz="1050" dirty="0">
                  <a:solidFill>
                    <a:srgbClr val="0070C0"/>
                  </a:solidFill>
                </a:rPr>
                <a:t>ran </a:t>
              </a:r>
              <a:r>
                <a:rPr lang="en-US" sz="1050" dirty="0">
                  <a:solidFill>
                    <a:srgbClr val="0070C0"/>
                  </a:solidFill>
                  <a:sym typeface="Wingdings" panose="05000000000000000000" pitchFamily="2" charset="2"/>
                </a:rPr>
                <a:t> run</a:t>
              </a:r>
            </a:p>
            <a:p>
              <a:pPr algn="ctr"/>
              <a:r>
                <a:rPr lang="en-US" sz="1050" dirty="0">
                  <a:solidFill>
                    <a:srgbClr val="0070C0"/>
                  </a:solidFill>
                  <a:sym typeface="Wingdings" panose="05000000000000000000" pitchFamily="2" charset="2"/>
                </a:rPr>
                <a:t>away  away</a:t>
              </a:r>
              <a:endParaRPr lang="en-US" sz="1050" dirty="0">
                <a:solidFill>
                  <a:srgbClr val="0070C0"/>
                </a:solidFill>
              </a:endParaRPr>
            </a:p>
          </p:txBody>
        </p:sp>
      </p:grpSp>
    </p:spTree>
    <p:extLst>
      <p:ext uri="{BB962C8B-B14F-4D97-AF65-F5344CB8AC3E}">
        <p14:creationId xmlns:p14="http://schemas.microsoft.com/office/powerpoint/2010/main" val="394153568"/>
      </p:ext>
    </p:extLst>
  </p:cSld>
  <p:clrMapOvr>
    <a:masterClrMapping/>
  </p:clrMapOvr>
  <mc:AlternateContent xmlns:mc="http://schemas.openxmlformats.org/markup-compatibility/2006" xmlns:p14="http://schemas.microsoft.com/office/powerpoint/2010/main">
    <mc:Choice Requires="p14">
      <p:transition p14:dur="10" advClick="0" advTm="10000"/>
    </mc:Choice>
    <mc:Fallback xmlns="">
      <p:transition advClick="0" advTm="10000"/>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BAFA7CA0-FF97-421D-B12E-749047587DC0}"/>
              </a:ext>
            </a:extLst>
          </p:cNvPr>
          <p:cNvSpPr txBox="1">
            <a:spLocks/>
          </p:cNvSpPr>
          <p:nvPr/>
        </p:nvSpPr>
        <p:spPr>
          <a:xfrm>
            <a:off x="338873" y="201558"/>
            <a:ext cx="11552349" cy="69642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600" kern="1200">
                <a:solidFill>
                  <a:srgbClr val="036080"/>
                </a:solidFill>
                <a:latin typeface="+mj-lt"/>
                <a:ea typeface="+mj-ea"/>
                <a:cs typeface="+mj-cs"/>
              </a:defRPr>
            </a:lvl1pPr>
          </a:lstStyle>
          <a:p>
            <a:r>
              <a:rPr lang="en-US" sz="3200" dirty="0"/>
              <a:t>Challenges and Solutions</a:t>
            </a:r>
            <a:endParaRPr lang="en-US" sz="3200" b="1" dirty="0">
              <a:solidFill>
                <a:srgbClr val="036080"/>
              </a:solidFill>
            </a:endParaRPr>
          </a:p>
        </p:txBody>
      </p:sp>
      <p:sp>
        <p:nvSpPr>
          <p:cNvPr id="5" name="Rectangle 4">
            <a:extLst>
              <a:ext uri="{FF2B5EF4-FFF2-40B4-BE49-F238E27FC236}">
                <a16:creationId xmlns:a16="http://schemas.microsoft.com/office/drawing/2014/main" id="{FCEB96BB-12E4-4334-A329-05D77DA64547}"/>
              </a:ext>
            </a:extLst>
          </p:cNvPr>
          <p:cNvSpPr/>
          <p:nvPr/>
        </p:nvSpPr>
        <p:spPr>
          <a:xfrm>
            <a:off x="338873" y="1185125"/>
            <a:ext cx="11075943" cy="4247317"/>
          </a:xfrm>
          <a:prstGeom prst="rect">
            <a:avLst/>
          </a:prstGeom>
        </p:spPr>
        <p:txBody>
          <a:bodyPr wrap="square">
            <a:spAutoFit/>
          </a:bodyPr>
          <a:lstStyle/>
          <a:p>
            <a:pPr marL="285750" indent="-285750">
              <a:buFont typeface="Courier New" panose="02070309020205020404" pitchFamily="49" charset="0"/>
              <a:buChar char="o"/>
            </a:pPr>
            <a:r>
              <a:rPr lang="en-US" sz="2000" dirty="0"/>
              <a:t>Lack of technical knowledge: only one team member has experience in NLP</a:t>
            </a:r>
          </a:p>
          <a:p>
            <a:pPr marL="800100" lvl="1" indent="-342900">
              <a:buFont typeface="Arial" panose="020B0604020202020204" pitchFamily="34" charset="0"/>
              <a:buChar char="•"/>
            </a:pPr>
            <a:r>
              <a:rPr lang="en-US" sz="2000" dirty="0">
                <a:solidFill>
                  <a:srgbClr val="669900"/>
                </a:solidFill>
              </a:rPr>
              <a:t>Solutions: </a:t>
            </a:r>
          </a:p>
          <a:p>
            <a:pPr marL="1257300" lvl="2" indent="-342900">
              <a:buFont typeface="Wingdings" panose="05000000000000000000" pitchFamily="2" charset="2"/>
              <a:buChar char="ü"/>
            </a:pPr>
            <a:r>
              <a:rPr lang="en-US" sz="2000" dirty="0">
                <a:solidFill>
                  <a:srgbClr val="669900"/>
                </a:solidFill>
              </a:rPr>
              <a:t>Shared NLP knowledge internally</a:t>
            </a:r>
          </a:p>
          <a:p>
            <a:pPr marL="1257300" lvl="2" indent="-342900">
              <a:spcAft>
                <a:spcPts val="1800"/>
              </a:spcAft>
              <a:buFont typeface="Wingdings" panose="05000000000000000000" pitchFamily="2" charset="2"/>
              <a:buChar char="ü"/>
            </a:pPr>
            <a:r>
              <a:rPr lang="en-US" sz="2000" dirty="0">
                <a:solidFill>
                  <a:srgbClr val="669900"/>
                </a:solidFill>
              </a:rPr>
              <a:t>Took online courses and utilized recourses provided by the coach</a:t>
            </a:r>
          </a:p>
          <a:p>
            <a:pPr marL="285750" indent="-285750">
              <a:buFont typeface="Courier New" panose="02070309020205020404" pitchFamily="49" charset="0"/>
              <a:buChar char="o"/>
            </a:pPr>
            <a:r>
              <a:rPr lang="en-US" sz="2000" dirty="0"/>
              <a:t>Lack of domain knowledge: only two team members have experience in cancer data</a:t>
            </a:r>
          </a:p>
          <a:p>
            <a:pPr marL="800100" lvl="1" indent="-342900">
              <a:buFont typeface="Arial" panose="020B0604020202020204" pitchFamily="34" charset="0"/>
              <a:buChar char="•"/>
            </a:pPr>
            <a:r>
              <a:rPr lang="en-US" sz="2000" dirty="0">
                <a:solidFill>
                  <a:srgbClr val="669900"/>
                </a:solidFill>
              </a:rPr>
              <a:t>Solutions: </a:t>
            </a:r>
          </a:p>
          <a:p>
            <a:pPr marL="1257300" lvl="2" indent="-342900">
              <a:buFont typeface="Wingdings" panose="05000000000000000000" pitchFamily="2" charset="2"/>
              <a:buChar char="ü"/>
            </a:pPr>
            <a:r>
              <a:rPr lang="en-US" sz="2000" dirty="0">
                <a:solidFill>
                  <a:srgbClr val="669900"/>
                </a:solidFill>
              </a:rPr>
              <a:t>Shared domain knowledge internally</a:t>
            </a:r>
          </a:p>
          <a:p>
            <a:pPr marL="1257300" lvl="2" indent="-342900">
              <a:spcAft>
                <a:spcPts val="1800"/>
              </a:spcAft>
              <a:buFont typeface="Wingdings" panose="05000000000000000000" pitchFamily="2" charset="2"/>
              <a:buChar char="ü"/>
            </a:pPr>
            <a:r>
              <a:rPr lang="en-US" sz="2000" dirty="0">
                <a:solidFill>
                  <a:srgbClr val="669900"/>
                </a:solidFill>
              </a:rPr>
              <a:t>Invited CTRs to introduce the current methods </a:t>
            </a:r>
          </a:p>
          <a:p>
            <a:pPr marL="342900" indent="-342900">
              <a:buFont typeface="Courier New" panose="02070309020205020404" pitchFamily="49" charset="0"/>
              <a:buChar char="o"/>
            </a:pPr>
            <a:r>
              <a:rPr lang="en-US" sz="2000" dirty="0"/>
              <a:t>Data is not labeled</a:t>
            </a:r>
          </a:p>
          <a:p>
            <a:pPr marL="800100" lvl="1" indent="-342900">
              <a:buFont typeface="Arial" panose="020B0604020202020204" pitchFamily="34" charset="0"/>
              <a:buChar char="•"/>
            </a:pPr>
            <a:r>
              <a:rPr lang="en-US" sz="2000" dirty="0">
                <a:solidFill>
                  <a:srgbClr val="669900"/>
                </a:solidFill>
              </a:rPr>
              <a:t>Solution: </a:t>
            </a:r>
          </a:p>
          <a:p>
            <a:pPr marL="1257300" lvl="2" indent="-342900">
              <a:buFont typeface="Wingdings" panose="05000000000000000000" pitchFamily="2" charset="2"/>
              <a:buChar char="ü"/>
            </a:pPr>
            <a:r>
              <a:rPr lang="en-US" sz="2000" dirty="0">
                <a:solidFill>
                  <a:srgbClr val="669900"/>
                </a:solidFill>
              </a:rPr>
              <a:t>Invited CTRs to filter out non-reportable</a:t>
            </a:r>
          </a:p>
          <a:p>
            <a:pPr marL="1257300" lvl="2" indent="-342900">
              <a:spcAft>
                <a:spcPts val="1800"/>
              </a:spcAft>
              <a:buFont typeface="Wingdings" panose="05000000000000000000" pitchFamily="2" charset="2"/>
              <a:buChar char="ü"/>
            </a:pPr>
            <a:r>
              <a:rPr lang="en-US" sz="2000" dirty="0">
                <a:solidFill>
                  <a:srgbClr val="669900"/>
                </a:solidFill>
              </a:rPr>
              <a:t>Compared the filtered data with the original</a:t>
            </a:r>
          </a:p>
        </p:txBody>
      </p:sp>
      <p:pic>
        <p:nvPicPr>
          <p:cNvPr id="8194" name="Picture 2" descr="Challenges - Free business and finance icons">
            <a:extLst>
              <a:ext uri="{FF2B5EF4-FFF2-40B4-BE49-F238E27FC236}">
                <a16:creationId xmlns:a16="http://schemas.microsoft.com/office/drawing/2014/main" id="{5417F5DB-7E1B-47D2-B575-7D2D154B12EA}"/>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348151" y="4162168"/>
            <a:ext cx="1703173" cy="17031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82300163"/>
      </p:ext>
    </p:extLst>
  </p:cSld>
  <p:clrMapOvr>
    <a:masterClrMapping/>
  </p:clrMapOvr>
  <mc:AlternateContent xmlns:mc="http://schemas.openxmlformats.org/markup-compatibility/2006" xmlns:p14="http://schemas.microsoft.com/office/powerpoint/2010/main">
    <mc:Choice Requires="p14">
      <p:transition p14:dur="10" advClick="0" advTm="10000"/>
    </mc:Choice>
    <mc:Fallback xmlns="">
      <p:transition advClick="0" advTm="10000"/>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3C4CF3CA-2298-451B-94F8-192D3D9D9E1E}"/>
              </a:ext>
            </a:extLst>
          </p:cNvPr>
          <p:cNvSpPr>
            <a:spLocks noGrp="1"/>
          </p:cNvSpPr>
          <p:nvPr>
            <p:ph type="title"/>
          </p:nvPr>
        </p:nvSpPr>
        <p:spPr>
          <a:xfrm>
            <a:off x="373486" y="242034"/>
            <a:ext cx="11552349" cy="696420"/>
          </a:xfrm>
        </p:spPr>
        <p:txBody>
          <a:bodyPr/>
          <a:lstStyle/>
          <a:p>
            <a:r>
              <a:rPr lang="en-US" dirty="0"/>
              <a:t>Results</a:t>
            </a:r>
          </a:p>
        </p:txBody>
      </p:sp>
      <p:sp>
        <p:nvSpPr>
          <p:cNvPr id="4" name="Rectangle 3">
            <a:extLst>
              <a:ext uri="{FF2B5EF4-FFF2-40B4-BE49-F238E27FC236}">
                <a16:creationId xmlns:a16="http://schemas.microsoft.com/office/drawing/2014/main" id="{625C431A-356D-4530-8ECD-4DED311D19BF}"/>
              </a:ext>
            </a:extLst>
          </p:cNvPr>
          <p:cNvSpPr/>
          <p:nvPr/>
        </p:nvSpPr>
        <p:spPr>
          <a:xfrm>
            <a:off x="939114" y="1185125"/>
            <a:ext cx="10475702" cy="1384995"/>
          </a:xfrm>
          <a:prstGeom prst="rect">
            <a:avLst/>
          </a:prstGeom>
        </p:spPr>
        <p:txBody>
          <a:bodyPr wrap="square">
            <a:spAutoFit/>
          </a:bodyPr>
          <a:lstStyle/>
          <a:p>
            <a:pPr>
              <a:spcAft>
                <a:spcPts val="1200"/>
              </a:spcAft>
            </a:pPr>
            <a:r>
              <a:rPr lang="en-US" sz="2000" b="1" dirty="0">
                <a:solidFill>
                  <a:srgbClr val="666633"/>
                </a:solidFill>
              </a:rPr>
              <a:t>Naïve Bayes Model:</a:t>
            </a:r>
          </a:p>
          <a:p>
            <a:pPr marL="285750" indent="-285750">
              <a:buFont typeface="Courier New" panose="02070309020205020404" pitchFamily="49" charset="0"/>
              <a:buChar char="o"/>
            </a:pPr>
            <a:r>
              <a:rPr lang="en-US" dirty="0"/>
              <a:t>Accuracy:</a:t>
            </a:r>
          </a:p>
          <a:p>
            <a:pPr marL="742950" lvl="1" indent="-285750">
              <a:buFont typeface="Arial" panose="020B0604020202020204" pitchFamily="34" charset="0"/>
              <a:buChar char="•"/>
            </a:pPr>
            <a:r>
              <a:rPr lang="en-US" dirty="0"/>
              <a:t>Count vector: </a:t>
            </a:r>
            <a:r>
              <a:rPr lang="en-US" b="1" dirty="0">
                <a:solidFill>
                  <a:srgbClr val="FF0000"/>
                </a:solidFill>
              </a:rPr>
              <a:t>79%</a:t>
            </a:r>
          </a:p>
          <a:p>
            <a:pPr marL="742950" lvl="1" indent="-285750">
              <a:buFont typeface="Wingdings" panose="05000000000000000000" pitchFamily="2" charset="2"/>
              <a:buChar char="ü"/>
            </a:pPr>
            <a:r>
              <a:rPr lang="en-US" dirty="0"/>
              <a:t>TF-IDF: </a:t>
            </a:r>
            <a:r>
              <a:rPr lang="en-US" b="1" dirty="0">
                <a:solidFill>
                  <a:srgbClr val="FF0000"/>
                </a:solidFill>
              </a:rPr>
              <a:t>86%</a:t>
            </a:r>
          </a:p>
        </p:txBody>
      </p:sp>
      <p:pic>
        <p:nvPicPr>
          <p:cNvPr id="3" name="Picture 2">
            <a:extLst>
              <a:ext uri="{FF2B5EF4-FFF2-40B4-BE49-F238E27FC236}">
                <a16:creationId xmlns:a16="http://schemas.microsoft.com/office/drawing/2014/main" id="{FD5B832C-9DE2-41D9-AC40-982157CACF94}"/>
              </a:ext>
            </a:extLst>
          </p:cNvPr>
          <p:cNvPicPr>
            <a:picLocks noChangeAspect="1"/>
          </p:cNvPicPr>
          <p:nvPr/>
        </p:nvPicPr>
        <p:blipFill>
          <a:blip r:embed="rId3"/>
          <a:stretch>
            <a:fillRect/>
          </a:stretch>
        </p:blipFill>
        <p:spPr>
          <a:xfrm>
            <a:off x="939114" y="3091199"/>
            <a:ext cx="7972447" cy="2899071"/>
          </a:xfrm>
          <a:prstGeom prst="rect">
            <a:avLst/>
          </a:prstGeom>
        </p:spPr>
      </p:pic>
      <p:pic>
        <p:nvPicPr>
          <p:cNvPr id="2" name="Picture 1">
            <a:extLst>
              <a:ext uri="{FF2B5EF4-FFF2-40B4-BE49-F238E27FC236}">
                <a16:creationId xmlns:a16="http://schemas.microsoft.com/office/drawing/2014/main" id="{4E6F23F6-B733-414F-9DD3-60AFE52EE057}"/>
              </a:ext>
            </a:extLst>
          </p:cNvPr>
          <p:cNvPicPr>
            <a:picLocks noChangeAspect="1"/>
          </p:cNvPicPr>
          <p:nvPr/>
        </p:nvPicPr>
        <p:blipFill>
          <a:blip r:embed="rId4"/>
          <a:stretch>
            <a:fillRect/>
          </a:stretch>
        </p:blipFill>
        <p:spPr>
          <a:xfrm>
            <a:off x="6692630" y="1050882"/>
            <a:ext cx="4795736" cy="1731229"/>
          </a:xfrm>
          <a:prstGeom prst="rect">
            <a:avLst/>
          </a:prstGeom>
          <a:ln>
            <a:solidFill>
              <a:schemeClr val="tx2"/>
            </a:solidFill>
          </a:ln>
        </p:spPr>
      </p:pic>
    </p:spTree>
    <p:extLst>
      <p:ext uri="{BB962C8B-B14F-4D97-AF65-F5344CB8AC3E}">
        <p14:creationId xmlns:p14="http://schemas.microsoft.com/office/powerpoint/2010/main" val="3306301903"/>
      </p:ext>
    </p:extLst>
  </p:cSld>
  <p:clrMapOvr>
    <a:masterClrMapping/>
  </p:clrMapOvr>
  <mc:AlternateContent xmlns:mc="http://schemas.openxmlformats.org/markup-compatibility/2006" xmlns:p14="http://schemas.microsoft.com/office/powerpoint/2010/main">
    <mc:Choice Requires="p14">
      <p:transition p14:dur="10" advClick="0" advTm="10000"/>
    </mc:Choice>
    <mc:Fallback xmlns="">
      <p:transition advClick="0" advTm="10000"/>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DE782FD3-922F-4D37-9108-D401BAC6021C}"/>
              </a:ext>
            </a:extLst>
          </p:cNvPr>
          <p:cNvSpPr>
            <a:spLocks noGrp="1"/>
          </p:cNvSpPr>
          <p:nvPr>
            <p:ph type="title"/>
          </p:nvPr>
        </p:nvSpPr>
        <p:spPr>
          <a:xfrm>
            <a:off x="373486" y="242034"/>
            <a:ext cx="11552349" cy="696420"/>
          </a:xfrm>
        </p:spPr>
        <p:txBody>
          <a:bodyPr/>
          <a:lstStyle/>
          <a:p>
            <a:r>
              <a:rPr lang="en-US" dirty="0"/>
              <a:t>Results</a:t>
            </a:r>
          </a:p>
        </p:txBody>
      </p:sp>
      <p:sp>
        <p:nvSpPr>
          <p:cNvPr id="10" name="Rectangle 9">
            <a:extLst>
              <a:ext uri="{FF2B5EF4-FFF2-40B4-BE49-F238E27FC236}">
                <a16:creationId xmlns:a16="http://schemas.microsoft.com/office/drawing/2014/main" id="{16E39DCE-560E-4B5A-B523-0D917E84FDF3}"/>
              </a:ext>
            </a:extLst>
          </p:cNvPr>
          <p:cNvSpPr/>
          <p:nvPr/>
        </p:nvSpPr>
        <p:spPr>
          <a:xfrm>
            <a:off x="823784" y="1185125"/>
            <a:ext cx="10591032" cy="830997"/>
          </a:xfrm>
          <a:prstGeom prst="rect">
            <a:avLst/>
          </a:prstGeom>
        </p:spPr>
        <p:txBody>
          <a:bodyPr wrap="square">
            <a:spAutoFit/>
          </a:bodyPr>
          <a:lstStyle/>
          <a:p>
            <a:pPr>
              <a:spcAft>
                <a:spcPts val="1200"/>
              </a:spcAft>
            </a:pPr>
            <a:r>
              <a:rPr lang="en-US" sz="2000" b="1" dirty="0">
                <a:solidFill>
                  <a:srgbClr val="666633"/>
                </a:solidFill>
              </a:rPr>
              <a:t>Logistic Regression using </a:t>
            </a:r>
            <a:r>
              <a:rPr lang="en-US" sz="2000" b="1" u="sng" dirty="0">
                <a:solidFill>
                  <a:srgbClr val="666633"/>
                </a:solidFill>
              </a:rPr>
              <a:t>TF-IDF vector</a:t>
            </a:r>
            <a:r>
              <a:rPr lang="en-US" sz="2000" b="1" dirty="0">
                <a:solidFill>
                  <a:srgbClr val="666633"/>
                </a:solidFill>
              </a:rPr>
              <a:t>:</a:t>
            </a:r>
          </a:p>
          <a:p>
            <a:pPr marL="285750" indent="-285750">
              <a:buFont typeface="Courier New" panose="02070309020205020404" pitchFamily="49" charset="0"/>
              <a:buChar char="o"/>
            </a:pPr>
            <a:r>
              <a:rPr lang="en-US" dirty="0"/>
              <a:t>Accuracy: </a:t>
            </a:r>
            <a:r>
              <a:rPr lang="en-US" b="1" dirty="0">
                <a:solidFill>
                  <a:srgbClr val="FF0000"/>
                </a:solidFill>
              </a:rPr>
              <a:t>82%</a:t>
            </a:r>
          </a:p>
        </p:txBody>
      </p:sp>
      <p:sp>
        <p:nvSpPr>
          <p:cNvPr id="11" name="Rectangle 10">
            <a:extLst>
              <a:ext uri="{FF2B5EF4-FFF2-40B4-BE49-F238E27FC236}">
                <a16:creationId xmlns:a16="http://schemas.microsoft.com/office/drawing/2014/main" id="{1AF844A7-D06E-4A21-81F0-D4C8CC3E253A}"/>
              </a:ext>
            </a:extLst>
          </p:cNvPr>
          <p:cNvSpPr/>
          <p:nvPr/>
        </p:nvSpPr>
        <p:spPr>
          <a:xfrm>
            <a:off x="823784" y="2674685"/>
            <a:ext cx="10591032" cy="2831544"/>
          </a:xfrm>
          <a:prstGeom prst="rect">
            <a:avLst/>
          </a:prstGeom>
        </p:spPr>
        <p:txBody>
          <a:bodyPr wrap="square">
            <a:spAutoFit/>
          </a:bodyPr>
          <a:lstStyle/>
          <a:p>
            <a:pPr>
              <a:spcAft>
                <a:spcPts val="1200"/>
              </a:spcAft>
            </a:pPr>
            <a:r>
              <a:rPr lang="en-US" sz="2000" b="1" dirty="0">
                <a:solidFill>
                  <a:srgbClr val="666633"/>
                </a:solidFill>
              </a:rPr>
              <a:t>Linear Support Vector Machine using </a:t>
            </a:r>
            <a:r>
              <a:rPr lang="en-US" sz="2000" b="1" u="sng" dirty="0">
                <a:solidFill>
                  <a:srgbClr val="666633"/>
                </a:solidFill>
              </a:rPr>
              <a:t>TF-IDF vector</a:t>
            </a:r>
            <a:r>
              <a:rPr lang="en-US" sz="2000" b="1" dirty="0">
                <a:solidFill>
                  <a:srgbClr val="666633"/>
                </a:solidFill>
              </a:rPr>
              <a:t>:</a:t>
            </a:r>
          </a:p>
          <a:p>
            <a:pPr marL="285750" indent="-285750">
              <a:buFont typeface="Wingdings" panose="05000000000000000000" pitchFamily="2" charset="2"/>
              <a:buChar char="ü"/>
            </a:pPr>
            <a:r>
              <a:rPr lang="en-US" dirty="0"/>
              <a:t>Accuracy</a:t>
            </a:r>
            <a:r>
              <a:rPr lang="en-US"/>
              <a:t>: </a:t>
            </a:r>
            <a:r>
              <a:rPr lang="en-US" b="1">
                <a:solidFill>
                  <a:srgbClr val="FF0000"/>
                </a:solidFill>
              </a:rPr>
              <a:t>87%</a:t>
            </a:r>
            <a:endParaRPr lang="en-US" b="1" dirty="0">
              <a:solidFill>
                <a:srgbClr val="FF0000"/>
              </a:solidFill>
            </a:endParaRPr>
          </a:p>
          <a:p>
            <a:pPr marL="285750" indent="-285750">
              <a:buFont typeface="Courier New" panose="02070309020205020404" pitchFamily="49" charset="0"/>
              <a:buChar char="o"/>
            </a:pPr>
            <a:endParaRPr lang="en-US" dirty="0"/>
          </a:p>
          <a:p>
            <a:pPr lvl="2"/>
            <a:r>
              <a:rPr lang="en-US" sz="1400" dirty="0">
                <a:solidFill>
                  <a:srgbClr val="666633"/>
                </a:solidFill>
                <a:latin typeface="Consolas" panose="020B0609020204030204" pitchFamily="49" charset="0"/>
              </a:rPr>
              <a:t>              precision    recall  f1-score   support</a:t>
            </a:r>
          </a:p>
          <a:p>
            <a:pPr lvl="2"/>
            <a:r>
              <a:rPr lang="en-US" sz="1400" dirty="0">
                <a:solidFill>
                  <a:srgbClr val="666633"/>
                </a:solidFill>
                <a:latin typeface="Consolas" panose="020B0609020204030204" pitchFamily="49" charset="0"/>
              </a:rPr>
              <a:t>-----------------------------------------------------</a:t>
            </a:r>
          </a:p>
          <a:p>
            <a:pPr lvl="2"/>
            <a:r>
              <a:rPr lang="en-US" sz="1400" dirty="0">
                <a:solidFill>
                  <a:srgbClr val="666633"/>
                </a:solidFill>
                <a:latin typeface="Consolas" panose="020B0609020204030204" pitchFamily="49" charset="0"/>
              </a:rPr>
              <a:t>Reportable         0.74      0.81      0.77       231</a:t>
            </a:r>
          </a:p>
          <a:p>
            <a:pPr lvl="2"/>
            <a:r>
              <a:rPr lang="en-US" sz="1400" dirty="0">
                <a:solidFill>
                  <a:srgbClr val="666633"/>
                </a:solidFill>
                <a:latin typeface="Consolas" panose="020B0609020204030204" pitchFamily="49" charset="0"/>
              </a:rPr>
              <a:t>Non-reportable     0.93      0.89      0.91       628</a:t>
            </a:r>
          </a:p>
          <a:p>
            <a:pPr lvl="2"/>
            <a:endParaRPr lang="en-US" sz="1400" dirty="0">
              <a:solidFill>
                <a:srgbClr val="666633"/>
              </a:solidFill>
              <a:latin typeface="Consolas" panose="020B0609020204030204" pitchFamily="49" charset="0"/>
            </a:endParaRPr>
          </a:p>
          <a:p>
            <a:pPr lvl="2"/>
            <a:r>
              <a:rPr lang="en-US" sz="1400" dirty="0">
                <a:solidFill>
                  <a:srgbClr val="666633"/>
                </a:solidFill>
                <a:latin typeface="Consolas" panose="020B0609020204030204" pitchFamily="49" charset="0"/>
              </a:rPr>
              <a:t>accuracy                               0.87       859</a:t>
            </a:r>
          </a:p>
          <a:p>
            <a:pPr lvl="2"/>
            <a:r>
              <a:rPr lang="en-US" sz="1400" dirty="0">
                <a:solidFill>
                  <a:srgbClr val="666633"/>
                </a:solidFill>
                <a:latin typeface="Consolas" panose="020B0609020204030204" pitchFamily="49" charset="0"/>
              </a:rPr>
              <a:t>macro avg          0.83      0.85      0.84       859</a:t>
            </a:r>
          </a:p>
          <a:p>
            <a:pPr lvl="2"/>
            <a:r>
              <a:rPr lang="en-US" sz="1400" dirty="0">
                <a:solidFill>
                  <a:srgbClr val="666633"/>
                </a:solidFill>
                <a:latin typeface="Consolas" panose="020B0609020204030204" pitchFamily="49" charset="0"/>
              </a:rPr>
              <a:t>weighted avg       0.88      0.87      0.87       859</a:t>
            </a:r>
          </a:p>
        </p:txBody>
      </p:sp>
      <p:pic>
        <p:nvPicPr>
          <p:cNvPr id="7180" name="Picture 12" descr="Fireapps Process Automation - Illustration, HD Png Download , Transparent  Png Image - PNGitem">
            <a:extLst>
              <a:ext uri="{FF2B5EF4-FFF2-40B4-BE49-F238E27FC236}">
                <a16:creationId xmlns:a16="http://schemas.microsoft.com/office/drawing/2014/main" id="{DEA3ACE6-73E3-4DF8-B821-2A3960769C48}"/>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rightnessContrast bright="20000" contrast="-40000"/>
                    </a14:imgEffect>
                  </a14:imgLayer>
                </a14:imgProps>
              </a:ext>
              <a:ext uri="{28A0092B-C50C-407E-A947-70E740481C1C}">
                <a14:useLocalDpi xmlns:a14="http://schemas.microsoft.com/office/drawing/2010/main" val="0"/>
              </a:ext>
            </a:extLst>
          </a:blip>
          <a:srcRect/>
          <a:stretch>
            <a:fillRect/>
          </a:stretch>
        </p:blipFill>
        <p:spPr bwMode="auto">
          <a:xfrm>
            <a:off x="8670067" y="1621852"/>
            <a:ext cx="3019425" cy="15144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2651977"/>
      </p:ext>
    </p:extLst>
  </p:cSld>
  <p:clrMapOvr>
    <a:masterClrMapping/>
  </p:clrMapOvr>
  <mc:AlternateContent xmlns:mc="http://schemas.openxmlformats.org/markup-compatibility/2006" xmlns:p14="http://schemas.microsoft.com/office/powerpoint/2010/main">
    <mc:Choice Requires="p14">
      <p:transition p14:dur="10" advClick="0" advTm="10000"/>
    </mc:Choice>
    <mc:Fallback xmlns="">
      <p:transition advClick="0" advTm="10000"/>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2E185676-3F75-4B8E-94EE-BBD33E2CBB8A}"/>
              </a:ext>
            </a:extLst>
          </p:cNvPr>
          <p:cNvSpPr txBox="1">
            <a:spLocks/>
          </p:cNvSpPr>
          <p:nvPr/>
        </p:nvSpPr>
        <p:spPr>
          <a:xfrm>
            <a:off x="338873" y="201558"/>
            <a:ext cx="11552349" cy="69642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600" kern="1200">
                <a:solidFill>
                  <a:srgbClr val="036080"/>
                </a:solidFill>
                <a:latin typeface="+mj-lt"/>
                <a:ea typeface="+mj-ea"/>
                <a:cs typeface="+mj-cs"/>
              </a:defRPr>
            </a:lvl1pPr>
          </a:lstStyle>
          <a:p>
            <a:r>
              <a:rPr lang="en-US" sz="3200" dirty="0"/>
              <a:t>Future work</a:t>
            </a:r>
            <a:endParaRPr lang="en-US" sz="3200" b="1" dirty="0">
              <a:solidFill>
                <a:srgbClr val="036080"/>
              </a:solidFill>
            </a:endParaRPr>
          </a:p>
        </p:txBody>
      </p:sp>
      <p:sp>
        <p:nvSpPr>
          <p:cNvPr id="3" name="Rectangle 2">
            <a:extLst>
              <a:ext uri="{FF2B5EF4-FFF2-40B4-BE49-F238E27FC236}">
                <a16:creationId xmlns:a16="http://schemas.microsoft.com/office/drawing/2014/main" id="{CD5932F5-13EC-4951-BF63-6D5F4CF1BF84}"/>
              </a:ext>
            </a:extLst>
          </p:cNvPr>
          <p:cNvSpPr/>
          <p:nvPr/>
        </p:nvSpPr>
        <p:spPr>
          <a:xfrm>
            <a:off x="963827" y="1259266"/>
            <a:ext cx="9668394" cy="3016210"/>
          </a:xfrm>
          <a:prstGeom prst="rect">
            <a:avLst/>
          </a:prstGeom>
        </p:spPr>
        <p:txBody>
          <a:bodyPr wrap="square">
            <a:spAutoFit/>
          </a:bodyPr>
          <a:lstStyle/>
          <a:p>
            <a:pPr marL="285750" indent="-285750">
              <a:buFont typeface="Courier New" panose="02070309020205020404" pitchFamily="49" charset="0"/>
              <a:buChar char="o"/>
            </a:pPr>
            <a:r>
              <a:rPr lang="en-US" sz="2000" dirty="0"/>
              <a:t>Continue </a:t>
            </a:r>
            <a:r>
              <a:rPr lang="en-US" sz="2000"/>
              <a:t>exploring more </a:t>
            </a:r>
            <a:r>
              <a:rPr lang="en-US" sz="2000" dirty="0"/>
              <a:t>NLP models and data science methods to optimize the results</a:t>
            </a:r>
          </a:p>
          <a:p>
            <a:pPr marL="800100" lvl="1" indent="-342900">
              <a:buFont typeface="Arial" panose="020B0604020202020204" pitchFamily="34" charset="0"/>
              <a:buChar char="•"/>
            </a:pPr>
            <a:r>
              <a:rPr lang="en-US" sz="2000" dirty="0"/>
              <a:t>Combine multiple models </a:t>
            </a:r>
          </a:p>
          <a:p>
            <a:pPr marL="800100" lvl="1" indent="-342900">
              <a:spcAft>
                <a:spcPts val="1800"/>
              </a:spcAft>
              <a:buFont typeface="Arial" panose="020B0604020202020204" pitchFamily="34" charset="0"/>
              <a:buChar char="•"/>
            </a:pPr>
            <a:r>
              <a:rPr lang="en-US" sz="2000" dirty="0"/>
              <a:t>Divide the dataset and apply different models to different subsets </a:t>
            </a:r>
          </a:p>
          <a:p>
            <a:pPr marL="285750" indent="-285750">
              <a:spcAft>
                <a:spcPts val="1800"/>
              </a:spcAft>
              <a:buFont typeface="Courier New" panose="02070309020205020404" pitchFamily="49" charset="0"/>
              <a:buChar char="o"/>
            </a:pPr>
            <a:r>
              <a:rPr lang="en-US" sz="2000" dirty="0"/>
              <a:t>Present the results from DSTT to other public health programs to broaden the scope of NLP applications</a:t>
            </a:r>
          </a:p>
          <a:p>
            <a:pPr marL="285750" indent="-285750">
              <a:spcAft>
                <a:spcPts val="1800"/>
              </a:spcAft>
              <a:buFont typeface="Courier New" panose="02070309020205020404" pitchFamily="49" charset="0"/>
              <a:buChar char="o"/>
            </a:pPr>
            <a:r>
              <a:rPr lang="en-US" sz="2000" dirty="0"/>
              <a:t>Team members will continue to collaborate to solve data science problems in our department</a:t>
            </a:r>
          </a:p>
        </p:txBody>
      </p:sp>
      <p:pic>
        <p:nvPicPr>
          <p:cNvPr id="9218" name="Picture 2" descr="Walking to the future Icons PNG - Free PNG and Icons Downloads">
            <a:extLst>
              <a:ext uri="{FF2B5EF4-FFF2-40B4-BE49-F238E27FC236}">
                <a16:creationId xmlns:a16="http://schemas.microsoft.com/office/drawing/2014/main" id="{96082909-07E0-4736-B57A-CC6BFEF4CB9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07197" y="4194002"/>
            <a:ext cx="2381654" cy="16707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81412167"/>
      </p:ext>
    </p:extLst>
  </p:cSld>
  <p:clrMapOvr>
    <a:masterClrMapping/>
  </p:clrMapOvr>
  <mc:AlternateContent xmlns:mc="http://schemas.openxmlformats.org/markup-compatibility/2006" xmlns:p14="http://schemas.microsoft.com/office/powerpoint/2010/main">
    <mc:Choice Requires="p14">
      <p:transition p14:dur="10" advClick="0" advTm="10000"/>
    </mc:Choice>
    <mc:Fallback xmlns="">
      <p:transition advClick="0" advTm="10000"/>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Placeholder 3"/>
          <p:cNvSpPr>
            <a:spLocks noGrp="1"/>
          </p:cNvSpPr>
          <p:nvPr>
            <p:ph type="body" sz="quarter" idx="11"/>
          </p:nvPr>
        </p:nvSpPr>
        <p:spPr>
          <a:xfrm>
            <a:off x="2438559" y="4526105"/>
            <a:ext cx="6679391" cy="1425074"/>
          </a:xfrm>
        </p:spPr>
        <p:txBody>
          <a:bodyPr/>
          <a:lstStyle/>
          <a:p>
            <a:r>
              <a:rPr lang="en-US" sz="3600" dirty="0"/>
              <a:t>Thank you!</a:t>
            </a:r>
          </a:p>
        </p:txBody>
      </p:sp>
      <p:sp>
        <p:nvSpPr>
          <p:cNvPr id="10" name="TextBox 9">
            <a:extLst>
              <a:ext uri="{FF2B5EF4-FFF2-40B4-BE49-F238E27FC236}">
                <a16:creationId xmlns:a16="http://schemas.microsoft.com/office/drawing/2014/main" id="{1DFF16B8-9EBB-445C-A6D5-2B7D0223A212}"/>
              </a:ext>
            </a:extLst>
          </p:cNvPr>
          <p:cNvSpPr txBox="1"/>
          <p:nvPr/>
        </p:nvSpPr>
        <p:spPr>
          <a:xfrm>
            <a:off x="0" y="507482"/>
            <a:ext cx="12192000" cy="646331"/>
          </a:xfrm>
          <a:prstGeom prst="rect">
            <a:avLst/>
          </a:prstGeom>
          <a:noFill/>
        </p:spPr>
        <p:txBody>
          <a:bodyPr wrap="square">
            <a:spAutoFit/>
          </a:bodyPr>
          <a:lstStyle/>
          <a:p>
            <a:pPr algn="ctr"/>
            <a:r>
              <a:rPr lang="en-US" sz="3600" dirty="0">
                <a:solidFill>
                  <a:srgbClr val="036080"/>
                </a:solidFill>
                <a:ea typeface="Roboto" panose="02000000000000000000" pitchFamily="2" charset="0"/>
              </a:rPr>
              <a:t>Acknowledgement</a:t>
            </a:r>
          </a:p>
        </p:txBody>
      </p:sp>
      <p:sp>
        <p:nvSpPr>
          <p:cNvPr id="4" name="Rectangle 3">
            <a:extLst>
              <a:ext uri="{FF2B5EF4-FFF2-40B4-BE49-F238E27FC236}">
                <a16:creationId xmlns:a16="http://schemas.microsoft.com/office/drawing/2014/main" id="{BE71B8FA-567A-48C3-B755-9D7F9326E8E1}"/>
              </a:ext>
            </a:extLst>
          </p:cNvPr>
          <p:cNvSpPr/>
          <p:nvPr/>
        </p:nvSpPr>
        <p:spPr>
          <a:xfrm>
            <a:off x="558028" y="1405151"/>
            <a:ext cx="11075943" cy="707886"/>
          </a:xfrm>
          <a:prstGeom prst="rect">
            <a:avLst/>
          </a:prstGeom>
        </p:spPr>
        <p:txBody>
          <a:bodyPr wrap="square">
            <a:spAutoFit/>
          </a:bodyPr>
          <a:lstStyle/>
          <a:p>
            <a:r>
              <a:rPr lang="en-US" sz="2000" dirty="0"/>
              <a:t>We would like to take this opportunity to express our gratitude to the following professionals of whom contributed to the success of this program.</a:t>
            </a:r>
          </a:p>
        </p:txBody>
      </p:sp>
      <p:grpSp>
        <p:nvGrpSpPr>
          <p:cNvPr id="23" name="Group 22">
            <a:extLst>
              <a:ext uri="{FF2B5EF4-FFF2-40B4-BE49-F238E27FC236}">
                <a16:creationId xmlns:a16="http://schemas.microsoft.com/office/drawing/2014/main" id="{0DFB8998-8E9F-4273-82A7-6FD1943A08A4}"/>
              </a:ext>
            </a:extLst>
          </p:cNvPr>
          <p:cNvGrpSpPr/>
          <p:nvPr/>
        </p:nvGrpSpPr>
        <p:grpSpPr>
          <a:xfrm>
            <a:off x="1955808" y="2439447"/>
            <a:ext cx="7644891" cy="1760247"/>
            <a:chOff x="2009855" y="2323086"/>
            <a:chExt cx="7644891" cy="1760247"/>
          </a:xfrm>
        </p:grpSpPr>
        <p:grpSp>
          <p:nvGrpSpPr>
            <p:cNvPr id="14" name="Group 13">
              <a:extLst>
                <a:ext uri="{FF2B5EF4-FFF2-40B4-BE49-F238E27FC236}">
                  <a16:creationId xmlns:a16="http://schemas.microsoft.com/office/drawing/2014/main" id="{A51AB87A-3F48-4388-AB31-C0B2817A8E2A}"/>
                </a:ext>
              </a:extLst>
            </p:cNvPr>
            <p:cNvGrpSpPr/>
            <p:nvPr/>
          </p:nvGrpSpPr>
          <p:grpSpPr>
            <a:xfrm>
              <a:off x="2009855" y="2323086"/>
              <a:ext cx="2255108" cy="1483248"/>
              <a:chOff x="83407" y="2618647"/>
              <a:chExt cx="2255108" cy="1483248"/>
            </a:xfrm>
          </p:grpSpPr>
          <p:sp>
            <p:nvSpPr>
              <p:cNvPr id="6" name="Oval 5">
                <a:extLst>
                  <a:ext uri="{FF2B5EF4-FFF2-40B4-BE49-F238E27FC236}">
                    <a16:creationId xmlns:a16="http://schemas.microsoft.com/office/drawing/2014/main" id="{2D590252-42F3-407A-9D48-C3B3D3631876}"/>
                  </a:ext>
                </a:extLst>
              </p:cNvPr>
              <p:cNvSpPr/>
              <p:nvPr/>
            </p:nvSpPr>
            <p:spPr>
              <a:xfrm>
                <a:off x="889686" y="2618647"/>
                <a:ext cx="642552" cy="642552"/>
              </a:xfrm>
              <a:prstGeom prst="ellipse">
                <a:avLst/>
              </a:prstGeom>
              <a:gradFill flip="none" rotWithShape="1">
                <a:gsLst>
                  <a:gs pos="0">
                    <a:schemeClr val="accent4">
                      <a:lumMod val="67000"/>
                    </a:schemeClr>
                  </a:gs>
                  <a:gs pos="48000">
                    <a:schemeClr val="accent4">
                      <a:lumMod val="97000"/>
                      <a:lumOff val="3000"/>
                    </a:schemeClr>
                  </a:gs>
                  <a:gs pos="100000">
                    <a:schemeClr val="accent4">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dirty="0"/>
                  <a:t>01</a:t>
                </a:r>
              </a:p>
            </p:txBody>
          </p:sp>
          <p:sp>
            <p:nvSpPr>
              <p:cNvPr id="7" name="TextBox 6">
                <a:extLst>
                  <a:ext uri="{FF2B5EF4-FFF2-40B4-BE49-F238E27FC236}">
                    <a16:creationId xmlns:a16="http://schemas.microsoft.com/office/drawing/2014/main" id="{0060A787-6B92-4D8C-9683-3FB9465021B1}"/>
                  </a:ext>
                </a:extLst>
              </p:cNvPr>
              <p:cNvSpPr txBox="1"/>
              <p:nvPr/>
            </p:nvSpPr>
            <p:spPr>
              <a:xfrm>
                <a:off x="540608" y="3363231"/>
                <a:ext cx="1340707" cy="369332"/>
              </a:xfrm>
              <a:prstGeom prst="rect">
                <a:avLst/>
              </a:prstGeom>
              <a:noFill/>
            </p:spPr>
            <p:txBody>
              <a:bodyPr wrap="square" rtlCol="0">
                <a:spAutoFit/>
              </a:bodyPr>
              <a:lstStyle/>
              <a:p>
                <a:pPr algn="ctr"/>
                <a:r>
                  <a:rPr lang="en-US" dirty="0">
                    <a:solidFill>
                      <a:schemeClr val="accent4">
                        <a:lumMod val="75000"/>
                      </a:schemeClr>
                    </a:solidFill>
                  </a:rPr>
                  <a:t>Coach</a:t>
                </a:r>
              </a:p>
            </p:txBody>
          </p:sp>
          <p:sp>
            <p:nvSpPr>
              <p:cNvPr id="12" name="TextBox 11">
                <a:extLst>
                  <a:ext uri="{FF2B5EF4-FFF2-40B4-BE49-F238E27FC236}">
                    <a16:creationId xmlns:a16="http://schemas.microsoft.com/office/drawing/2014/main" id="{45E80F08-6A7E-457C-9D37-46C2F13FB1A0}"/>
                  </a:ext>
                </a:extLst>
              </p:cNvPr>
              <p:cNvSpPr txBox="1"/>
              <p:nvPr/>
            </p:nvSpPr>
            <p:spPr>
              <a:xfrm>
                <a:off x="83407" y="3732563"/>
                <a:ext cx="2255108" cy="369332"/>
              </a:xfrm>
              <a:prstGeom prst="rect">
                <a:avLst/>
              </a:prstGeom>
              <a:noFill/>
            </p:spPr>
            <p:txBody>
              <a:bodyPr wrap="square">
                <a:spAutoFit/>
              </a:bodyPr>
              <a:lstStyle/>
              <a:p>
                <a:pPr algn="ctr"/>
                <a:r>
                  <a:rPr lang="en-US" sz="1800" b="1" dirty="0">
                    <a:solidFill>
                      <a:schemeClr val="accent4">
                        <a:lumMod val="75000"/>
                      </a:schemeClr>
                    </a:solidFill>
                  </a:rPr>
                  <a:t>Patric Prado</a:t>
                </a:r>
              </a:p>
            </p:txBody>
          </p:sp>
        </p:grpSp>
        <p:grpSp>
          <p:nvGrpSpPr>
            <p:cNvPr id="15" name="Group 14">
              <a:extLst>
                <a:ext uri="{FF2B5EF4-FFF2-40B4-BE49-F238E27FC236}">
                  <a16:creationId xmlns:a16="http://schemas.microsoft.com/office/drawing/2014/main" id="{A48DDD68-F663-47BD-9D7A-72E9E0A58632}"/>
                </a:ext>
              </a:extLst>
            </p:cNvPr>
            <p:cNvGrpSpPr/>
            <p:nvPr/>
          </p:nvGrpSpPr>
          <p:grpSpPr>
            <a:xfrm>
              <a:off x="4606158" y="2323086"/>
              <a:ext cx="2255108" cy="1760247"/>
              <a:chOff x="83407" y="2618647"/>
              <a:chExt cx="2255108" cy="1760247"/>
            </a:xfrm>
          </p:grpSpPr>
          <p:sp>
            <p:nvSpPr>
              <p:cNvPr id="16" name="Oval 15">
                <a:extLst>
                  <a:ext uri="{FF2B5EF4-FFF2-40B4-BE49-F238E27FC236}">
                    <a16:creationId xmlns:a16="http://schemas.microsoft.com/office/drawing/2014/main" id="{379FE554-D3AC-48D2-83AC-77AFF76AE537}"/>
                  </a:ext>
                </a:extLst>
              </p:cNvPr>
              <p:cNvSpPr/>
              <p:nvPr/>
            </p:nvSpPr>
            <p:spPr>
              <a:xfrm>
                <a:off x="889686" y="2618647"/>
                <a:ext cx="642552" cy="642552"/>
              </a:xfrm>
              <a:prstGeom prst="ellipse">
                <a:avLst/>
              </a:prstGeom>
              <a:gradFill flip="none" rotWithShape="1">
                <a:gsLst>
                  <a:gs pos="0">
                    <a:schemeClr val="accent4">
                      <a:lumMod val="67000"/>
                    </a:schemeClr>
                  </a:gs>
                  <a:gs pos="48000">
                    <a:schemeClr val="accent4">
                      <a:lumMod val="97000"/>
                      <a:lumOff val="3000"/>
                    </a:schemeClr>
                  </a:gs>
                  <a:gs pos="100000">
                    <a:schemeClr val="accent4">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dirty="0"/>
                  <a:t>02</a:t>
                </a:r>
              </a:p>
            </p:txBody>
          </p:sp>
          <p:sp>
            <p:nvSpPr>
              <p:cNvPr id="17" name="TextBox 16">
                <a:extLst>
                  <a:ext uri="{FF2B5EF4-FFF2-40B4-BE49-F238E27FC236}">
                    <a16:creationId xmlns:a16="http://schemas.microsoft.com/office/drawing/2014/main" id="{C2646A38-EAC8-4F50-B8C9-EB3F15D7619B}"/>
                  </a:ext>
                </a:extLst>
              </p:cNvPr>
              <p:cNvSpPr txBox="1"/>
              <p:nvPr/>
            </p:nvSpPr>
            <p:spPr>
              <a:xfrm>
                <a:off x="83407" y="3363231"/>
                <a:ext cx="2255107" cy="369332"/>
              </a:xfrm>
              <a:prstGeom prst="rect">
                <a:avLst/>
              </a:prstGeom>
              <a:noFill/>
            </p:spPr>
            <p:txBody>
              <a:bodyPr wrap="square" rtlCol="0">
                <a:spAutoFit/>
              </a:bodyPr>
              <a:lstStyle/>
              <a:p>
                <a:pPr algn="ctr"/>
                <a:r>
                  <a:rPr lang="en-US" dirty="0">
                    <a:solidFill>
                      <a:schemeClr val="accent4">
                        <a:lumMod val="75000"/>
                      </a:schemeClr>
                    </a:solidFill>
                  </a:rPr>
                  <a:t>CTR from </a:t>
                </a:r>
                <a:r>
                  <a:rPr lang="en-US" dirty="0" err="1">
                    <a:solidFill>
                      <a:schemeClr val="accent4">
                        <a:lumMod val="75000"/>
                      </a:schemeClr>
                    </a:solidFill>
                  </a:rPr>
                  <a:t>Westat</a:t>
                </a:r>
                <a:endParaRPr lang="en-US" dirty="0">
                  <a:solidFill>
                    <a:schemeClr val="accent4">
                      <a:lumMod val="75000"/>
                    </a:schemeClr>
                  </a:solidFill>
                </a:endParaRPr>
              </a:p>
            </p:txBody>
          </p:sp>
          <p:sp>
            <p:nvSpPr>
              <p:cNvPr id="18" name="TextBox 17">
                <a:extLst>
                  <a:ext uri="{FF2B5EF4-FFF2-40B4-BE49-F238E27FC236}">
                    <a16:creationId xmlns:a16="http://schemas.microsoft.com/office/drawing/2014/main" id="{2CB5E4F7-B957-43FA-A25E-0EA24A99E325}"/>
                  </a:ext>
                </a:extLst>
              </p:cNvPr>
              <p:cNvSpPr txBox="1"/>
              <p:nvPr/>
            </p:nvSpPr>
            <p:spPr>
              <a:xfrm>
                <a:off x="83407" y="3732563"/>
                <a:ext cx="2255108" cy="646331"/>
              </a:xfrm>
              <a:prstGeom prst="rect">
                <a:avLst/>
              </a:prstGeom>
              <a:noFill/>
            </p:spPr>
            <p:txBody>
              <a:bodyPr wrap="square">
                <a:spAutoFit/>
              </a:bodyPr>
              <a:lstStyle/>
              <a:p>
                <a:pPr algn="ctr"/>
                <a:r>
                  <a:rPr lang="en-US" sz="1800" b="1" dirty="0">
                    <a:solidFill>
                      <a:schemeClr val="accent4">
                        <a:lumMod val="75000"/>
                      </a:schemeClr>
                    </a:solidFill>
                  </a:rPr>
                  <a:t>Elaine Flores</a:t>
                </a:r>
              </a:p>
              <a:p>
                <a:pPr algn="ctr"/>
                <a:r>
                  <a:rPr lang="en-US" sz="1800" b="1" dirty="0">
                    <a:solidFill>
                      <a:schemeClr val="accent4">
                        <a:lumMod val="75000"/>
                      </a:schemeClr>
                    </a:solidFill>
                  </a:rPr>
                  <a:t>Raquel Brown</a:t>
                </a:r>
              </a:p>
            </p:txBody>
          </p:sp>
        </p:grpSp>
        <p:grpSp>
          <p:nvGrpSpPr>
            <p:cNvPr id="19" name="Group 18">
              <a:extLst>
                <a:ext uri="{FF2B5EF4-FFF2-40B4-BE49-F238E27FC236}">
                  <a16:creationId xmlns:a16="http://schemas.microsoft.com/office/drawing/2014/main" id="{98886C26-E7A2-485C-9247-8CDAFFB31B94}"/>
                </a:ext>
              </a:extLst>
            </p:cNvPr>
            <p:cNvGrpSpPr/>
            <p:nvPr/>
          </p:nvGrpSpPr>
          <p:grpSpPr>
            <a:xfrm>
              <a:off x="7318467" y="2326046"/>
              <a:ext cx="2336279" cy="1483248"/>
              <a:chOff x="83407" y="2618647"/>
              <a:chExt cx="2336279" cy="1483248"/>
            </a:xfrm>
          </p:grpSpPr>
          <p:sp>
            <p:nvSpPr>
              <p:cNvPr id="20" name="Oval 19">
                <a:extLst>
                  <a:ext uri="{FF2B5EF4-FFF2-40B4-BE49-F238E27FC236}">
                    <a16:creationId xmlns:a16="http://schemas.microsoft.com/office/drawing/2014/main" id="{FF5A1731-A4CC-4EA5-958D-F57100F6BB82}"/>
                  </a:ext>
                </a:extLst>
              </p:cNvPr>
              <p:cNvSpPr/>
              <p:nvPr/>
            </p:nvSpPr>
            <p:spPr>
              <a:xfrm>
                <a:off x="889686" y="2618647"/>
                <a:ext cx="642552" cy="642552"/>
              </a:xfrm>
              <a:prstGeom prst="ellipse">
                <a:avLst/>
              </a:prstGeom>
              <a:gradFill flip="none" rotWithShape="1">
                <a:gsLst>
                  <a:gs pos="0">
                    <a:schemeClr val="accent4">
                      <a:lumMod val="67000"/>
                    </a:schemeClr>
                  </a:gs>
                  <a:gs pos="48000">
                    <a:schemeClr val="accent4">
                      <a:lumMod val="97000"/>
                      <a:lumOff val="3000"/>
                    </a:schemeClr>
                  </a:gs>
                  <a:gs pos="100000">
                    <a:schemeClr val="accent4">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dirty="0"/>
                  <a:t>03</a:t>
                </a:r>
              </a:p>
            </p:txBody>
          </p:sp>
          <p:sp>
            <p:nvSpPr>
              <p:cNvPr id="21" name="TextBox 20">
                <a:extLst>
                  <a:ext uri="{FF2B5EF4-FFF2-40B4-BE49-F238E27FC236}">
                    <a16:creationId xmlns:a16="http://schemas.microsoft.com/office/drawing/2014/main" id="{81652E64-112A-44B1-87F7-F5801587908C}"/>
                  </a:ext>
                </a:extLst>
              </p:cNvPr>
              <p:cNvSpPr txBox="1"/>
              <p:nvPr/>
            </p:nvSpPr>
            <p:spPr>
              <a:xfrm>
                <a:off x="83407" y="3363231"/>
                <a:ext cx="2336279" cy="369332"/>
              </a:xfrm>
              <a:prstGeom prst="rect">
                <a:avLst/>
              </a:prstGeom>
              <a:noFill/>
            </p:spPr>
            <p:txBody>
              <a:bodyPr wrap="square" rtlCol="0">
                <a:spAutoFit/>
              </a:bodyPr>
              <a:lstStyle/>
              <a:p>
                <a:pPr algn="ctr"/>
                <a:r>
                  <a:rPr lang="en-US" sz="1800" dirty="0">
                    <a:solidFill>
                      <a:schemeClr val="accent4">
                        <a:lumMod val="75000"/>
                      </a:schemeClr>
                    </a:solidFill>
                  </a:rPr>
                  <a:t>DHHS Administrator</a:t>
                </a:r>
                <a:endParaRPr lang="en-US" dirty="0">
                  <a:solidFill>
                    <a:schemeClr val="accent4">
                      <a:lumMod val="75000"/>
                    </a:schemeClr>
                  </a:solidFill>
                </a:endParaRPr>
              </a:p>
            </p:txBody>
          </p:sp>
          <p:sp>
            <p:nvSpPr>
              <p:cNvPr id="22" name="TextBox 21">
                <a:extLst>
                  <a:ext uri="{FF2B5EF4-FFF2-40B4-BE49-F238E27FC236}">
                    <a16:creationId xmlns:a16="http://schemas.microsoft.com/office/drawing/2014/main" id="{B037D834-23A2-4D2F-A8D9-2C226A4EF3DC}"/>
                  </a:ext>
                </a:extLst>
              </p:cNvPr>
              <p:cNvSpPr txBox="1"/>
              <p:nvPr/>
            </p:nvSpPr>
            <p:spPr>
              <a:xfrm>
                <a:off x="83407" y="3732563"/>
                <a:ext cx="2255108" cy="369332"/>
              </a:xfrm>
              <a:prstGeom prst="rect">
                <a:avLst/>
              </a:prstGeom>
              <a:noFill/>
            </p:spPr>
            <p:txBody>
              <a:bodyPr wrap="square">
                <a:spAutoFit/>
              </a:bodyPr>
              <a:lstStyle/>
              <a:p>
                <a:pPr algn="ctr"/>
                <a:r>
                  <a:rPr lang="en-US" sz="1800" b="1" dirty="0">
                    <a:solidFill>
                      <a:schemeClr val="accent4">
                        <a:lumMod val="75000"/>
                      </a:schemeClr>
                    </a:solidFill>
                  </a:rPr>
                  <a:t>Dr. Ming Qu</a:t>
                </a:r>
              </a:p>
            </p:txBody>
          </p:sp>
        </p:grpSp>
      </p:grpSp>
    </p:spTree>
    <p:extLst>
      <p:ext uri="{BB962C8B-B14F-4D97-AF65-F5344CB8AC3E}">
        <p14:creationId xmlns:p14="http://schemas.microsoft.com/office/powerpoint/2010/main" val="767851094"/>
      </p:ext>
    </p:extLst>
  </p:cSld>
  <p:clrMapOvr>
    <a:masterClrMapping/>
  </p:clrMapOvr>
  <mc:AlternateContent xmlns:mc="http://schemas.openxmlformats.org/markup-compatibility/2006" xmlns:p14="http://schemas.microsoft.com/office/powerpoint/2010/main">
    <mc:Choice Requires="p14">
      <p:transition p14:dur="10" advClick="0" advTm="10000"/>
    </mc:Choice>
    <mc:Fallback xmlns="">
      <p:transition advClick="0" advTm="10000"/>
    </mc:Fallback>
  </mc:AlternateContent>
</p:sld>
</file>

<file path=ppt/theme/theme1.xml><?xml version="1.0" encoding="utf-8"?>
<a:theme xmlns:a="http://schemas.openxmlformats.org/drawingml/2006/main" name="Master / large logo">
  <a:themeElements>
    <a:clrScheme name="New Brand Colors">
      <a:dk1>
        <a:sysClr val="windowText" lastClr="000000"/>
      </a:dk1>
      <a:lt1>
        <a:sysClr val="window" lastClr="FFFFFF"/>
      </a:lt1>
      <a:dk2>
        <a:srgbClr val="036080"/>
      </a:dk2>
      <a:lt2>
        <a:srgbClr val="B9C8D3"/>
      </a:lt2>
      <a:accent1>
        <a:srgbClr val="BABF33"/>
      </a:accent1>
      <a:accent2>
        <a:srgbClr val="FFC843"/>
      </a:accent2>
      <a:accent3>
        <a:srgbClr val="B9C8D3"/>
      </a:accent3>
      <a:accent4>
        <a:srgbClr val="036080"/>
      </a:accent4>
      <a:accent5>
        <a:srgbClr val="FFC843"/>
      </a:accent5>
      <a:accent6>
        <a:srgbClr val="BABF33"/>
      </a:accent6>
      <a:hlink>
        <a:srgbClr val="036080"/>
      </a:hlink>
      <a:folHlink>
        <a:srgbClr val="BABF33"/>
      </a:folHlink>
    </a:clrScheme>
    <a:fontScheme name="Arial Brand Fonts">
      <a:majorFont>
        <a:latin typeface="Arial Bold"/>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BRAND">
  <a:themeElements>
    <a:clrScheme name="New Brand Colors">
      <a:dk1>
        <a:sysClr val="windowText" lastClr="000000"/>
      </a:dk1>
      <a:lt1>
        <a:sysClr val="window" lastClr="FFFFFF"/>
      </a:lt1>
      <a:dk2>
        <a:srgbClr val="036080"/>
      </a:dk2>
      <a:lt2>
        <a:srgbClr val="B9C8D3"/>
      </a:lt2>
      <a:accent1>
        <a:srgbClr val="BABF33"/>
      </a:accent1>
      <a:accent2>
        <a:srgbClr val="FFC843"/>
      </a:accent2>
      <a:accent3>
        <a:srgbClr val="B9C8D3"/>
      </a:accent3>
      <a:accent4>
        <a:srgbClr val="036080"/>
      </a:accent4>
      <a:accent5>
        <a:srgbClr val="FFC843"/>
      </a:accent5>
      <a:accent6>
        <a:srgbClr val="BABF33"/>
      </a:accent6>
      <a:hlink>
        <a:srgbClr val="036080"/>
      </a:hlink>
      <a:folHlink>
        <a:srgbClr val="BABF33"/>
      </a:folHlink>
    </a:clrScheme>
    <a:fontScheme name="Brand fonts">
      <a:majorFont>
        <a:latin typeface="Roboto Black"/>
        <a:ea typeface=""/>
        <a:cs typeface=""/>
      </a:majorFont>
      <a:minorFont>
        <a:latin typeface="Montserra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RAND" id="{D82FC7AA-3285-4959-9E2F-F8413559A783}" vid="{AA9EF2BD-29FF-47DC-B910-57C80A453824}"/>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Description0 xmlns="2f9a96d6-9b2b-4797-a61c-7fe1f15b622d">NOTE: Please restrict your PowerPoint presentations to a total of 10 slides or less. This PowerPoint template is to be used by employees agency-wide to provide a consistent visual for DHHS presentations.  The cover slide and three content slides are prepared and provide information about DHHS.  Information about each of the prepared slides is provided in the Notes section.</Description0>
    <Category xmlns="2f9a96d6-9b2b-4797-a61c-7fe1f15b622d">PowerPoint Template</Category>
    <Sub_x002d_Category xmlns="2f9a96d6-9b2b-4797-a61c-7fe1f15b622d"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52B6389463AD8D489B748E08E45C361A" ma:contentTypeVersion="5" ma:contentTypeDescription="Create a new document." ma:contentTypeScope="" ma:versionID="cfaaeb17a2a1506f0e95c8dd471a161d">
  <xsd:schema xmlns:xsd="http://www.w3.org/2001/XMLSchema" xmlns:xs="http://www.w3.org/2001/XMLSchema" xmlns:p="http://schemas.microsoft.com/office/2006/metadata/properties" xmlns:ns2="2f9a96d6-9b2b-4797-a61c-7fe1f15b622d" xmlns:ns3="af0a6918-c091-4d99-8e6c-5b759a8a04b2" targetNamespace="http://schemas.microsoft.com/office/2006/metadata/properties" ma:root="true" ma:fieldsID="8b821a1eb82ae6c7124d5ffdba06c81c" ns2:_="" ns3:_="">
    <xsd:import namespace="2f9a96d6-9b2b-4797-a61c-7fe1f15b622d"/>
    <xsd:import namespace="af0a6918-c091-4d99-8e6c-5b759a8a04b2"/>
    <xsd:element name="properties">
      <xsd:complexType>
        <xsd:sequence>
          <xsd:element name="documentManagement">
            <xsd:complexType>
              <xsd:all>
                <xsd:element ref="ns2:Category" minOccurs="0"/>
                <xsd:element ref="ns2:Sub_x002d_Category" minOccurs="0"/>
                <xsd:element ref="ns2:Description0" minOccurs="0"/>
                <xsd:element ref="ns3:SharedWithUser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f9a96d6-9b2b-4797-a61c-7fe1f15b622d" elementFormDefault="qualified">
    <xsd:import namespace="http://schemas.microsoft.com/office/2006/documentManagement/types"/>
    <xsd:import namespace="http://schemas.microsoft.com/office/infopath/2007/PartnerControls"/>
    <xsd:element name="Category" ma:index="8" nillable="true" ma:displayName="Category" ma:format="Dropdown" ma:internalName="Category">
      <xsd:simpleType>
        <xsd:restriction base="dms:Choice">
          <xsd:enumeration value="Branding Standards and Q&amp;A"/>
          <xsd:enumeration value="Business Card"/>
          <xsd:enumeration value="Email Signature Block"/>
          <xsd:enumeration value="Fact Sheet Template"/>
          <xsd:enumeration value="FAQ"/>
          <xsd:enumeration value="Letterhead"/>
          <xsd:enumeration value="Logos"/>
          <xsd:enumeration value="Out of Office Messages"/>
          <xsd:enumeration value="PowerPoint Template"/>
          <xsd:enumeration value="Website Branding &amp; Coloring"/>
        </xsd:restriction>
      </xsd:simpleType>
    </xsd:element>
    <xsd:element name="Sub_x002d_Category" ma:index="9" nillable="true" ma:displayName="Sub-Category" ma:format="Dropdown" ma:internalName="Sub_x002d_Category">
      <xsd:simpleType>
        <xsd:restriction base="dms:Choice">
          <xsd:enumeration value="Department Brand Only"/>
          <xsd:enumeration value="Tag Line Only"/>
          <xsd:enumeration value="Department and Tag Line"/>
          <xsd:enumeration value="Print"/>
          <xsd:enumeration value="Web"/>
        </xsd:restriction>
      </xsd:simpleType>
    </xsd:element>
    <xsd:element name="Description0" ma:index="10" nillable="true" ma:displayName="Description" ma:internalName="Description0">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f0a6918-c091-4d99-8e6c-5b759a8a04b2" elementFormDefault="qualified">
    <xsd:import namespace="http://schemas.microsoft.com/office/2006/documentManagement/types"/>
    <xsd:import namespace="http://schemas.microsoft.com/office/infopath/2007/PartnerControls"/>
    <xsd:element name="SharedWithUsers" ma:index="11" nillable="true" ma:displayName="Shared With"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D962A91-727D-4433-AE21-DFF73B4AAD2C}">
  <ds:schemaRefs>
    <ds:schemaRef ds:uri="http://schemas.microsoft.com/sharepoint/v3/contenttype/forms"/>
  </ds:schemaRefs>
</ds:datastoreItem>
</file>

<file path=customXml/itemProps2.xml><?xml version="1.0" encoding="utf-8"?>
<ds:datastoreItem xmlns:ds="http://schemas.openxmlformats.org/officeDocument/2006/customXml" ds:itemID="{9F364444-3E31-4591-BF65-8E77F441987D}">
  <ds:schemaRefs>
    <ds:schemaRef ds:uri="http://schemas.microsoft.com/office/2006/documentManagement/types"/>
    <ds:schemaRef ds:uri="http://schemas.microsoft.com/office/infopath/2007/PartnerControls"/>
    <ds:schemaRef ds:uri="http://purl.org/dc/elements/1.1/"/>
    <ds:schemaRef ds:uri="http://schemas.microsoft.com/office/2006/metadata/properties"/>
    <ds:schemaRef ds:uri="af0a6918-c091-4d99-8e6c-5b759a8a04b2"/>
    <ds:schemaRef ds:uri="http://purl.org/dc/terms/"/>
    <ds:schemaRef ds:uri="2f9a96d6-9b2b-4797-a61c-7fe1f15b622d"/>
    <ds:schemaRef ds:uri="http://schemas.openxmlformats.org/package/2006/metadata/core-properties"/>
    <ds:schemaRef ds:uri="http://www.w3.org/XML/1998/namespace"/>
    <ds:schemaRef ds:uri="http://purl.org/dc/dcmitype/"/>
  </ds:schemaRefs>
</ds:datastoreItem>
</file>

<file path=customXml/itemProps3.xml><?xml version="1.0" encoding="utf-8"?>
<ds:datastoreItem xmlns:ds="http://schemas.openxmlformats.org/officeDocument/2006/customXml" ds:itemID="{A934B3BB-52F9-4C58-99DF-71811096AF1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f9a96d6-9b2b-4797-a61c-7fe1f15b622d"/>
    <ds:schemaRef ds:uri="af0a6918-c091-4d99-8e6c-5b759a8a04b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7552</TotalTime>
  <Words>996</Words>
  <Application>Microsoft Office PowerPoint</Application>
  <PresentationFormat>Widescreen</PresentationFormat>
  <Paragraphs>166</Paragraphs>
  <Slides>12</Slides>
  <Notes>11</Notes>
  <HiddenSlides>0</HiddenSlides>
  <MMClips>0</MMClips>
  <ScaleCrop>false</ScaleCrop>
  <HeadingPairs>
    <vt:vector size="6" baseType="variant">
      <vt:variant>
        <vt:lpstr>Fonts Used</vt:lpstr>
      </vt:variant>
      <vt:variant>
        <vt:i4>13</vt:i4>
      </vt:variant>
      <vt:variant>
        <vt:lpstr>Theme</vt:lpstr>
      </vt:variant>
      <vt:variant>
        <vt:i4>2</vt:i4>
      </vt:variant>
      <vt:variant>
        <vt:lpstr>Slide Titles</vt:lpstr>
      </vt:variant>
      <vt:variant>
        <vt:i4>12</vt:i4>
      </vt:variant>
    </vt:vector>
  </HeadingPairs>
  <TitlesOfParts>
    <vt:vector size="27" baseType="lpstr">
      <vt:lpstr>Wingdings 3</vt:lpstr>
      <vt:lpstr>Wingdings</vt:lpstr>
      <vt:lpstr>Montserrat</vt:lpstr>
      <vt:lpstr>Arial Bold</vt:lpstr>
      <vt:lpstr>Consolas</vt:lpstr>
      <vt:lpstr>Roboto</vt:lpstr>
      <vt:lpstr>Calibri</vt:lpstr>
      <vt:lpstr>Gisha</vt:lpstr>
      <vt:lpstr>Montserrat Black</vt:lpstr>
      <vt:lpstr>Roboto Black</vt:lpstr>
      <vt:lpstr>Montserrat Semi Bold</vt:lpstr>
      <vt:lpstr>Courier New</vt:lpstr>
      <vt:lpstr>Arial</vt:lpstr>
      <vt:lpstr>Master / large logo</vt:lpstr>
      <vt:lpstr>BRAND</vt:lpstr>
      <vt:lpstr>Using Natural Language Processing (NLP) to Identify Reportability of Cancer Reports</vt:lpstr>
      <vt:lpstr>Project Background</vt:lpstr>
      <vt:lpstr>PowerPoint Presentation</vt:lpstr>
      <vt:lpstr>Data</vt:lpstr>
      <vt:lpstr>Current Solutions</vt:lpstr>
      <vt:lpstr>PowerPoint Presentation</vt:lpstr>
      <vt:lpstr>NLP Solution</vt:lpstr>
      <vt:lpstr>PowerPoint Presentation</vt:lpstr>
      <vt:lpstr>Results</vt:lpstr>
      <vt:lpstr>Results</vt:lpstr>
      <vt:lpstr>PowerPoint Presentation</vt:lpstr>
      <vt:lpstr>PowerPoint Presentation</vt:lpstr>
    </vt:vector>
  </TitlesOfParts>
  <Company>State of Nebraska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Master Title</dc:title>
  <dc:creator>Cynthia Schneider</dc:creator>
  <cp:lastModifiedBy>Wu, Qianru</cp:lastModifiedBy>
  <cp:revision>687</cp:revision>
  <cp:lastPrinted>2017-08-31T20:30:36Z</cp:lastPrinted>
  <dcterms:created xsi:type="dcterms:W3CDTF">2016-09-27T14:31:05Z</dcterms:created>
  <dcterms:modified xsi:type="dcterms:W3CDTF">2022-12-07T19:15:51Z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AdHocReviewCycleID">
    <vt:i4>-445237277</vt:i4>
  </property>
  <property fmtid="{D5CDD505-2E9C-101B-9397-08002B2CF9AE}" pid="3" name="_NewReviewCycle">
    <vt:lpwstr/>
  </property>
  <property fmtid="{D5CDD505-2E9C-101B-9397-08002B2CF9AE}" pid="4" name="_EmailSubject">
    <vt:lpwstr>presentations</vt:lpwstr>
  </property>
  <property fmtid="{D5CDD505-2E9C-101B-9397-08002B2CF9AE}" pid="5" name="_AuthorEmailDisplayName">
    <vt:lpwstr>Wu, Qianru</vt:lpwstr>
  </property>
  <property fmtid="{D5CDD505-2E9C-101B-9397-08002B2CF9AE}" pid="6" name="_PreviousAdHocReviewCycleID">
    <vt:i4>951121198</vt:i4>
  </property>
  <property fmtid="{D5CDD505-2E9C-101B-9397-08002B2CF9AE}" pid="7" name="_AuthorEmail">
    <vt:lpwstr>Qianru.Wu@nebraska.gov</vt:lpwstr>
  </property>
  <property fmtid="{D5CDD505-2E9C-101B-9397-08002B2CF9AE}" pid="8" name="ContentTypeId">
    <vt:lpwstr>0x01010052B6389463AD8D489B748E08E45C361A</vt:lpwstr>
  </property>
</Properties>
</file>