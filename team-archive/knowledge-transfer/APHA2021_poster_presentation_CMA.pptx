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81" r:id="rId4"/>
    <p:sldMasterId id="2147483771" r:id="rId5"/>
  </p:sldMasterIdLst>
  <p:notesMasterIdLst>
    <p:notesMasterId r:id="rId12"/>
  </p:notesMasterIdLst>
  <p:handoutMasterIdLst>
    <p:handoutMasterId r:id="rId13"/>
  </p:handoutMasterIdLst>
  <p:sldIdLst>
    <p:sldId id="265" r:id="rId6"/>
    <p:sldId id="352" r:id="rId7"/>
    <p:sldId id="353" r:id="rId8"/>
    <p:sldId id="355" r:id="rId9"/>
    <p:sldId id="356" r:id="rId10"/>
    <p:sldId id="350" r:id="rId11"/>
  </p:sldIdLst>
  <p:sldSz cx="12192000" cy="6858000"/>
  <p:notesSz cx="7010400" cy="9223375"/>
  <p:embeddedFontLst>
    <p:embeddedFont>
      <p:font typeface="Calibri" panose="020F0502020204030204" pitchFamily="34" charset="0"/>
      <p:regular r:id="rId14"/>
      <p:bold r:id="rId15"/>
      <p:italic r:id="rId16"/>
      <p:boldItalic r:id="rId17"/>
    </p:embeddedFont>
    <p:embeddedFont>
      <p:font typeface="Montserrat" panose="00000500000000000000" pitchFamily="2" charset="0"/>
      <p:regular r:id="rId18"/>
      <p:bold r:id="rId19"/>
      <p:italic r:id="rId20"/>
      <p:boldItalic r:id="rId21"/>
    </p:embeddedFont>
    <p:embeddedFont>
      <p:font typeface="Montserrat Semi Bold" panose="020B0604020202020204" charset="0"/>
      <p:bold r:id="rId22"/>
    </p:embeddedFont>
    <p:embeddedFont>
      <p:font typeface="Roboto" panose="02000000000000000000" pitchFamily="2" charset="0"/>
      <p:regular r:id="rId23"/>
      <p:bold r:id="rId24"/>
      <p:italic r:id="rId25"/>
      <p:boldItalic r:id="rId26"/>
    </p:embeddedFont>
    <p:embeddedFont>
      <p:font typeface="Roboto Black" panose="02000000000000000000" pitchFamily="2" charset="0"/>
      <p:bold r:id="rId27"/>
      <p:boldItalic r:id="rId28"/>
    </p:embeddedFont>
    <p:embeddedFont>
      <p:font typeface="Wingdings 3" panose="05040102010807070707" pitchFamily="18" charset="2"/>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B2054"/>
    <a:srgbClr val="7E99A9"/>
    <a:srgbClr val="036080"/>
    <a:srgbClr val="FFC843"/>
    <a:srgbClr val="B9C8D3"/>
    <a:srgbClr val="BABF33"/>
    <a:srgbClr val="0036C9"/>
    <a:srgbClr val="0046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2" autoAdjust="0"/>
    <p:restoredTop sz="48680" autoAdjust="0"/>
  </p:normalViewPr>
  <p:slideViewPr>
    <p:cSldViewPr snapToGrid="0">
      <p:cViewPr varScale="1">
        <p:scale>
          <a:sx n="61" d="100"/>
          <a:sy n="61" d="100"/>
        </p:scale>
        <p:origin x="2544" y="78"/>
      </p:cViewPr>
      <p:guideLst/>
    </p:cSldViewPr>
  </p:slideViewPr>
  <p:outlineViewPr>
    <p:cViewPr>
      <p:scale>
        <a:sx n="33" d="100"/>
        <a:sy n="33" d="100"/>
      </p:scale>
      <p:origin x="0" y="-846"/>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7" d="100"/>
          <a:sy n="87" d="100"/>
        </p:scale>
        <p:origin x="3804"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11.fntdata"/><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5.xml"/><Relationship Id="rId19" Type="http://schemas.openxmlformats.org/officeDocument/2006/relationships/font" Target="fonts/font6.fntdata"/><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5" Type="http://schemas.openxmlformats.org/officeDocument/2006/relationships/chartUserShapes" Target="../drawings/drawing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spc="0" baseline="0">
                <a:solidFill>
                  <a:schemeClr val="tx1"/>
                </a:solidFill>
                <a:latin typeface="+mn-lt"/>
                <a:ea typeface="+mn-ea"/>
                <a:cs typeface="+mn-cs"/>
              </a:defRPr>
            </a:pPr>
            <a:r>
              <a:rPr lang="en-US" sz="1800" b="1"/>
              <a:t>Percentage of Cases by Industry</a:t>
            </a:r>
            <a:r>
              <a:rPr lang="en-US" sz="1800" b="1" baseline="0"/>
              <a:t> S</a:t>
            </a:r>
            <a:r>
              <a:rPr lang="en-US" sz="1800" b="1"/>
              <a:t>ector, Nebraska, 2020 </a:t>
            </a:r>
          </a:p>
        </c:rich>
      </c:tx>
      <c:layout>
        <c:manualLayout>
          <c:xMode val="edge"/>
          <c:yMode val="edge"/>
          <c:x val="0.25897194881889762"/>
          <c:y val="0"/>
        </c:manualLayout>
      </c:layout>
      <c:overlay val="0"/>
      <c:spPr>
        <a:noFill/>
        <a:ln>
          <a:noFill/>
        </a:ln>
        <a:effectLst/>
      </c:spPr>
      <c:txPr>
        <a:bodyPr rot="0" spcFirstLastPara="1" vertOverflow="ellipsis" vert="horz" wrap="square" anchor="ctr" anchorCtr="1"/>
        <a:lstStyle/>
        <a:p>
          <a:pPr>
            <a:defRPr sz="18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46676088972812629"/>
          <c:y val="7.2734812778494598E-2"/>
          <c:w val="0.52031237340375425"/>
          <c:h val="0.82454993083791384"/>
        </c:manualLayout>
      </c:layout>
      <c:barChart>
        <c:barDir val="bar"/>
        <c:grouping val="clustered"/>
        <c:varyColors val="0"/>
        <c:ser>
          <c:idx val="0"/>
          <c:order val="0"/>
          <c:tx>
            <c:v>Percentage of Industry Sector Workforce</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'industry rates'!$A$56:$A$75</c:f>
              <c:strCache>
                <c:ptCount val="13"/>
                <c:pt idx="0">
                  <c:v>Administrative &amp; Support &amp; Waste Management &amp; Remediation Services</c:v>
                </c:pt>
                <c:pt idx="1">
                  <c:v>Agriculture, Forestry, Fishing and Hunting</c:v>
                </c:pt>
                <c:pt idx="2">
                  <c:v>Other Services (except Public Administration)</c:v>
                </c:pt>
                <c:pt idx="3">
                  <c:v>Professional, Scientific, and Technical Services</c:v>
                </c:pt>
                <c:pt idx="4">
                  <c:v>Transportation and Warehousing</c:v>
                </c:pt>
                <c:pt idx="5">
                  <c:v>Finance and Insurance</c:v>
                </c:pt>
                <c:pt idx="6">
                  <c:v>Public Administration</c:v>
                </c:pt>
                <c:pt idx="7">
                  <c:v>Accommodation and Food Services</c:v>
                </c:pt>
                <c:pt idx="8">
                  <c:v>Construction</c:v>
                </c:pt>
                <c:pt idx="9">
                  <c:v>Retail Trade</c:v>
                </c:pt>
                <c:pt idx="10">
                  <c:v>Health Care and Social Assistance</c:v>
                </c:pt>
                <c:pt idx="11">
                  <c:v>Educational Services</c:v>
                </c:pt>
                <c:pt idx="12">
                  <c:v>Manufacturing</c:v>
                </c:pt>
              </c:strCache>
              <c:extLst/>
            </c:strRef>
          </c:cat>
          <c:val>
            <c:numRef>
              <c:f>'industry rates'!$D$56:$D$75</c:f>
              <c:numCache>
                <c:formatCode>0</c:formatCode>
                <c:ptCount val="13"/>
                <c:pt idx="0">
                  <c:v>3.4054703310393752</c:v>
                </c:pt>
                <c:pt idx="1">
                  <c:v>4.3661710166438663</c:v>
                </c:pt>
                <c:pt idx="2">
                  <c:v>4.6621304108957569</c:v>
                </c:pt>
                <c:pt idx="3">
                  <c:v>5</c:v>
                </c:pt>
                <c:pt idx="4">
                  <c:v>4.3035814166510189</c:v>
                </c:pt>
                <c:pt idx="5">
                  <c:v>6.5608803078216136</c:v>
                </c:pt>
                <c:pt idx="6">
                  <c:v>4.0655422395353664</c:v>
                </c:pt>
                <c:pt idx="7">
                  <c:v>5.5987887422172813</c:v>
                </c:pt>
                <c:pt idx="8">
                  <c:v>7.1714766277518311</c:v>
                </c:pt>
                <c:pt idx="9">
                  <c:v>10.357684661673408</c:v>
                </c:pt>
                <c:pt idx="10">
                  <c:v>15.588983038218402</c:v>
                </c:pt>
                <c:pt idx="11">
                  <c:v>10.2122383531186</c:v>
                </c:pt>
                <c:pt idx="12">
                  <c:v>10.752694581628264</c:v>
                </c:pt>
              </c:numCache>
              <c:extLst/>
            </c:numRef>
          </c:val>
          <c:extLst>
            <c:ext xmlns:c16="http://schemas.microsoft.com/office/drawing/2014/chart" uri="{C3380CC4-5D6E-409C-BE32-E72D297353CC}">
              <c16:uniqueId val="{00000000-0D74-4585-A0C2-BE421E7ADCE5}"/>
            </c:ext>
          </c:extLst>
        </c:ser>
        <c:ser>
          <c:idx val="1"/>
          <c:order val="1"/>
          <c:tx>
            <c:v>Percentage of Cases by Industry Sector</c:v>
          </c:tx>
          <c:spPr>
            <a:solidFill>
              <a:schemeClr val="accent2"/>
            </a:solidFill>
            <a:ln>
              <a:noFill/>
            </a:ln>
            <a:effectLst/>
          </c:spPr>
          <c:invertIfNegative val="0"/>
          <c:dLbls>
            <c:numFmt formatCode="#,##0;[Black]#,##0" sourceLinked="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'industry rates'!$A$56:$A$75</c:f>
              <c:strCache>
                <c:ptCount val="13"/>
                <c:pt idx="0">
                  <c:v>Administrative &amp; Support &amp; Waste Management &amp; Remediation Services</c:v>
                </c:pt>
                <c:pt idx="1">
                  <c:v>Agriculture, Forestry, Fishing and Hunting</c:v>
                </c:pt>
                <c:pt idx="2">
                  <c:v>Other Services (except Public Administration)</c:v>
                </c:pt>
                <c:pt idx="3">
                  <c:v>Professional, Scientific, and Technical Services</c:v>
                </c:pt>
                <c:pt idx="4">
                  <c:v>Transportation and Warehousing</c:v>
                </c:pt>
                <c:pt idx="5">
                  <c:v>Finance and Insurance</c:v>
                </c:pt>
                <c:pt idx="6">
                  <c:v>Public Administration</c:v>
                </c:pt>
                <c:pt idx="7">
                  <c:v>Accommodation and Food Services</c:v>
                </c:pt>
                <c:pt idx="8">
                  <c:v>Construction</c:v>
                </c:pt>
                <c:pt idx="9">
                  <c:v>Retail Trade</c:v>
                </c:pt>
                <c:pt idx="10">
                  <c:v>Health Care and Social Assistance</c:v>
                </c:pt>
                <c:pt idx="11">
                  <c:v>Educational Services</c:v>
                </c:pt>
                <c:pt idx="12">
                  <c:v>Manufacturing</c:v>
                </c:pt>
              </c:strCache>
              <c:extLst/>
            </c:strRef>
          </c:cat>
          <c:val>
            <c:numRef>
              <c:f>'industry rates'!$B$56:$B$75</c:f>
              <c:numCache>
                <c:formatCode>0</c:formatCode>
                <c:ptCount val="13"/>
                <c:pt idx="0">
                  <c:v>-2.8446851155103907</c:v>
                </c:pt>
                <c:pt idx="1">
                  <c:v>-2.9079784802559865</c:v>
                </c:pt>
                <c:pt idx="2">
                  <c:v>-3.9611097436618725</c:v>
                </c:pt>
                <c:pt idx="3">
                  <c:v>-4.0701149829459542</c:v>
                </c:pt>
                <c:pt idx="4">
                  <c:v>-4.7012904813812018</c:v>
                </c:pt>
                <c:pt idx="5">
                  <c:v>-5.160167375786771</c:v>
                </c:pt>
                <c:pt idx="6">
                  <c:v>-5.2814796582158303</c:v>
                </c:pt>
                <c:pt idx="7">
                  <c:v>-6.0884700587221774</c:v>
                </c:pt>
                <c:pt idx="8">
                  <c:v>-7.7464045852526464</c:v>
                </c:pt>
                <c:pt idx="9">
                  <c:v>-9.4641161784872896</c:v>
                </c:pt>
                <c:pt idx="10">
                  <c:v>-11.754984352473716</c:v>
                </c:pt>
                <c:pt idx="11">
                  <c:v>-11.937831850627658</c:v>
                </c:pt>
                <c:pt idx="12">
                  <c:v>-18.660993705826506</c:v>
                </c:pt>
              </c:numCache>
              <c:extLst/>
            </c:numRef>
          </c:val>
          <c:extLst>
            <c:ext xmlns:c16="http://schemas.microsoft.com/office/drawing/2014/chart" uri="{C3380CC4-5D6E-409C-BE32-E72D297353CC}">
              <c16:uniqueId val="{00000001-0D74-4585-A0C2-BE421E7ADCE5}"/>
            </c:ext>
          </c:extLst>
        </c:ser>
        <c:dLbls>
          <c:dLblPos val="outEnd"/>
          <c:showLegendKey val="0"/>
          <c:showVal val="1"/>
          <c:showCatName val="0"/>
          <c:showSerName val="0"/>
          <c:showPercent val="0"/>
          <c:showBubbleSize val="0"/>
        </c:dLbls>
        <c:gapWidth val="182"/>
        <c:overlap val="100"/>
        <c:axId val="887459128"/>
        <c:axId val="887459520"/>
      </c:barChart>
      <c:catAx>
        <c:axId val="887459128"/>
        <c:scaling>
          <c:orientation val="minMax"/>
        </c:scaling>
        <c:delete val="0"/>
        <c:axPos val="l"/>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887459520"/>
        <c:crosses val="autoZero"/>
        <c:auto val="1"/>
        <c:lblAlgn val="ctr"/>
        <c:lblOffset val="100"/>
        <c:noMultiLvlLbl val="0"/>
      </c:catAx>
      <c:valAx>
        <c:axId val="887459520"/>
        <c:scaling>
          <c:orientation val="minMax"/>
        </c:scaling>
        <c:delete val="0"/>
        <c:axPos val="b"/>
        <c:majorGridlines>
          <c:spPr>
            <a:ln w="9525" cap="flat" cmpd="sng" algn="ctr">
              <a:solidFill>
                <a:schemeClr val="tx1">
                  <a:lumMod val="15000"/>
                  <a:lumOff val="85000"/>
                </a:schemeClr>
              </a:solidFill>
              <a:round/>
            </a:ln>
            <a:effectLst/>
          </c:spPr>
        </c:majorGridlines>
        <c:numFmt formatCode="#,##0;[Black]#,##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887459128"/>
        <c:crosses val="autoZero"/>
        <c:crossBetween val="between"/>
      </c:valAx>
      <c:spPr>
        <a:noFill/>
        <a:ln w="25400">
          <a:solidFill>
            <a:schemeClr val="bg1">
              <a:lumMod val="85000"/>
            </a:schemeClr>
          </a:solidFill>
        </a:ln>
        <a:effectLst/>
      </c:spPr>
    </c:plotArea>
    <c:legend>
      <c:legendPos val="b"/>
      <c:legendEntry>
        <c:idx val="0"/>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Entry>
      <c:layout>
        <c:manualLayout>
          <c:xMode val="edge"/>
          <c:yMode val="edge"/>
          <c:x val="0.45302976378319804"/>
          <c:y val="0.92558916164891158"/>
          <c:w val="0.54504273611783716"/>
          <c:h val="6.4606916782461013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4">
    <c:autoUpdate val="0"/>
  </c:externalData>
  <c:userShapes r:id="rId5"/>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800" b="1" dirty="0">
                <a:solidFill>
                  <a:schemeClr val="tx1"/>
                </a:solidFill>
                <a:latin typeface="Arial" panose="020B0604020202020204" pitchFamily="34" charset="0"/>
                <a:cs typeface="Arial" panose="020B0604020202020204" pitchFamily="34" charset="0"/>
              </a:rPr>
              <a:t>COVID-19 Industry Sector Based Rates</a:t>
            </a:r>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8.1597276902887136E-2"/>
          <c:y val="9.065203777562901E-2"/>
          <c:w val="0.91840272309711291"/>
          <c:h val="0.47030031202576889"/>
        </c:manualLayout>
      </c:layout>
      <c:barChart>
        <c:barDir val="col"/>
        <c:grouping val="clustered"/>
        <c:varyColors val="0"/>
        <c:ser>
          <c:idx val="0"/>
          <c:order val="0"/>
          <c:tx>
            <c:v>Case rate</c:v>
          </c:tx>
          <c:spPr>
            <a:solidFill>
              <a:schemeClr val="accent2"/>
            </a:solidFill>
            <a:ln>
              <a:noFill/>
            </a:ln>
            <a:effectLst/>
          </c:spPr>
          <c:invertIfNegative val="0"/>
          <c:errBars>
            <c:errBarType val="both"/>
            <c:errValType val="cust"/>
            <c:noEndCap val="0"/>
            <c:plus>
              <c:numRef>
                <c:f>'shell 2'!$Y$3:$Y$22</c:f>
                <c:numCache>
                  <c:formatCode>General</c:formatCode>
                  <c:ptCount val="15"/>
                  <c:pt idx="0">
                    <c:v>188.37205832244035</c:v>
                  </c:pt>
                  <c:pt idx="1">
                    <c:v>267.30136504649909</c:v>
                  </c:pt>
                  <c:pt idx="2">
                    <c:v>159.02096972796699</c:v>
                  </c:pt>
                  <c:pt idx="3">
                    <c:v>238.5011505591101</c:v>
                  </c:pt>
                  <c:pt idx="4">
                    <c:v>208.14368467970053</c:v>
                  </c:pt>
                  <c:pt idx="5">
                    <c:v>182.9427518456896</c:v>
                  </c:pt>
                  <c:pt idx="7">
                    <c:v>139.8083706914731</c:v>
                  </c:pt>
                  <c:pt idx="8">
                    <c:v>202.24054448484094</c:v>
                  </c:pt>
                  <c:pt idx="9">
                    <c:v>202.43219996119296</c:v>
                  </c:pt>
                  <c:pt idx="10">
                    <c:v>235.73579174991028</c:v>
                  </c:pt>
                  <c:pt idx="11">
                    <c:v>163.75830581315495</c:v>
                  </c:pt>
                  <c:pt idx="12">
                    <c:v>103.38233511937051</c:v>
                  </c:pt>
                  <c:pt idx="13">
                    <c:v>185.85040251089049</c:v>
                  </c:pt>
                  <c:pt idx="14">
                    <c:v>321.02148935514788</c:v>
                  </c:pt>
                </c:numCache>
                <c:extLst/>
              </c:numRef>
            </c:plus>
            <c:minus>
              <c:numRef>
                <c:f>'shell 2'!$X$3:$X$22</c:f>
                <c:numCache>
                  <c:formatCode>General</c:formatCode>
                  <c:ptCount val="15"/>
                  <c:pt idx="0">
                    <c:v>185.68911330598894</c:v>
                  </c:pt>
                  <c:pt idx="1">
                    <c:v>260.18504716622829</c:v>
                  </c:pt>
                  <c:pt idx="2">
                    <c:v>156.19372800384645</c:v>
                  </c:pt>
                  <c:pt idx="3">
                    <c:v>231.77599005255706</c:v>
                  </c:pt>
                  <c:pt idx="4">
                    <c:v>202.97835995653531</c:v>
                  </c:pt>
                  <c:pt idx="5">
                    <c:v>178.91277588499452</c:v>
                  </c:pt>
                  <c:pt idx="7">
                    <c:v>137.01943088570351</c:v>
                  </c:pt>
                  <c:pt idx="8">
                    <c:v>196.11740719135651</c:v>
                  </c:pt>
                  <c:pt idx="9">
                    <c:v>196.22065858849328</c:v>
                  </c:pt>
                  <c:pt idx="10">
                    <c:v>227.22134470218043</c:v>
                  </c:pt>
                  <c:pt idx="11">
                    <c:v>159.34826408626486</c:v>
                  </c:pt>
                  <c:pt idx="12">
                    <c:v>101.53016948965796</c:v>
                  </c:pt>
                  <c:pt idx="13">
                    <c:v>179.21001505905951</c:v>
                  </c:pt>
                  <c:pt idx="14">
                    <c:v>300.57216169547291</c:v>
                  </c:pt>
                </c:numCache>
                <c:extLst/>
              </c:numRef>
            </c:minus>
            <c:spPr>
              <a:noFill/>
              <a:ln w="9525" cap="flat" cmpd="sng" algn="ctr">
                <a:solidFill>
                  <a:schemeClr val="tx1">
                    <a:lumMod val="65000"/>
                    <a:lumOff val="35000"/>
                  </a:schemeClr>
                </a:solidFill>
                <a:round/>
              </a:ln>
              <a:effectLst/>
            </c:spPr>
          </c:errBars>
          <c:cat>
            <c:strRef>
              <c:f>'shell 2'!$T$3:$T$23</c:f>
              <c:strCache>
                <c:ptCount val="15"/>
                <c:pt idx="0">
                  <c:v>Manufacturing</c:v>
                </c:pt>
                <c:pt idx="1">
                  <c:v>Public Administration</c:v>
                </c:pt>
                <c:pt idx="2">
                  <c:v>Educational Services</c:v>
                </c:pt>
                <c:pt idx="3">
                  <c:v>Transportation and Warehousing</c:v>
                </c:pt>
                <c:pt idx="4">
                  <c:v>Accommodation and Food Services</c:v>
                </c:pt>
                <c:pt idx="5">
                  <c:v>Construction</c:v>
                </c:pt>
                <c:pt idx="6">
                  <c:v>Total Workforce</c:v>
                </c:pt>
                <c:pt idx="7">
                  <c:v>Retail Trade</c:v>
                </c:pt>
                <c:pt idx="8">
                  <c:v>Professional, Scientific, and Technical Services</c:v>
                </c:pt>
                <c:pt idx="9">
                  <c:v>Other Services (except Public Administration)</c:v>
                </c:pt>
                <c:pt idx="10">
                  <c:v>Administrative &amp; Support &amp; Waste Management &amp; Remediation Services</c:v>
                </c:pt>
                <c:pt idx="11">
                  <c:v>Finance and Insurance</c:v>
                </c:pt>
                <c:pt idx="12">
                  <c:v>Health Care and Social Assistance</c:v>
                </c:pt>
                <c:pt idx="13">
                  <c:v>Agriculture, Forestry, Fishing and Hunting</c:v>
                </c:pt>
                <c:pt idx="14">
                  <c:v>Information</c:v>
                </c:pt>
              </c:strCache>
              <c:extLst/>
            </c:strRef>
          </c:cat>
          <c:val>
            <c:numRef>
              <c:f>'shell 2'!$U$3:$U$23</c:f>
              <c:numCache>
                <c:formatCode>0</c:formatCode>
                <c:ptCount val="15"/>
                <c:pt idx="0">
                  <c:v>9806.7115086111316</c:v>
                </c:pt>
                <c:pt idx="1">
                  <c:v>7340.7946825668341</c:v>
                </c:pt>
                <c:pt idx="2">
                  <c:v>6605.5724180870111</c:v>
                </c:pt>
                <c:pt idx="3">
                  <c:v>6172.9535066254211</c:v>
                </c:pt>
                <c:pt idx="4">
                  <c:v>6144.9738266347258</c:v>
                </c:pt>
                <c:pt idx="5">
                  <c:v>6103.7611692179817</c:v>
                </c:pt>
                <c:pt idx="6">
                  <c:v>5650.7480450684852</c:v>
                </c:pt>
                <c:pt idx="7">
                  <c:v>5163.2519950890119</c:v>
                </c:pt>
                <c:pt idx="8">
                  <c:v>4863.4453781512602</c:v>
                </c:pt>
                <c:pt idx="9">
                  <c:v>4801.0740085664975</c:v>
                </c:pt>
                <c:pt idx="10">
                  <c:v>4720.2287181282454</c:v>
                </c:pt>
                <c:pt idx="11">
                  <c:v>4444.3434939959716</c:v>
                </c:pt>
                <c:pt idx="12">
                  <c:v>4260.9870500662792</c:v>
                </c:pt>
                <c:pt idx="13">
                  <c:v>3763.5387275871485</c:v>
                </c:pt>
                <c:pt idx="14">
                  <c:v>3529.4117647058824</c:v>
                </c:pt>
              </c:numCache>
              <c:extLst/>
            </c:numRef>
          </c:val>
          <c:extLst>
            <c:ext xmlns:c16="http://schemas.microsoft.com/office/drawing/2014/chart" uri="{C3380CC4-5D6E-409C-BE32-E72D297353CC}">
              <c16:uniqueId val="{00000000-0607-45ED-8577-D2A1F6102EE1}"/>
            </c:ext>
          </c:extLst>
        </c:ser>
        <c:ser>
          <c:idx val="1"/>
          <c:order val="1"/>
          <c:tx>
            <c:strRef>
              <c:f>'shell 2'!$AA$2</c:f>
              <c:strCache>
                <c:ptCount val="1"/>
                <c:pt idx="0">
                  <c:v>Worked outside of home</c:v>
                </c:pt>
              </c:strCache>
            </c:strRef>
          </c:tx>
          <c:spPr>
            <a:solidFill>
              <a:schemeClr val="accent4"/>
            </a:solidFill>
            <a:ln>
              <a:noFill/>
            </a:ln>
            <a:effectLst/>
          </c:spPr>
          <c:invertIfNegative val="0"/>
          <c:errBars>
            <c:errBarType val="both"/>
            <c:errValType val="cust"/>
            <c:noEndCap val="0"/>
            <c:plus>
              <c:numRef>
                <c:f>'shell 2'!$AE$3:$AE$22</c:f>
                <c:numCache>
                  <c:formatCode>General</c:formatCode>
                  <c:ptCount val="15"/>
                  <c:pt idx="0">
                    <c:v>174</c:v>
                  </c:pt>
                  <c:pt idx="1">
                    <c:v>251</c:v>
                  </c:pt>
                  <c:pt idx="2">
                    <c:v>145</c:v>
                  </c:pt>
                  <c:pt idx="3">
                    <c:v>223</c:v>
                  </c:pt>
                  <c:pt idx="4">
                    <c:v>195</c:v>
                  </c:pt>
                  <c:pt idx="5">
                    <c:v>167</c:v>
                  </c:pt>
                  <c:pt idx="7">
                    <c:v>130</c:v>
                  </c:pt>
                  <c:pt idx="8">
                    <c:v>163</c:v>
                  </c:pt>
                  <c:pt idx="9">
                    <c:v>185</c:v>
                  </c:pt>
                  <c:pt idx="10">
                    <c:v>210</c:v>
                  </c:pt>
                  <c:pt idx="11">
                    <c:v>132</c:v>
                  </c:pt>
                  <c:pt idx="12">
                    <c:v>96</c:v>
                  </c:pt>
                  <c:pt idx="13">
                    <c:v>167</c:v>
                  </c:pt>
                  <c:pt idx="14">
                    <c:v>272</c:v>
                  </c:pt>
                </c:numCache>
                <c:extLst/>
              </c:numRef>
            </c:plus>
            <c:minus>
              <c:numRef>
                <c:f>'shell 2'!$AD$3:$AD$22</c:f>
                <c:numCache>
                  <c:formatCode>General</c:formatCode>
                  <c:ptCount val="15"/>
                  <c:pt idx="0">
                    <c:v>172</c:v>
                  </c:pt>
                  <c:pt idx="1">
                    <c:v>244</c:v>
                  </c:pt>
                  <c:pt idx="2">
                    <c:v>143</c:v>
                  </c:pt>
                  <c:pt idx="3">
                    <c:v>216</c:v>
                  </c:pt>
                  <c:pt idx="4">
                    <c:v>190</c:v>
                  </c:pt>
                  <c:pt idx="5">
                    <c:v>163</c:v>
                  </c:pt>
                  <c:pt idx="7">
                    <c:v>128</c:v>
                  </c:pt>
                  <c:pt idx="8">
                    <c:v>157</c:v>
                  </c:pt>
                  <c:pt idx="9">
                    <c:v>179</c:v>
                  </c:pt>
                  <c:pt idx="10">
                    <c:v>203</c:v>
                  </c:pt>
                  <c:pt idx="11">
                    <c:v>127</c:v>
                  </c:pt>
                  <c:pt idx="12">
                    <c:v>93</c:v>
                  </c:pt>
                  <c:pt idx="13">
                    <c:v>160</c:v>
                  </c:pt>
                  <c:pt idx="14">
                    <c:v>252</c:v>
                  </c:pt>
                </c:numCache>
                <c:extLst/>
              </c:numRef>
            </c:minus>
            <c:spPr>
              <a:noFill/>
              <a:ln w="9525" cap="flat" cmpd="sng" algn="ctr">
                <a:solidFill>
                  <a:schemeClr val="tx1">
                    <a:lumMod val="65000"/>
                    <a:lumOff val="35000"/>
                  </a:schemeClr>
                </a:solidFill>
                <a:round/>
              </a:ln>
              <a:effectLst/>
            </c:spPr>
          </c:errBars>
          <c:cat>
            <c:strRef>
              <c:f>'shell 2'!$T$3:$T$23</c:f>
              <c:strCache>
                <c:ptCount val="15"/>
                <c:pt idx="0">
                  <c:v>Manufacturing</c:v>
                </c:pt>
                <c:pt idx="1">
                  <c:v>Public Administration</c:v>
                </c:pt>
                <c:pt idx="2">
                  <c:v>Educational Services</c:v>
                </c:pt>
                <c:pt idx="3">
                  <c:v>Transportation and Warehousing</c:v>
                </c:pt>
                <c:pt idx="4">
                  <c:v>Accommodation and Food Services</c:v>
                </c:pt>
                <c:pt idx="5">
                  <c:v>Construction</c:v>
                </c:pt>
                <c:pt idx="6">
                  <c:v>Total Workforce</c:v>
                </c:pt>
                <c:pt idx="7">
                  <c:v>Retail Trade</c:v>
                </c:pt>
                <c:pt idx="8">
                  <c:v>Professional, Scientific, and Technical Services</c:v>
                </c:pt>
                <c:pt idx="9">
                  <c:v>Other Services (except Public Administration)</c:v>
                </c:pt>
                <c:pt idx="10">
                  <c:v>Administrative &amp; Support &amp; Waste Management &amp; Remediation Services</c:v>
                </c:pt>
                <c:pt idx="11">
                  <c:v>Finance and Insurance</c:v>
                </c:pt>
                <c:pt idx="12">
                  <c:v>Health Care and Social Assistance</c:v>
                </c:pt>
                <c:pt idx="13">
                  <c:v>Agriculture, Forestry, Fishing and Hunting</c:v>
                </c:pt>
                <c:pt idx="14">
                  <c:v>Information</c:v>
                </c:pt>
              </c:strCache>
              <c:extLst/>
            </c:strRef>
          </c:cat>
          <c:val>
            <c:numRef>
              <c:f>'shell 2'!$AA$3:$AA$23</c:f>
              <c:numCache>
                <c:formatCode>General</c:formatCode>
                <c:ptCount val="15"/>
                <c:pt idx="0">
                  <c:v>8382</c:v>
                </c:pt>
                <c:pt idx="1">
                  <c:v>6449</c:v>
                </c:pt>
                <c:pt idx="2">
                  <c:v>5493</c:v>
                </c:pt>
                <c:pt idx="3">
                  <c:v>5381</c:v>
                </c:pt>
                <c:pt idx="4">
                  <c:v>5382</c:v>
                </c:pt>
                <c:pt idx="5">
                  <c:v>5059</c:v>
                </c:pt>
                <c:pt idx="6" formatCode="0">
                  <c:v>4674.9463766085773</c:v>
                </c:pt>
                <c:pt idx="7">
                  <c:v>4487</c:v>
                </c:pt>
                <c:pt idx="8">
                  <c:v>3128</c:v>
                </c:pt>
                <c:pt idx="9">
                  <c:v>3996</c:v>
                </c:pt>
                <c:pt idx="10">
                  <c:v>3758</c:v>
                </c:pt>
                <c:pt idx="11">
                  <c:v>2845</c:v>
                </c:pt>
                <c:pt idx="12">
                  <c:v>3622</c:v>
                </c:pt>
                <c:pt idx="13">
                  <c:v>3017</c:v>
                </c:pt>
                <c:pt idx="14">
                  <c:v>2499</c:v>
                </c:pt>
              </c:numCache>
              <c:extLst/>
            </c:numRef>
          </c:val>
          <c:extLst>
            <c:ext xmlns:c16="http://schemas.microsoft.com/office/drawing/2014/chart" uri="{C3380CC4-5D6E-409C-BE32-E72D297353CC}">
              <c16:uniqueId val="{00000001-0607-45ED-8577-D2A1F6102EE1}"/>
            </c:ext>
          </c:extLst>
        </c:ser>
        <c:ser>
          <c:idx val="2"/>
          <c:order val="2"/>
          <c:tx>
            <c:strRef>
              <c:f>'shell 2'!$AG$2</c:f>
              <c:strCache>
                <c:ptCount val="1"/>
                <c:pt idx="0">
                  <c:v>Did not work outside of home</c:v>
                </c:pt>
              </c:strCache>
            </c:strRef>
          </c:tx>
          <c:spPr>
            <a:solidFill>
              <a:schemeClr val="accent6"/>
            </a:solidFill>
            <a:ln>
              <a:noFill/>
            </a:ln>
            <a:effectLst/>
          </c:spPr>
          <c:invertIfNegative val="0"/>
          <c:errBars>
            <c:errBarType val="both"/>
            <c:errValType val="cust"/>
            <c:noEndCap val="0"/>
            <c:plus>
              <c:numRef>
                <c:f>'shell 2'!$AK$3:$AK$22</c:f>
                <c:numCache>
                  <c:formatCode>General</c:formatCode>
                  <c:ptCount val="15"/>
                  <c:pt idx="0">
                    <c:v>56</c:v>
                  </c:pt>
                  <c:pt idx="1">
                    <c:v>90</c:v>
                  </c:pt>
                  <c:pt idx="2">
                    <c:v>62</c:v>
                  </c:pt>
                  <c:pt idx="3">
                    <c:v>83</c:v>
                  </c:pt>
                  <c:pt idx="4">
                    <c:v>71</c:v>
                  </c:pt>
                  <c:pt idx="5">
                    <c:v>74</c:v>
                  </c:pt>
                  <c:pt idx="7">
                    <c:v>47</c:v>
                  </c:pt>
                  <c:pt idx="8">
                    <c:v>121</c:v>
                  </c:pt>
                  <c:pt idx="9">
                    <c:v>82</c:v>
                  </c:pt>
                  <c:pt idx="10">
                    <c:v>105</c:v>
                  </c:pt>
                  <c:pt idx="11">
                    <c:v>98</c:v>
                  </c:pt>
                  <c:pt idx="12">
                    <c:v>38</c:v>
                  </c:pt>
                  <c:pt idx="13">
                    <c:v>81</c:v>
                  </c:pt>
                  <c:pt idx="14">
                    <c:v>178</c:v>
                  </c:pt>
                </c:numCache>
                <c:extLst/>
              </c:numRef>
            </c:plus>
            <c:minus>
              <c:numRef>
                <c:f>'shell 2'!$AJ$3:$AJ$22</c:f>
                <c:numCache>
                  <c:formatCode>General</c:formatCode>
                  <c:ptCount val="15"/>
                  <c:pt idx="0">
                    <c:v>54</c:v>
                  </c:pt>
                  <c:pt idx="1">
                    <c:v>83</c:v>
                  </c:pt>
                  <c:pt idx="2">
                    <c:v>60</c:v>
                  </c:pt>
                  <c:pt idx="3">
                    <c:v>76</c:v>
                  </c:pt>
                  <c:pt idx="4">
                    <c:v>66</c:v>
                  </c:pt>
                  <c:pt idx="5">
                    <c:v>70</c:v>
                  </c:pt>
                  <c:pt idx="7">
                    <c:v>45</c:v>
                  </c:pt>
                  <c:pt idx="8">
                    <c:v>115</c:v>
                  </c:pt>
                  <c:pt idx="9">
                    <c:v>75</c:v>
                  </c:pt>
                  <c:pt idx="10">
                    <c:v>96</c:v>
                  </c:pt>
                  <c:pt idx="11">
                    <c:v>94</c:v>
                  </c:pt>
                  <c:pt idx="12">
                    <c:v>35</c:v>
                  </c:pt>
                  <c:pt idx="13">
                    <c:v>74</c:v>
                  </c:pt>
                  <c:pt idx="14">
                    <c:v>156</c:v>
                  </c:pt>
                </c:numCache>
                <c:extLst/>
              </c:numRef>
            </c:minus>
            <c:spPr>
              <a:noFill/>
              <a:ln w="9525" cap="flat" cmpd="sng" algn="ctr">
                <a:solidFill>
                  <a:schemeClr val="tx1">
                    <a:lumMod val="65000"/>
                    <a:lumOff val="35000"/>
                  </a:schemeClr>
                </a:solidFill>
                <a:round/>
              </a:ln>
              <a:effectLst/>
            </c:spPr>
          </c:errBars>
          <c:cat>
            <c:strRef>
              <c:f>'shell 2'!$T$3:$T$23</c:f>
              <c:strCache>
                <c:ptCount val="15"/>
                <c:pt idx="0">
                  <c:v>Manufacturing</c:v>
                </c:pt>
                <c:pt idx="1">
                  <c:v>Public Administration</c:v>
                </c:pt>
                <c:pt idx="2">
                  <c:v>Educational Services</c:v>
                </c:pt>
                <c:pt idx="3">
                  <c:v>Transportation and Warehousing</c:v>
                </c:pt>
                <c:pt idx="4">
                  <c:v>Accommodation and Food Services</c:v>
                </c:pt>
                <c:pt idx="5">
                  <c:v>Construction</c:v>
                </c:pt>
                <c:pt idx="6">
                  <c:v>Total Workforce</c:v>
                </c:pt>
                <c:pt idx="7">
                  <c:v>Retail Trade</c:v>
                </c:pt>
                <c:pt idx="8">
                  <c:v>Professional, Scientific, and Technical Services</c:v>
                </c:pt>
                <c:pt idx="9">
                  <c:v>Other Services (except Public Administration)</c:v>
                </c:pt>
                <c:pt idx="10">
                  <c:v>Administrative &amp; Support &amp; Waste Management &amp; Remediation Services</c:v>
                </c:pt>
                <c:pt idx="11">
                  <c:v>Finance and Insurance</c:v>
                </c:pt>
                <c:pt idx="12">
                  <c:v>Health Care and Social Assistance</c:v>
                </c:pt>
                <c:pt idx="13">
                  <c:v>Agriculture, Forestry, Fishing and Hunting</c:v>
                </c:pt>
                <c:pt idx="14">
                  <c:v>Information</c:v>
                </c:pt>
              </c:strCache>
              <c:extLst/>
            </c:strRef>
          </c:cat>
          <c:val>
            <c:numRef>
              <c:f>'shell 2'!$AG$3:$AG$23</c:f>
              <c:numCache>
                <c:formatCode>General</c:formatCode>
                <c:ptCount val="15"/>
                <c:pt idx="0">
                  <c:v>844</c:v>
                </c:pt>
                <c:pt idx="1">
                  <c:v>770</c:v>
                </c:pt>
                <c:pt idx="2">
                  <c:v>973</c:v>
                </c:pt>
                <c:pt idx="3">
                  <c:v>697</c:v>
                </c:pt>
                <c:pt idx="4">
                  <c:v>671</c:v>
                </c:pt>
                <c:pt idx="5">
                  <c:v>953</c:v>
                </c:pt>
                <c:pt idx="6" formatCode="0">
                  <c:v>831.44819419069154</c:v>
                </c:pt>
                <c:pt idx="7">
                  <c:v>565</c:v>
                </c:pt>
                <c:pt idx="8">
                  <c:v>1685</c:v>
                </c:pt>
                <c:pt idx="9">
                  <c:v>731</c:v>
                </c:pt>
                <c:pt idx="10">
                  <c:v>869</c:v>
                </c:pt>
                <c:pt idx="11">
                  <c:v>1558</c:v>
                </c:pt>
                <c:pt idx="12">
                  <c:v>540</c:v>
                </c:pt>
                <c:pt idx="13">
                  <c:v>671</c:v>
                </c:pt>
                <c:pt idx="14">
                  <c:v>995</c:v>
                </c:pt>
              </c:numCache>
              <c:extLst/>
            </c:numRef>
          </c:val>
          <c:extLst>
            <c:ext xmlns:c16="http://schemas.microsoft.com/office/drawing/2014/chart" uri="{C3380CC4-5D6E-409C-BE32-E72D297353CC}">
              <c16:uniqueId val="{00000002-0607-45ED-8577-D2A1F6102EE1}"/>
            </c:ext>
          </c:extLst>
        </c:ser>
        <c:dLbls>
          <c:showLegendKey val="0"/>
          <c:showVal val="0"/>
          <c:showCatName val="0"/>
          <c:showSerName val="0"/>
          <c:showPercent val="0"/>
          <c:showBubbleSize val="0"/>
        </c:dLbls>
        <c:gapWidth val="219"/>
        <c:overlap val="-27"/>
        <c:axId val="523088456"/>
        <c:axId val="523092720"/>
        <c:extLst>
          <c:ext xmlns:c15="http://schemas.microsoft.com/office/drawing/2012/chart" uri="{02D57815-91ED-43cb-92C2-25804820EDAC}">
            <c15:filteredBarSeries>
              <c15:ser>
                <c:idx val="3"/>
                <c:order val="3"/>
                <c:tx>
                  <c:strRef>
                    <c:extLst>
                      <c:ext uri="{02D57815-91ED-43cb-92C2-25804820EDAC}">
                        <c15:formulaRef>
                          <c15:sqref>'shell 2'!$AM$2</c15:sqref>
                        </c15:formulaRef>
                      </c:ext>
                    </c:extLst>
                    <c:strCache>
                      <c:ptCount val="1"/>
                      <c:pt idx="0">
                        <c:v>Unknown/Missing</c:v>
                      </c:pt>
                    </c:strCache>
                  </c:strRef>
                </c:tx>
                <c:spPr>
                  <a:solidFill>
                    <a:schemeClr val="accent2">
                      <a:lumMod val="60000"/>
                    </a:schemeClr>
                  </a:solidFill>
                  <a:ln>
                    <a:noFill/>
                  </a:ln>
                  <a:effectLst/>
                </c:spPr>
                <c:invertIfNegative val="0"/>
                <c:errBars>
                  <c:errBarType val="both"/>
                  <c:errValType val="cust"/>
                  <c:noEndCap val="0"/>
                  <c:plus>
                    <c:numRef>
                      <c:extLst>
                        <c:ext uri="{02D57815-91ED-43cb-92C2-25804820EDAC}">
                          <c15:formulaRef>
                            <c15:sqref>'shell 2'!$AQ$3:$AQ$22</c15:sqref>
                          </c15:formulaRef>
                        </c:ext>
                      </c:extLst>
                      <c:numCache>
                        <c:formatCode>General</c:formatCode>
                        <c:ptCount val="15"/>
                        <c:pt idx="0">
                          <c:v>47</c:v>
                        </c:pt>
                        <c:pt idx="1">
                          <c:v>39</c:v>
                        </c:pt>
                        <c:pt idx="2">
                          <c:v>25</c:v>
                        </c:pt>
                        <c:pt idx="3">
                          <c:v>33</c:v>
                        </c:pt>
                        <c:pt idx="4">
                          <c:v>29</c:v>
                        </c:pt>
                        <c:pt idx="5">
                          <c:v>25</c:v>
                        </c:pt>
                        <c:pt idx="7">
                          <c:v>22</c:v>
                        </c:pt>
                        <c:pt idx="8">
                          <c:v>25</c:v>
                        </c:pt>
                        <c:pt idx="9">
                          <c:v>29</c:v>
                        </c:pt>
                        <c:pt idx="10">
                          <c:v>39</c:v>
                        </c:pt>
                        <c:pt idx="11">
                          <c:v>18</c:v>
                        </c:pt>
                        <c:pt idx="12">
                          <c:v>17</c:v>
                        </c:pt>
                        <c:pt idx="13">
                          <c:v>30</c:v>
                        </c:pt>
                        <c:pt idx="14">
                          <c:v>46</c:v>
                        </c:pt>
                      </c:numCache>
                    </c:numRef>
                  </c:plus>
                  <c:minus>
                    <c:numRef>
                      <c:extLst>
                        <c:ext uri="{02D57815-91ED-43cb-92C2-25804820EDAC}">
                          <c15:formulaRef>
                            <c15:sqref>'shell 2'!$AP$3:$AP$22</c15:sqref>
                          </c15:formulaRef>
                        </c:ext>
                      </c:extLst>
                      <c:numCache>
                        <c:formatCode>General</c:formatCode>
                        <c:ptCount val="15"/>
                        <c:pt idx="0">
                          <c:v>44</c:v>
                        </c:pt>
                        <c:pt idx="1">
                          <c:v>31</c:v>
                        </c:pt>
                        <c:pt idx="2">
                          <c:v>22</c:v>
                        </c:pt>
                        <c:pt idx="3">
                          <c:v>27</c:v>
                        </c:pt>
                        <c:pt idx="4">
                          <c:v>23</c:v>
                        </c:pt>
                        <c:pt idx="5">
                          <c:v>20</c:v>
                        </c:pt>
                        <c:pt idx="7">
                          <c:v>19</c:v>
                        </c:pt>
                        <c:pt idx="8">
                          <c:v>18</c:v>
                        </c:pt>
                        <c:pt idx="9">
                          <c:v>23</c:v>
                        </c:pt>
                        <c:pt idx="10">
                          <c:v>29</c:v>
                        </c:pt>
                        <c:pt idx="11">
                          <c:v>14</c:v>
                        </c:pt>
                        <c:pt idx="12">
                          <c:v>15</c:v>
                        </c:pt>
                        <c:pt idx="13">
                          <c:v>23</c:v>
                        </c:pt>
                        <c:pt idx="14">
                          <c:v>24</c:v>
                        </c:pt>
                      </c:numCache>
                    </c:numRef>
                  </c:minus>
                  <c:spPr>
                    <a:noFill/>
                    <a:ln w="9525" cap="flat" cmpd="sng" algn="ctr">
                      <a:solidFill>
                        <a:schemeClr val="tx1">
                          <a:lumMod val="65000"/>
                          <a:lumOff val="35000"/>
                        </a:schemeClr>
                      </a:solidFill>
                      <a:round/>
                    </a:ln>
                    <a:effectLst/>
                  </c:spPr>
                </c:errBars>
                <c:cat>
                  <c:strRef>
                    <c:extLst>
                      <c:ext uri="{02D57815-91ED-43cb-92C2-25804820EDAC}">
                        <c15:formulaRef>
                          <c15:sqref>'shell 2'!$T$3:$T$23</c15:sqref>
                        </c15:formulaRef>
                      </c:ext>
                    </c:extLst>
                    <c:strCache>
                      <c:ptCount val="15"/>
                      <c:pt idx="0">
                        <c:v>Manufacturing</c:v>
                      </c:pt>
                      <c:pt idx="1">
                        <c:v>Public Administration</c:v>
                      </c:pt>
                      <c:pt idx="2">
                        <c:v>Educational Services</c:v>
                      </c:pt>
                      <c:pt idx="3">
                        <c:v>Transportation and Warehousing</c:v>
                      </c:pt>
                      <c:pt idx="4">
                        <c:v>Accommodation and Food Services</c:v>
                      </c:pt>
                      <c:pt idx="5">
                        <c:v>Construction</c:v>
                      </c:pt>
                      <c:pt idx="6">
                        <c:v>Total Workforce</c:v>
                      </c:pt>
                      <c:pt idx="7">
                        <c:v>Retail Trade</c:v>
                      </c:pt>
                      <c:pt idx="8">
                        <c:v>Professional, Scientific, and Technical Services</c:v>
                      </c:pt>
                      <c:pt idx="9">
                        <c:v>Other Services (except Public Administration)</c:v>
                      </c:pt>
                      <c:pt idx="10">
                        <c:v>Administrative &amp; Support &amp; Waste Management &amp; Remediation Services</c:v>
                      </c:pt>
                      <c:pt idx="11">
                        <c:v>Finance and Insurance</c:v>
                      </c:pt>
                      <c:pt idx="12">
                        <c:v>Health Care and Social Assistance</c:v>
                      </c:pt>
                      <c:pt idx="13">
                        <c:v>Agriculture, Forestry, Fishing and Hunting</c:v>
                      </c:pt>
                      <c:pt idx="14">
                        <c:v>Information</c:v>
                      </c:pt>
                    </c:strCache>
                  </c:strRef>
                </c:cat>
                <c:val>
                  <c:numRef>
                    <c:extLst>
                      <c:ext uri="{02D57815-91ED-43cb-92C2-25804820EDAC}">
                        <c15:formulaRef>
                          <c15:sqref>'shell 2'!$AM$3:$AM$23</c15:sqref>
                        </c15:formulaRef>
                      </c:ext>
                    </c:extLst>
                    <c:numCache>
                      <c:formatCode>General</c:formatCode>
                      <c:ptCount val="15"/>
                      <c:pt idx="0">
                        <c:v>581</c:v>
                      </c:pt>
                      <c:pt idx="1">
                        <c:v>122</c:v>
                      </c:pt>
                      <c:pt idx="2">
                        <c:v>140</c:v>
                      </c:pt>
                      <c:pt idx="3">
                        <c:v>95</c:v>
                      </c:pt>
                      <c:pt idx="4">
                        <c:v>92</c:v>
                      </c:pt>
                      <c:pt idx="5">
                        <c:v>91</c:v>
                      </c:pt>
                      <c:pt idx="6" formatCode="0">
                        <c:v>144.35347426921675</c:v>
                      </c:pt>
                      <c:pt idx="7">
                        <c:v>111</c:v>
                      </c:pt>
                      <c:pt idx="8">
                        <c:v>50</c:v>
                      </c:pt>
                      <c:pt idx="9">
                        <c:v>75</c:v>
                      </c:pt>
                      <c:pt idx="10">
                        <c:v>93</c:v>
                      </c:pt>
                      <c:pt idx="11">
                        <c:v>41</c:v>
                      </c:pt>
                      <c:pt idx="12">
                        <c:v>98</c:v>
                      </c:pt>
                      <c:pt idx="13">
                        <c:v>75</c:v>
                      </c:pt>
                      <c:pt idx="14">
                        <c:v>35</c:v>
                      </c:pt>
                    </c:numCache>
                  </c:numRef>
                </c:val>
                <c:extLst>
                  <c:ext xmlns:c16="http://schemas.microsoft.com/office/drawing/2014/chart" uri="{C3380CC4-5D6E-409C-BE32-E72D297353CC}">
                    <c16:uniqueId val="{00000003-0607-45ED-8577-D2A1F6102EE1}"/>
                  </c:ext>
                </c:extLst>
              </c15:ser>
            </c15:filteredBarSeries>
          </c:ext>
        </c:extLst>
      </c:barChart>
      <c:catAx>
        <c:axId val="523088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523092720"/>
        <c:crosses val="autoZero"/>
        <c:auto val="1"/>
        <c:lblAlgn val="ctr"/>
        <c:lblOffset val="100"/>
        <c:noMultiLvlLbl val="0"/>
      </c:catAx>
      <c:valAx>
        <c:axId val="5230927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latin typeface="Arial" panose="020B0604020202020204" pitchFamily="34" charset="0"/>
                    <a:cs typeface="Arial" panose="020B0604020202020204" pitchFamily="34" charset="0"/>
                  </a:rPr>
                  <a:t>Rate per 100,000 Employed Workers</a:t>
                </a:r>
              </a:p>
            </c:rich>
          </c:tx>
          <c:layout>
            <c:manualLayout>
              <c:xMode val="edge"/>
              <c:yMode val="edge"/>
              <c:x val="1.1458333333333333E-2"/>
              <c:y val="9.0804677592679281E-2"/>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523088456"/>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Entry>
      <c:legendEntry>
        <c:idx val="1"/>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Entry>
      <c:legendEntry>
        <c:idx val="2"/>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Entry>
      <c:layout>
        <c:manualLayout>
          <c:xMode val="edge"/>
          <c:yMode val="edge"/>
          <c:x val="0.7921874179790025"/>
          <c:y val="0.12989767680835593"/>
          <c:w val="0.18072924868766405"/>
          <c:h val="0.12511218004411565"/>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sz="12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019639-8A48-4641-8CC2-8FA354B8ECB1}" type="doc">
      <dgm:prSet loTypeId="urn:microsoft.com/office/officeart/2005/8/layout/process2" loCatId="process" qsTypeId="urn:microsoft.com/office/officeart/2005/8/quickstyle/simple1" qsCatId="simple" csTypeId="urn:microsoft.com/office/officeart/2005/8/colors/accent0_3" csCatId="mainScheme" phldr="1"/>
      <dgm:spPr/>
      <dgm:t>
        <a:bodyPr/>
        <a:lstStyle/>
        <a:p>
          <a:endParaRPr lang="en-US"/>
        </a:p>
      </dgm:t>
    </dgm:pt>
    <dgm:pt modelId="{DEFFE3E5-9E38-462F-8209-F084A270EA9D}">
      <dgm:prSet phldrT="[Text]" custT="1"/>
      <dgm:spPr/>
      <dgm:t>
        <a:bodyPr/>
        <a:lstStyle/>
        <a:p>
          <a:r>
            <a:rPr lang="en-US" sz="2400" dirty="0">
              <a:solidFill>
                <a:schemeClr val="accent5"/>
              </a:solidFill>
              <a:latin typeface="Arial" panose="020B0604020202020204" pitchFamily="34" charset="0"/>
              <a:cs typeface="Arial" panose="020B0604020202020204" pitchFamily="34" charset="0"/>
            </a:rPr>
            <a:t>Contact tracing</a:t>
          </a:r>
        </a:p>
      </dgm:t>
    </dgm:pt>
    <dgm:pt modelId="{123F12AF-F866-43AF-8300-DF4199788E02}" type="parTrans" cxnId="{8998B17E-6B32-4C6C-BDED-3D2416E30A35}">
      <dgm:prSet/>
      <dgm:spPr/>
      <dgm:t>
        <a:bodyPr/>
        <a:lstStyle/>
        <a:p>
          <a:endParaRPr lang="en-US"/>
        </a:p>
      </dgm:t>
    </dgm:pt>
    <dgm:pt modelId="{E5A02656-43E4-4463-A35A-8EEA8E2BADCF}" type="sibTrans" cxnId="{8998B17E-6B32-4C6C-BDED-3D2416E30A35}">
      <dgm:prSet/>
      <dgm:spPr/>
      <dgm:t>
        <a:bodyPr/>
        <a:lstStyle/>
        <a:p>
          <a:endParaRPr lang="en-US"/>
        </a:p>
      </dgm:t>
    </dgm:pt>
    <dgm:pt modelId="{D6A4D553-E025-4DF8-B211-00E703EABF43}">
      <dgm:prSet phldrT="[Text]" custT="1"/>
      <dgm:spPr/>
      <dgm:t>
        <a:bodyPr/>
        <a:lstStyle/>
        <a:p>
          <a:r>
            <a:rPr lang="en-US" sz="1200" dirty="0">
              <a:latin typeface="Arial" panose="020B0604020202020204" pitchFamily="34" charset="0"/>
              <a:cs typeface="Arial" panose="020B0604020202020204" pitchFamily="34" charset="0"/>
            </a:rPr>
            <a:t>State and local contact tracers conducted case investigations for confirmed and probable COVID-19 cases via phone-based interviews.</a:t>
          </a:r>
        </a:p>
      </dgm:t>
    </dgm:pt>
    <dgm:pt modelId="{59BBAB9F-BB50-4F05-A515-E27D21EE7B8A}" type="parTrans" cxnId="{85941162-4969-46A8-8D60-E67DA9B2D319}">
      <dgm:prSet/>
      <dgm:spPr/>
      <dgm:t>
        <a:bodyPr/>
        <a:lstStyle/>
        <a:p>
          <a:endParaRPr lang="en-US"/>
        </a:p>
      </dgm:t>
    </dgm:pt>
    <dgm:pt modelId="{25323136-A741-4011-97BF-B7813CD6814E}" type="sibTrans" cxnId="{85941162-4969-46A8-8D60-E67DA9B2D319}">
      <dgm:prSet/>
      <dgm:spPr/>
      <dgm:t>
        <a:bodyPr/>
        <a:lstStyle/>
        <a:p>
          <a:endParaRPr lang="en-US"/>
        </a:p>
      </dgm:t>
    </dgm:pt>
    <dgm:pt modelId="{90978D8B-FF1F-4BF4-A267-60ECD5E26D78}">
      <dgm:prSet phldrT="[Text]" custT="1"/>
      <dgm:spPr/>
      <dgm:t>
        <a:bodyPr/>
        <a:lstStyle/>
        <a:p>
          <a:r>
            <a:rPr lang="en-US" sz="2400" dirty="0">
              <a:solidFill>
                <a:schemeClr val="accent5"/>
              </a:solidFill>
              <a:latin typeface="Arial" panose="020B0604020202020204" pitchFamily="34" charset="0"/>
              <a:cs typeface="Arial" panose="020B0604020202020204" pitchFamily="34" charset="0"/>
            </a:rPr>
            <a:t>Industry information collected &amp; coded</a:t>
          </a:r>
        </a:p>
      </dgm:t>
    </dgm:pt>
    <dgm:pt modelId="{C1FB25E7-6350-4501-A56F-B2C846E8BCC4}" type="parTrans" cxnId="{77A97A99-C2D0-4AC2-86B3-B56CEBF959BB}">
      <dgm:prSet/>
      <dgm:spPr/>
      <dgm:t>
        <a:bodyPr/>
        <a:lstStyle/>
        <a:p>
          <a:endParaRPr lang="en-US"/>
        </a:p>
      </dgm:t>
    </dgm:pt>
    <dgm:pt modelId="{CE1F73F9-8E6D-4B62-84EF-6E37EEFC93BB}" type="sibTrans" cxnId="{77A97A99-C2D0-4AC2-86B3-B56CEBF959BB}">
      <dgm:prSet/>
      <dgm:spPr/>
      <dgm:t>
        <a:bodyPr/>
        <a:lstStyle/>
        <a:p>
          <a:endParaRPr lang="en-US"/>
        </a:p>
      </dgm:t>
    </dgm:pt>
    <dgm:pt modelId="{9D9A678B-A202-4724-8F93-089506B8A6DF}">
      <dgm:prSet phldrT="[Text]" custT="1"/>
      <dgm:spPr/>
      <dgm:t>
        <a:bodyPr/>
        <a:lstStyle/>
        <a:p>
          <a:r>
            <a:rPr lang="en-US" sz="1200" dirty="0">
              <a:latin typeface="Arial" panose="020B0604020202020204" pitchFamily="34" charset="0"/>
              <a:cs typeface="Arial" panose="020B0604020202020204" pitchFamily="34" charset="0"/>
            </a:rPr>
            <a:t>Industry information was collected from employed cases</a:t>
          </a:r>
        </a:p>
      </dgm:t>
    </dgm:pt>
    <dgm:pt modelId="{FFA41C24-E9CC-4A87-A77D-2632E4208132}" type="parTrans" cxnId="{158D8AE2-FBB9-4531-82A8-C2A221318A01}">
      <dgm:prSet/>
      <dgm:spPr/>
      <dgm:t>
        <a:bodyPr/>
        <a:lstStyle/>
        <a:p>
          <a:endParaRPr lang="en-US"/>
        </a:p>
      </dgm:t>
    </dgm:pt>
    <dgm:pt modelId="{D89C76F2-C7B1-4091-829D-263EF9E5B15E}" type="sibTrans" cxnId="{158D8AE2-FBB9-4531-82A8-C2A221318A01}">
      <dgm:prSet/>
      <dgm:spPr/>
      <dgm:t>
        <a:bodyPr/>
        <a:lstStyle/>
        <a:p>
          <a:endParaRPr lang="en-US"/>
        </a:p>
      </dgm:t>
    </dgm:pt>
    <dgm:pt modelId="{AB9E672A-A9A8-4495-A7AC-7AC7890B5B99}">
      <dgm:prSet phldrT="[Text]" custT="1"/>
      <dgm:spPr/>
      <dgm:t>
        <a:bodyPr/>
        <a:lstStyle/>
        <a:p>
          <a:r>
            <a:rPr lang="en-US" sz="1200" dirty="0">
              <a:latin typeface="Arial" panose="020B0604020202020204" pitchFamily="34" charset="0"/>
              <a:cs typeface="Arial" panose="020B0604020202020204" pitchFamily="34" charset="0"/>
            </a:rPr>
            <a:t>Responses were coded using NIOSH NIOCCS and mapped to standard North American Industry Classification System (NAICS) codes</a:t>
          </a:r>
          <a:r>
            <a:rPr lang="en-US" sz="1200" baseline="30000" dirty="0">
              <a:latin typeface="Arial" panose="020B0604020202020204" pitchFamily="34" charset="0"/>
              <a:cs typeface="Arial" panose="020B0604020202020204" pitchFamily="34" charset="0"/>
            </a:rPr>
            <a:t>3</a:t>
          </a:r>
          <a:r>
            <a:rPr lang="en-US" sz="1200" dirty="0">
              <a:latin typeface="Arial" panose="020B0604020202020204" pitchFamily="34" charset="0"/>
              <a:cs typeface="Arial" panose="020B0604020202020204" pitchFamily="34" charset="0"/>
            </a:rPr>
            <a:t>. </a:t>
          </a:r>
        </a:p>
      </dgm:t>
    </dgm:pt>
    <dgm:pt modelId="{8AC24C52-E58E-4118-AC12-FC95443A713A}" type="parTrans" cxnId="{EB9E8A76-86FC-4A38-8831-AE6D78DE505F}">
      <dgm:prSet/>
      <dgm:spPr/>
      <dgm:t>
        <a:bodyPr/>
        <a:lstStyle/>
        <a:p>
          <a:endParaRPr lang="en-US"/>
        </a:p>
      </dgm:t>
    </dgm:pt>
    <dgm:pt modelId="{4D5C77BB-7F96-4368-9401-BBED41B7CD72}" type="sibTrans" cxnId="{EB9E8A76-86FC-4A38-8831-AE6D78DE505F}">
      <dgm:prSet/>
      <dgm:spPr/>
      <dgm:t>
        <a:bodyPr/>
        <a:lstStyle/>
        <a:p>
          <a:endParaRPr lang="en-US"/>
        </a:p>
      </dgm:t>
    </dgm:pt>
    <dgm:pt modelId="{85B6F0A5-5DB5-4510-ACB8-AC0ACE030695}">
      <dgm:prSet phldrT="[Text]" custT="1"/>
      <dgm:spPr/>
      <dgm:t>
        <a:bodyPr/>
        <a:lstStyle/>
        <a:p>
          <a:r>
            <a:rPr lang="en-US" sz="2400" dirty="0">
              <a:solidFill>
                <a:schemeClr val="accent5"/>
              </a:solidFill>
              <a:latin typeface="Arial" panose="020B0604020202020204" pitchFamily="34" charset="0"/>
              <a:cs typeface="Arial" panose="020B0604020202020204" pitchFamily="34" charset="0"/>
            </a:rPr>
            <a:t>Descriptive analysis</a:t>
          </a:r>
        </a:p>
      </dgm:t>
    </dgm:pt>
    <dgm:pt modelId="{843A2C9B-27C3-4CBC-9F0B-C36D93DF8450}" type="parTrans" cxnId="{271F8502-8E01-4EFF-8AB3-4CFBA593DB22}">
      <dgm:prSet/>
      <dgm:spPr/>
      <dgm:t>
        <a:bodyPr/>
        <a:lstStyle/>
        <a:p>
          <a:endParaRPr lang="en-US"/>
        </a:p>
      </dgm:t>
    </dgm:pt>
    <dgm:pt modelId="{AA8E290B-351C-4500-83F0-8D29F4BBD06B}" type="sibTrans" cxnId="{271F8502-8E01-4EFF-8AB3-4CFBA593DB22}">
      <dgm:prSet/>
      <dgm:spPr/>
      <dgm:t>
        <a:bodyPr/>
        <a:lstStyle/>
        <a:p>
          <a:endParaRPr lang="en-US"/>
        </a:p>
      </dgm:t>
    </dgm:pt>
    <dgm:pt modelId="{1817A5C2-3409-4BAA-A113-A9B101759CFE}">
      <dgm:prSet phldrT="[Text]" custT="1"/>
      <dgm:spPr/>
      <dgm:t>
        <a:bodyPr/>
        <a:lstStyle/>
        <a:p>
          <a:r>
            <a:rPr lang="en-US" sz="1200" dirty="0">
              <a:latin typeface="Arial" panose="020B0604020202020204" pitchFamily="34" charset="0"/>
              <a:cs typeface="Arial" panose="020B0604020202020204" pitchFamily="34" charset="0"/>
            </a:rPr>
            <a:t>Analysis was done using SAS and R to calculate distribution and rates.</a:t>
          </a:r>
        </a:p>
      </dgm:t>
    </dgm:pt>
    <dgm:pt modelId="{475A091C-6829-4666-A2A3-ADE2A37E6261}" type="parTrans" cxnId="{3172DC18-AF2B-467A-A8CE-5B02A10EB2D0}">
      <dgm:prSet/>
      <dgm:spPr/>
      <dgm:t>
        <a:bodyPr/>
        <a:lstStyle/>
        <a:p>
          <a:endParaRPr lang="en-US"/>
        </a:p>
      </dgm:t>
    </dgm:pt>
    <dgm:pt modelId="{C1EE90F5-5CD7-4ADB-8C24-B8498A98DA77}" type="sibTrans" cxnId="{3172DC18-AF2B-467A-A8CE-5B02A10EB2D0}">
      <dgm:prSet/>
      <dgm:spPr/>
      <dgm:t>
        <a:bodyPr/>
        <a:lstStyle/>
        <a:p>
          <a:endParaRPr lang="en-US"/>
        </a:p>
      </dgm:t>
    </dgm:pt>
    <dgm:pt modelId="{1E8B5667-D102-4C9F-BA21-AE5FDE14BF3A}">
      <dgm:prSet phldrT="[Text]" custT="1"/>
      <dgm:spPr/>
      <dgm:t>
        <a:bodyPr/>
        <a:lstStyle/>
        <a:p>
          <a:r>
            <a:rPr lang="en-US" sz="1200" dirty="0">
              <a:latin typeface="Arial" panose="020B0604020202020204" pitchFamily="34" charset="0"/>
              <a:cs typeface="Arial" panose="020B0604020202020204" pitchFamily="34" charset="0"/>
            </a:rPr>
            <a:t>ACS PUMS used for sector denominators and overall workforce total.</a:t>
          </a:r>
        </a:p>
      </dgm:t>
    </dgm:pt>
    <dgm:pt modelId="{4D2AF7AC-6DC8-422B-9848-F07367C8CC17}" type="parTrans" cxnId="{A4C14E0F-C110-4CA1-90E4-DE8C5F3BFA03}">
      <dgm:prSet/>
      <dgm:spPr/>
      <dgm:t>
        <a:bodyPr/>
        <a:lstStyle/>
        <a:p>
          <a:endParaRPr lang="en-US"/>
        </a:p>
      </dgm:t>
    </dgm:pt>
    <dgm:pt modelId="{5A50EF26-9070-4573-9863-0663545C4647}" type="sibTrans" cxnId="{A4C14E0F-C110-4CA1-90E4-DE8C5F3BFA03}">
      <dgm:prSet/>
      <dgm:spPr/>
      <dgm:t>
        <a:bodyPr/>
        <a:lstStyle/>
        <a:p>
          <a:endParaRPr lang="en-US"/>
        </a:p>
      </dgm:t>
    </dgm:pt>
    <dgm:pt modelId="{612A1C47-6A52-469E-83DC-FA3A88614525}" type="pres">
      <dgm:prSet presAssocID="{5C019639-8A48-4641-8CC2-8FA354B8ECB1}" presName="linearFlow" presStyleCnt="0">
        <dgm:presLayoutVars>
          <dgm:resizeHandles val="exact"/>
        </dgm:presLayoutVars>
      </dgm:prSet>
      <dgm:spPr/>
    </dgm:pt>
    <dgm:pt modelId="{15B43BCE-8A9F-4BA2-98A1-AAE42BECB393}" type="pres">
      <dgm:prSet presAssocID="{DEFFE3E5-9E38-462F-8209-F084A270EA9D}" presName="node" presStyleLbl="node1" presStyleIdx="0" presStyleCnt="3">
        <dgm:presLayoutVars>
          <dgm:bulletEnabled val="1"/>
        </dgm:presLayoutVars>
      </dgm:prSet>
      <dgm:spPr/>
    </dgm:pt>
    <dgm:pt modelId="{C199F57B-F49C-46C9-85AE-980C67FFCEDF}" type="pres">
      <dgm:prSet presAssocID="{E5A02656-43E4-4463-A35A-8EEA8E2BADCF}" presName="sibTrans" presStyleLbl="sibTrans2D1" presStyleIdx="0" presStyleCnt="2"/>
      <dgm:spPr/>
    </dgm:pt>
    <dgm:pt modelId="{7C4AE56B-E4B8-44C7-BA73-7773200A3F99}" type="pres">
      <dgm:prSet presAssocID="{E5A02656-43E4-4463-A35A-8EEA8E2BADCF}" presName="connectorText" presStyleLbl="sibTrans2D1" presStyleIdx="0" presStyleCnt="2"/>
      <dgm:spPr/>
    </dgm:pt>
    <dgm:pt modelId="{0093AD8B-A451-4D29-A8AB-CBB6C08AF7F2}" type="pres">
      <dgm:prSet presAssocID="{90978D8B-FF1F-4BF4-A267-60ECD5E26D78}" presName="node" presStyleLbl="node1" presStyleIdx="1" presStyleCnt="3" custScaleY="146327">
        <dgm:presLayoutVars>
          <dgm:bulletEnabled val="1"/>
        </dgm:presLayoutVars>
      </dgm:prSet>
      <dgm:spPr/>
    </dgm:pt>
    <dgm:pt modelId="{7164C0BD-3407-4668-92D6-C4153A9276F9}" type="pres">
      <dgm:prSet presAssocID="{CE1F73F9-8E6D-4B62-84EF-6E37EEFC93BB}" presName="sibTrans" presStyleLbl="sibTrans2D1" presStyleIdx="1" presStyleCnt="2"/>
      <dgm:spPr/>
    </dgm:pt>
    <dgm:pt modelId="{C88EDFE1-E1E8-4D98-ABCF-1225D4BF3ED8}" type="pres">
      <dgm:prSet presAssocID="{CE1F73F9-8E6D-4B62-84EF-6E37EEFC93BB}" presName="connectorText" presStyleLbl="sibTrans2D1" presStyleIdx="1" presStyleCnt="2"/>
      <dgm:spPr/>
    </dgm:pt>
    <dgm:pt modelId="{141743C7-6E99-42C5-871B-D07C033AB781}" type="pres">
      <dgm:prSet presAssocID="{85B6F0A5-5DB5-4510-ACB8-AC0ACE030695}" presName="node" presStyleLbl="node1" presStyleIdx="2" presStyleCnt="3">
        <dgm:presLayoutVars>
          <dgm:bulletEnabled val="1"/>
        </dgm:presLayoutVars>
      </dgm:prSet>
      <dgm:spPr/>
    </dgm:pt>
  </dgm:ptLst>
  <dgm:cxnLst>
    <dgm:cxn modelId="{271F8502-8E01-4EFF-8AB3-4CFBA593DB22}" srcId="{5C019639-8A48-4641-8CC2-8FA354B8ECB1}" destId="{85B6F0A5-5DB5-4510-ACB8-AC0ACE030695}" srcOrd="2" destOrd="0" parTransId="{843A2C9B-27C3-4CBC-9F0B-C36D93DF8450}" sibTransId="{AA8E290B-351C-4500-83F0-8D29F4BBD06B}"/>
    <dgm:cxn modelId="{21A62F0E-B62A-4B52-AE09-E57B9F319A4F}" type="presOf" srcId="{1E8B5667-D102-4C9F-BA21-AE5FDE14BF3A}" destId="{0093AD8B-A451-4D29-A8AB-CBB6C08AF7F2}" srcOrd="0" destOrd="3" presId="urn:microsoft.com/office/officeart/2005/8/layout/process2"/>
    <dgm:cxn modelId="{A4C14E0F-C110-4CA1-90E4-DE8C5F3BFA03}" srcId="{90978D8B-FF1F-4BF4-A267-60ECD5E26D78}" destId="{1E8B5667-D102-4C9F-BA21-AE5FDE14BF3A}" srcOrd="2" destOrd="0" parTransId="{4D2AF7AC-6DC8-422B-9848-F07367C8CC17}" sibTransId="{5A50EF26-9070-4573-9863-0663545C4647}"/>
    <dgm:cxn modelId="{C7A2DE13-D416-43BE-96BC-F40B4A4D689C}" type="presOf" srcId="{1817A5C2-3409-4BAA-A113-A9B101759CFE}" destId="{141743C7-6E99-42C5-871B-D07C033AB781}" srcOrd="0" destOrd="1" presId="urn:microsoft.com/office/officeart/2005/8/layout/process2"/>
    <dgm:cxn modelId="{3172DC18-AF2B-467A-A8CE-5B02A10EB2D0}" srcId="{85B6F0A5-5DB5-4510-ACB8-AC0ACE030695}" destId="{1817A5C2-3409-4BAA-A113-A9B101759CFE}" srcOrd="0" destOrd="0" parTransId="{475A091C-6829-4666-A2A3-ADE2A37E6261}" sibTransId="{C1EE90F5-5CD7-4ADB-8C24-B8498A98DA77}"/>
    <dgm:cxn modelId="{AD240B1A-B9AD-4E7E-B85D-CF1B85CD71E7}" type="presOf" srcId="{E5A02656-43E4-4463-A35A-8EEA8E2BADCF}" destId="{7C4AE56B-E4B8-44C7-BA73-7773200A3F99}" srcOrd="1" destOrd="0" presId="urn:microsoft.com/office/officeart/2005/8/layout/process2"/>
    <dgm:cxn modelId="{2DC6891F-93DE-43C8-B7C9-662F46A7D0A4}" type="presOf" srcId="{DEFFE3E5-9E38-462F-8209-F084A270EA9D}" destId="{15B43BCE-8A9F-4BA2-98A1-AAE42BECB393}" srcOrd="0" destOrd="0" presId="urn:microsoft.com/office/officeart/2005/8/layout/process2"/>
    <dgm:cxn modelId="{5369B037-2347-46B6-840F-712F5242738A}" type="presOf" srcId="{E5A02656-43E4-4463-A35A-8EEA8E2BADCF}" destId="{C199F57B-F49C-46C9-85AE-980C67FFCEDF}" srcOrd="0" destOrd="0" presId="urn:microsoft.com/office/officeart/2005/8/layout/process2"/>
    <dgm:cxn modelId="{85941162-4969-46A8-8D60-E67DA9B2D319}" srcId="{DEFFE3E5-9E38-462F-8209-F084A270EA9D}" destId="{D6A4D553-E025-4DF8-B211-00E703EABF43}" srcOrd="0" destOrd="0" parTransId="{59BBAB9F-BB50-4F05-A515-E27D21EE7B8A}" sibTransId="{25323136-A741-4011-97BF-B7813CD6814E}"/>
    <dgm:cxn modelId="{B5FFD162-37BA-4587-BF1A-3D40B73B81BC}" type="presOf" srcId="{D6A4D553-E025-4DF8-B211-00E703EABF43}" destId="{15B43BCE-8A9F-4BA2-98A1-AAE42BECB393}" srcOrd="0" destOrd="1" presId="urn:microsoft.com/office/officeart/2005/8/layout/process2"/>
    <dgm:cxn modelId="{AD36DA64-0EF9-4B1A-9BAA-9ADD99EE98B9}" type="presOf" srcId="{9D9A678B-A202-4724-8F93-089506B8A6DF}" destId="{0093AD8B-A451-4D29-A8AB-CBB6C08AF7F2}" srcOrd="0" destOrd="1" presId="urn:microsoft.com/office/officeart/2005/8/layout/process2"/>
    <dgm:cxn modelId="{E56B3C6F-9E0D-46B2-8402-A72353F731A9}" type="presOf" srcId="{5C019639-8A48-4641-8CC2-8FA354B8ECB1}" destId="{612A1C47-6A52-469E-83DC-FA3A88614525}" srcOrd="0" destOrd="0" presId="urn:microsoft.com/office/officeart/2005/8/layout/process2"/>
    <dgm:cxn modelId="{FF401170-DE2E-4C0C-A506-F50B0DE3CC91}" type="presOf" srcId="{90978D8B-FF1F-4BF4-A267-60ECD5E26D78}" destId="{0093AD8B-A451-4D29-A8AB-CBB6C08AF7F2}" srcOrd="0" destOrd="0" presId="urn:microsoft.com/office/officeart/2005/8/layout/process2"/>
    <dgm:cxn modelId="{EB9E8A76-86FC-4A38-8831-AE6D78DE505F}" srcId="{90978D8B-FF1F-4BF4-A267-60ECD5E26D78}" destId="{AB9E672A-A9A8-4495-A7AC-7AC7890B5B99}" srcOrd="1" destOrd="0" parTransId="{8AC24C52-E58E-4118-AC12-FC95443A713A}" sibTransId="{4D5C77BB-7F96-4368-9401-BBED41B7CD72}"/>
    <dgm:cxn modelId="{8998B17E-6B32-4C6C-BDED-3D2416E30A35}" srcId="{5C019639-8A48-4641-8CC2-8FA354B8ECB1}" destId="{DEFFE3E5-9E38-462F-8209-F084A270EA9D}" srcOrd="0" destOrd="0" parTransId="{123F12AF-F866-43AF-8300-DF4199788E02}" sibTransId="{E5A02656-43E4-4463-A35A-8EEA8E2BADCF}"/>
    <dgm:cxn modelId="{77A97A99-C2D0-4AC2-86B3-B56CEBF959BB}" srcId="{5C019639-8A48-4641-8CC2-8FA354B8ECB1}" destId="{90978D8B-FF1F-4BF4-A267-60ECD5E26D78}" srcOrd="1" destOrd="0" parTransId="{C1FB25E7-6350-4501-A56F-B2C846E8BCC4}" sibTransId="{CE1F73F9-8E6D-4B62-84EF-6E37EEFC93BB}"/>
    <dgm:cxn modelId="{21A8DFAA-94D6-41B8-BBAC-5E524B3669DA}" type="presOf" srcId="{AB9E672A-A9A8-4495-A7AC-7AC7890B5B99}" destId="{0093AD8B-A451-4D29-A8AB-CBB6C08AF7F2}" srcOrd="0" destOrd="2" presId="urn:microsoft.com/office/officeart/2005/8/layout/process2"/>
    <dgm:cxn modelId="{A552E9AB-3D8E-4B71-9580-0BAADE52F331}" type="presOf" srcId="{85B6F0A5-5DB5-4510-ACB8-AC0ACE030695}" destId="{141743C7-6E99-42C5-871B-D07C033AB781}" srcOrd="0" destOrd="0" presId="urn:microsoft.com/office/officeart/2005/8/layout/process2"/>
    <dgm:cxn modelId="{158D8AE2-FBB9-4531-82A8-C2A221318A01}" srcId="{90978D8B-FF1F-4BF4-A267-60ECD5E26D78}" destId="{9D9A678B-A202-4724-8F93-089506B8A6DF}" srcOrd="0" destOrd="0" parTransId="{FFA41C24-E9CC-4A87-A77D-2632E4208132}" sibTransId="{D89C76F2-C7B1-4091-829D-263EF9E5B15E}"/>
    <dgm:cxn modelId="{7040EFEE-C40E-45B4-8709-C53B7AE09A98}" type="presOf" srcId="{CE1F73F9-8E6D-4B62-84EF-6E37EEFC93BB}" destId="{7164C0BD-3407-4668-92D6-C4153A9276F9}" srcOrd="0" destOrd="0" presId="urn:microsoft.com/office/officeart/2005/8/layout/process2"/>
    <dgm:cxn modelId="{7BE813F6-1857-416F-92AF-BED8F07D826D}" type="presOf" srcId="{CE1F73F9-8E6D-4B62-84EF-6E37EEFC93BB}" destId="{C88EDFE1-E1E8-4D98-ABCF-1225D4BF3ED8}" srcOrd="1" destOrd="0" presId="urn:microsoft.com/office/officeart/2005/8/layout/process2"/>
    <dgm:cxn modelId="{3008204B-F247-4CA6-A191-EC72E2558C8E}" type="presParOf" srcId="{612A1C47-6A52-469E-83DC-FA3A88614525}" destId="{15B43BCE-8A9F-4BA2-98A1-AAE42BECB393}" srcOrd="0" destOrd="0" presId="urn:microsoft.com/office/officeart/2005/8/layout/process2"/>
    <dgm:cxn modelId="{994B8E12-508D-49CD-A361-6B972646F5DD}" type="presParOf" srcId="{612A1C47-6A52-469E-83DC-FA3A88614525}" destId="{C199F57B-F49C-46C9-85AE-980C67FFCEDF}" srcOrd="1" destOrd="0" presId="urn:microsoft.com/office/officeart/2005/8/layout/process2"/>
    <dgm:cxn modelId="{91BA057B-DF9D-4278-8F48-975E2438FFF8}" type="presParOf" srcId="{C199F57B-F49C-46C9-85AE-980C67FFCEDF}" destId="{7C4AE56B-E4B8-44C7-BA73-7773200A3F99}" srcOrd="0" destOrd="0" presId="urn:microsoft.com/office/officeart/2005/8/layout/process2"/>
    <dgm:cxn modelId="{222DA743-2609-4EF5-861D-C0C934414AB3}" type="presParOf" srcId="{612A1C47-6A52-469E-83DC-FA3A88614525}" destId="{0093AD8B-A451-4D29-A8AB-CBB6C08AF7F2}" srcOrd="2" destOrd="0" presId="urn:microsoft.com/office/officeart/2005/8/layout/process2"/>
    <dgm:cxn modelId="{58A65D5A-804C-48BF-B811-F4ABF0499716}" type="presParOf" srcId="{612A1C47-6A52-469E-83DC-FA3A88614525}" destId="{7164C0BD-3407-4668-92D6-C4153A9276F9}" srcOrd="3" destOrd="0" presId="urn:microsoft.com/office/officeart/2005/8/layout/process2"/>
    <dgm:cxn modelId="{457DC21E-FB4F-4023-B3A8-4EA94E46AFBC}" type="presParOf" srcId="{7164C0BD-3407-4668-92D6-C4153A9276F9}" destId="{C88EDFE1-E1E8-4D98-ABCF-1225D4BF3ED8}" srcOrd="0" destOrd="0" presId="urn:microsoft.com/office/officeart/2005/8/layout/process2"/>
    <dgm:cxn modelId="{80CAD2EC-3B63-4940-B52E-7894452B39DF}" type="presParOf" srcId="{612A1C47-6A52-469E-83DC-FA3A88614525}" destId="{141743C7-6E99-42C5-871B-D07C033AB781}"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B43BCE-8A9F-4BA2-98A1-AAE42BECB393}">
      <dsp:nvSpPr>
        <dsp:cNvPr id="0" name=""/>
        <dsp:cNvSpPr/>
      </dsp:nvSpPr>
      <dsp:spPr>
        <a:xfrm>
          <a:off x="117908" y="5079"/>
          <a:ext cx="5185699" cy="12964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accent5"/>
              </a:solidFill>
              <a:latin typeface="Arial" panose="020B0604020202020204" pitchFamily="34" charset="0"/>
              <a:cs typeface="Arial" panose="020B0604020202020204" pitchFamily="34" charset="0"/>
            </a:rPr>
            <a:t>Contact tracing</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State and local contact tracers conducted case investigations for confirmed and probable COVID-19 cases via phone-based interviews.</a:t>
          </a:r>
        </a:p>
      </dsp:txBody>
      <dsp:txXfrm>
        <a:off x="155879" y="43050"/>
        <a:ext cx="5109757" cy="1220482"/>
      </dsp:txXfrm>
    </dsp:sp>
    <dsp:sp modelId="{C199F57B-F49C-46C9-85AE-980C67FFCEDF}">
      <dsp:nvSpPr>
        <dsp:cNvPr id="0" name=""/>
        <dsp:cNvSpPr/>
      </dsp:nvSpPr>
      <dsp:spPr>
        <a:xfrm rot="5400000">
          <a:off x="2467678" y="1333914"/>
          <a:ext cx="486159" cy="58339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5400000">
        <a:off x="2535740" y="1382530"/>
        <a:ext cx="350035" cy="340311"/>
      </dsp:txXfrm>
    </dsp:sp>
    <dsp:sp modelId="{0093AD8B-A451-4D29-A8AB-CBB6C08AF7F2}">
      <dsp:nvSpPr>
        <dsp:cNvPr id="0" name=""/>
        <dsp:cNvSpPr/>
      </dsp:nvSpPr>
      <dsp:spPr>
        <a:xfrm>
          <a:off x="117908" y="1949716"/>
          <a:ext cx="5185699" cy="1897019"/>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accent5"/>
              </a:solidFill>
              <a:latin typeface="Arial" panose="020B0604020202020204" pitchFamily="34" charset="0"/>
              <a:cs typeface="Arial" panose="020B0604020202020204" pitchFamily="34" charset="0"/>
            </a:rPr>
            <a:t>Industry information collected &amp; coded</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Industry information was collected from employed cases</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Responses were coded using NIOSH NIOCCS and mapped to standard North American Industry Classification System (NAICS) codes</a:t>
          </a:r>
          <a:r>
            <a:rPr lang="en-US" sz="1200" kern="1200" baseline="30000" dirty="0">
              <a:latin typeface="Arial" panose="020B0604020202020204" pitchFamily="34" charset="0"/>
              <a:cs typeface="Arial" panose="020B0604020202020204" pitchFamily="34" charset="0"/>
            </a:rPr>
            <a:t>3</a:t>
          </a:r>
          <a:r>
            <a:rPr lang="en-US" sz="1200" kern="1200" dirty="0">
              <a:latin typeface="Arial" panose="020B0604020202020204" pitchFamily="34" charset="0"/>
              <a:cs typeface="Arial" panose="020B0604020202020204" pitchFamily="34" charset="0"/>
            </a:rPr>
            <a:t>. </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ACS PUMS used for sector denominators and overall workforce total.</a:t>
          </a:r>
        </a:p>
      </dsp:txBody>
      <dsp:txXfrm>
        <a:off x="173470" y="2005278"/>
        <a:ext cx="5074575" cy="1785895"/>
      </dsp:txXfrm>
    </dsp:sp>
    <dsp:sp modelId="{7164C0BD-3407-4668-92D6-C4153A9276F9}">
      <dsp:nvSpPr>
        <dsp:cNvPr id="0" name=""/>
        <dsp:cNvSpPr/>
      </dsp:nvSpPr>
      <dsp:spPr>
        <a:xfrm rot="5400000">
          <a:off x="2467678" y="3879146"/>
          <a:ext cx="486159" cy="58339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5400000">
        <a:off x="2535740" y="3927762"/>
        <a:ext cx="350035" cy="340311"/>
      </dsp:txXfrm>
    </dsp:sp>
    <dsp:sp modelId="{141743C7-6E99-42C5-871B-D07C033AB781}">
      <dsp:nvSpPr>
        <dsp:cNvPr id="0" name=""/>
        <dsp:cNvSpPr/>
      </dsp:nvSpPr>
      <dsp:spPr>
        <a:xfrm>
          <a:off x="117908" y="4494948"/>
          <a:ext cx="5185699" cy="129642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accent5"/>
              </a:solidFill>
              <a:latin typeface="Arial" panose="020B0604020202020204" pitchFamily="34" charset="0"/>
              <a:cs typeface="Arial" panose="020B0604020202020204" pitchFamily="34" charset="0"/>
            </a:rPr>
            <a:t>Descriptive analysis</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Analysis was done using SAS and R to calculate distribution and rates.</a:t>
          </a:r>
        </a:p>
      </dsp:txBody>
      <dsp:txXfrm>
        <a:off x="155879" y="4532919"/>
        <a:ext cx="5109757" cy="1220482"/>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0.26724</cdr:x>
      <cdr:y>0.95653</cdr:y>
    </cdr:from>
    <cdr:to>
      <cdr:x>0.50134</cdr:x>
      <cdr:y>0.98978</cdr:y>
    </cdr:to>
    <cdr:sp macro="" textlink="">
      <cdr:nvSpPr>
        <cdr:cNvPr id="2" name="TextBox 1"/>
        <cdr:cNvSpPr txBox="1"/>
      </cdr:nvSpPr>
      <cdr:spPr>
        <a:xfrm xmlns:a="http://schemas.openxmlformats.org/drawingml/2006/main">
          <a:off x="2381249" y="6029325"/>
          <a:ext cx="2085975" cy="20955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6"/>
            <a:ext cx="3037840" cy="463059"/>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938" y="6"/>
            <a:ext cx="3037840" cy="463059"/>
          </a:xfrm>
          <a:prstGeom prst="rect">
            <a:avLst/>
          </a:prstGeom>
        </p:spPr>
        <p:txBody>
          <a:bodyPr vert="horz" lIns="91440" tIns="45720" rIns="91440" bIns="45720" rtlCol="0"/>
          <a:lstStyle>
            <a:lvl1pPr algn="r">
              <a:defRPr sz="1200"/>
            </a:lvl1pPr>
          </a:lstStyle>
          <a:p>
            <a:fld id="{FA0657D6-E5BC-4EEE-9B53-1F84CEA62985}" type="datetimeFigureOut">
              <a:rPr lang="en-US" smtClean="0"/>
              <a:t>10/21/2021</a:t>
            </a:fld>
            <a:endParaRPr lang="en-US"/>
          </a:p>
        </p:txBody>
      </p:sp>
      <p:sp>
        <p:nvSpPr>
          <p:cNvPr id="4" name="Footer Placeholder 3"/>
          <p:cNvSpPr>
            <a:spLocks noGrp="1"/>
          </p:cNvSpPr>
          <p:nvPr>
            <p:ph type="ftr" sz="quarter" idx="2"/>
          </p:nvPr>
        </p:nvSpPr>
        <p:spPr>
          <a:xfrm>
            <a:off x="0" y="8760319"/>
            <a:ext cx="3037840" cy="463059"/>
          </a:xfrm>
          <a:prstGeom prst="rect">
            <a:avLst/>
          </a:prstGeom>
        </p:spPr>
        <p:txBody>
          <a:bodyPr vert="horz" lIns="91440" tIns="45720" rIns="91440" bIns="45720" rtlCol="0" anchor="b"/>
          <a:lstStyle>
            <a:lvl1pPr algn="l">
              <a:defRPr sz="1200"/>
            </a:lvl1pPr>
          </a:lstStyle>
          <a:p>
            <a:r>
              <a:rPr lang="en-US"/>
              <a:t>Helping People Live better Lives.</a:t>
            </a:r>
          </a:p>
        </p:txBody>
      </p:sp>
      <p:sp>
        <p:nvSpPr>
          <p:cNvPr id="5" name="Slide Number Placeholder 4"/>
          <p:cNvSpPr>
            <a:spLocks noGrp="1"/>
          </p:cNvSpPr>
          <p:nvPr>
            <p:ph type="sldNum" sz="quarter" idx="3"/>
          </p:nvPr>
        </p:nvSpPr>
        <p:spPr>
          <a:xfrm>
            <a:off x="3970938" y="8760319"/>
            <a:ext cx="3037840" cy="463059"/>
          </a:xfrm>
          <a:prstGeom prst="rect">
            <a:avLst/>
          </a:prstGeom>
        </p:spPr>
        <p:txBody>
          <a:bodyPr vert="horz" lIns="91440" tIns="45720" rIns="91440" bIns="45720" rtlCol="0" anchor="b"/>
          <a:lstStyle>
            <a:lvl1pPr algn="r">
              <a:defRPr sz="1200"/>
            </a:lvl1pPr>
          </a:lstStyle>
          <a:p>
            <a:fld id="{CE2D82DA-5D93-4F01-ABBC-625518272C17}" type="slidenum">
              <a:rPr lang="en-US" smtClean="0"/>
              <a:t>‹#›</a:t>
            </a:fld>
            <a:endParaRPr lang="en-US"/>
          </a:p>
        </p:txBody>
      </p:sp>
    </p:spTree>
    <p:extLst>
      <p:ext uri="{BB962C8B-B14F-4D97-AF65-F5344CB8AC3E}">
        <p14:creationId xmlns:p14="http://schemas.microsoft.com/office/powerpoint/2010/main" val="196309650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2"/>
            <a:ext cx="3038475" cy="4619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44" y="2"/>
            <a:ext cx="3038475" cy="461963"/>
          </a:xfrm>
          <a:prstGeom prst="rect">
            <a:avLst/>
          </a:prstGeom>
        </p:spPr>
        <p:txBody>
          <a:bodyPr vert="horz" lIns="91440" tIns="45720" rIns="91440" bIns="45720" rtlCol="0"/>
          <a:lstStyle>
            <a:lvl1pPr algn="r">
              <a:defRPr sz="1200"/>
            </a:lvl1pPr>
          </a:lstStyle>
          <a:p>
            <a:fld id="{CD473510-9A33-4C2D-814F-062FEB88BA13}" type="datetimeFigureOut">
              <a:rPr lang="en-US" smtClean="0"/>
              <a:t>10/21/2021</a:t>
            </a:fld>
            <a:endParaRPr lang="en-US"/>
          </a:p>
        </p:txBody>
      </p:sp>
      <p:sp>
        <p:nvSpPr>
          <p:cNvPr id="4" name="Slide Image Placeholder 3"/>
          <p:cNvSpPr>
            <a:spLocks noGrp="1" noRot="1" noChangeAspect="1"/>
          </p:cNvSpPr>
          <p:nvPr>
            <p:ph type="sldImg" idx="2"/>
          </p:nvPr>
        </p:nvSpPr>
        <p:spPr>
          <a:xfrm>
            <a:off x="738188" y="1152525"/>
            <a:ext cx="5534025" cy="3113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38650"/>
            <a:ext cx="5607050" cy="36322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8761413"/>
            <a:ext cx="3038475" cy="461962"/>
          </a:xfrm>
          <a:prstGeom prst="rect">
            <a:avLst/>
          </a:prstGeom>
        </p:spPr>
        <p:txBody>
          <a:bodyPr vert="horz" lIns="91440" tIns="45720" rIns="91440" bIns="45720" rtlCol="0" anchor="b"/>
          <a:lstStyle>
            <a:lvl1pPr algn="l">
              <a:defRPr sz="1200"/>
            </a:lvl1pPr>
          </a:lstStyle>
          <a:p>
            <a:r>
              <a:rPr lang="en-US"/>
              <a:t>Helping People Live better Lives.</a:t>
            </a:r>
          </a:p>
        </p:txBody>
      </p:sp>
      <p:sp>
        <p:nvSpPr>
          <p:cNvPr id="7" name="Slide Number Placeholder 6"/>
          <p:cNvSpPr>
            <a:spLocks noGrp="1"/>
          </p:cNvSpPr>
          <p:nvPr>
            <p:ph type="sldNum" sz="quarter" idx="5"/>
          </p:nvPr>
        </p:nvSpPr>
        <p:spPr>
          <a:xfrm>
            <a:off x="3970344" y="8761413"/>
            <a:ext cx="3038475" cy="461962"/>
          </a:xfrm>
          <a:prstGeom prst="rect">
            <a:avLst/>
          </a:prstGeom>
        </p:spPr>
        <p:txBody>
          <a:bodyPr vert="horz" lIns="91440" tIns="45720" rIns="91440" bIns="45720" rtlCol="0" anchor="b"/>
          <a:lstStyle>
            <a:lvl1pPr algn="r">
              <a:defRPr sz="1200"/>
            </a:lvl1pPr>
          </a:lstStyle>
          <a:p>
            <a:fld id="{A06937D5-D888-482B-A8AA-31593E913E0B}" type="slidenum">
              <a:rPr lang="en-US" smtClean="0"/>
              <a:t>‹#›</a:t>
            </a:fld>
            <a:endParaRPr lang="en-US"/>
          </a:p>
        </p:txBody>
      </p:sp>
    </p:spTree>
    <p:extLst>
      <p:ext uri="{BB962C8B-B14F-4D97-AF65-F5344CB8AC3E}">
        <p14:creationId xmlns:p14="http://schemas.microsoft.com/office/powerpoint/2010/main" val="418233189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Hello, thank you for attending my poster session. I’m Chris Austin and I am an MPH student at the University of Nebraska Medical Center and Graduate Assistant at Nebraska Department of Health and Human Services in the Division of Public Health. Today I am going to present preliminary data describing the distribution of Nebraska’s COVID-19 Cases by Industry Sector, in 2020. </a:t>
            </a:r>
          </a:p>
        </p:txBody>
      </p:sp>
      <p:sp>
        <p:nvSpPr>
          <p:cNvPr id="4" name="Footer Placeholder 3"/>
          <p:cNvSpPr>
            <a:spLocks noGrp="1"/>
          </p:cNvSpPr>
          <p:nvPr>
            <p:ph type="ftr" sz="quarter" idx="10"/>
          </p:nvPr>
        </p:nvSpPr>
        <p:spPr/>
        <p:txBody>
          <a:bodyPr/>
          <a:lstStyle/>
          <a:p>
            <a:r>
              <a:rPr lang="en-US" dirty="0"/>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1</a:t>
            </a:fld>
            <a:endParaRPr lang="en-US" dirty="0"/>
          </a:p>
        </p:txBody>
      </p:sp>
    </p:spTree>
    <p:extLst>
      <p:ext uri="{BB962C8B-B14F-4D97-AF65-F5344CB8AC3E}">
        <p14:creationId xmlns:p14="http://schemas.microsoft.com/office/powerpoint/2010/main" val="1302733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found was that…</a:t>
            </a:r>
          </a:p>
          <a:p>
            <a:endParaRPr lang="en-US" dirty="0"/>
          </a:p>
          <a:p>
            <a:r>
              <a:rPr lang="en-US" dirty="0"/>
              <a:t>COVID-19 impacted all industry sectors of Nebraska’s workforce in 2020. </a:t>
            </a:r>
          </a:p>
          <a:p>
            <a:endParaRPr lang="en-US" dirty="0"/>
          </a:p>
          <a:p>
            <a:r>
              <a:rPr lang="en-US" dirty="0"/>
              <a:t>Certain sectors such as manufacturing, public administration, and educational services experienced higher case rates compared to other sectors.  </a:t>
            </a:r>
          </a:p>
          <a:p>
            <a:endParaRPr lang="en-US" dirty="0"/>
          </a:p>
          <a:p>
            <a:r>
              <a:rPr lang="en-US" dirty="0"/>
              <a:t>We wanted to know if positive cases for COVID-19 attended work while possibly being contagious. Therefore, when conducting COVID-19 case investigations, investigators asked whether the person worked outside of their home in the past 14 days before any onset of symptoms, or their positive test results date. What we found was that majority of cases of employed workers (83%) indicated that they did work outside of the home in the past 14 days before any onset of symptoms or their positive test results date. Possibly indicating work played an important role in the transmission of SARS-Cov2. </a:t>
            </a: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2</a:t>
            </a:fld>
            <a:endParaRPr lang="en-US"/>
          </a:p>
        </p:txBody>
      </p:sp>
    </p:spTree>
    <p:extLst>
      <p:ext uri="{BB962C8B-B14F-4D97-AF65-F5344CB8AC3E}">
        <p14:creationId xmlns:p14="http://schemas.microsoft.com/office/powerpoint/2010/main" val="329746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Occupational outbreaks of COVID-19 have been described during the pandemic. However, epidemiology of COVID-19 across a larger workforce population is currently not well characterized in the United States. We describe COVID-19 cases by industry sector to better understand how the pandemic has affected Nebraska’s workforce.</a:t>
            </a:r>
          </a:p>
          <a:p>
            <a:endParaRPr lang="en-US" dirty="0"/>
          </a:p>
          <a:p>
            <a:r>
              <a:rPr lang="en-US" dirty="0"/>
              <a:t>With just over 120,000 working age COVID-19 cases in NE during 2020, only 47% are cases with codable employer data. </a:t>
            </a:r>
          </a:p>
          <a:p>
            <a:endParaRPr lang="en-US" dirty="0"/>
          </a:p>
          <a:p>
            <a:r>
              <a:rPr lang="en-US" dirty="0"/>
              <a:t>53% of these cases had insufficient employer data, were retired, unemployed, or military and was not used in our analysis. </a:t>
            </a:r>
          </a:p>
          <a:p>
            <a:endParaRPr lang="en-US" dirty="0"/>
          </a:p>
          <a:p>
            <a:r>
              <a:rPr lang="en-US" dirty="0"/>
              <a:t>Methods: </a:t>
            </a:r>
          </a:p>
          <a:p>
            <a:endParaRPr lang="en-US" dirty="0"/>
          </a:p>
          <a:p>
            <a:r>
              <a:rPr lang="en-US" dirty="0"/>
              <a:t>Information was obtained through contact tracing and case investigation of positive/probable cases through phone based interviews. During these interviews, employment information was collected.</a:t>
            </a:r>
          </a:p>
          <a:p>
            <a:endParaRPr lang="en-US" dirty="0"/>
          </a:p>
          <a:p>
            <a:r>
              <a:rPr lang="en-US" dirty="0"/>
              <a:t>Employment data was coded using NIOSH NIOCCS mapped to standard North American Industry Classification System. ACS (American Community Survey) PUMS data was used for industry sector dominators and to calculate Nebraska's overall workforce total.    </a:t>
            </a:r>
          </a:p>
          <a:p>
            <a:endParaRPr lang="en-US" dirty="0"/>
          </a:p>
          <a:p>
            <a:r>
              <a:rPr lang="en-US" dirty="0"/>
              <a:t>Data was analyzed using both SAS and R statistical software to determine distribution of cases and case rates </a:t>
            </a:r>
          </a:p>
          <a:p>
            <a:endParaRPr lang="en-US" dirty="0"/>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3</a:t>
            </a:fld>
            <a:endParaRPr lang="en-US"/>
          </a:p>
        </p:txBody>
      </p:sp>
    </p:spTree>
    <p:extLst>
      <p:ext uri="{BB962C8B-B14F-4D97-AF65-F5344CB8AC3E}">
        <p14:creationId xmlns:p14="http://schemas.microsoft.com/office/powerpoint/2010/main" val="714656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a:t>
            </a:r>
          </a:p>
          <a:p>
            <a:endParaRPr lang="en-US" dirty="0"/>
          </a:p>
          <a:p>
            <a:r>
              <a:rPr lang="en-US" dirty="0"/>
              <a:t>This is a chart that shows the distribution of cases by industry sectors. On the left side of the chart, in yellow, represents the percentage of cases by industry sector from the total codable employed cases. On the right side of the chart, in dark blue, is the percentage of each industry sector of the total workforce. For example, manufacturing sector made up the highest percentage of codable employed cases with 19%; however, manufacturing only made up 11% of the overall workforce in Nebraska. Cases in manufacturing were almost 2x higher than what manufacturing represent in the overall workforce. </a:t>
            </a:r>
          </a:p>
          <a:p>
            <a:endParaRPr lang="en-US" dirty="0"/>
          </a:p>
          <a:p>
            <a:r>
              <a:rPr lang="en-US" dirty="0"/>
              <a:t>Moreover, highlighted by the green star, shows that Health Care and Social Assistance sector makes up 12% of cases despite the highest percentage of the overall workforce, with 16%. This might be due higher PPE compliancy among health care workers while at work and better training in PPE use.</a:t>
            </a: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4</a:t>
            </a:fld>
            <a:endParaRPr lang="en-US"/>
          </a:p>
        </p:txBody>
      </p:sp>
    </p:spTree>
    <p:extLst>
      <p:ext uri="{BB962C8B-B14F-4D97-AF65-F5344CB8AC3E}">
        <p14:creationId xmlns:p14="http://schemas.microsoft.com/office/powerpoint/2010/main" val="1630184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sector-based rates of cases, per 100,000 employed workers, and sector-based rates of those that worked outside of the home in the past 14 days prior to symptom onset or their positive test date, and the rate of those workers who did not work outside of the home during those 14 days.</a:t>
            </a:r>
          </a:p>
          <a:p>
            <a:r>
              <a:rPr lang="en-US" dirty="0"/>
              <a:t> </a:t>
            </a:r>
          </a:p>
          <a:p>
            <a:r>
              <a:rPr lang="en-US" dirty="0"/>
              <a:t>Given that manufacturing had the highest proportion of cases of all the sectors it is not surprising that manufacturing had the highest case rate with 9800 cases per 100,000 employed workers.  Followed by Pub admin and Educational Services with the next highest case rates. We also found construction to have a relatively high case rate, which was surprising given that a lot of most construction happens outdoors. These cases could be related to certain construction jobs such like plumbing or electrical work, that are mostly done indoors. </a:t>
            </a:r>
          </a:p>
          <a:p>
            <a:endParaRPr lang="en-US" dirty="0"/>
          </a:p>
          <a:p>
            <a:r>
              <a:rPr lang="en-US" dirty="0"/>
              <a:t>With 83% of cases working outside the home in the past 14 days, we saw worked outside of home rates correspond closely with their case rates. Thus, sectors with high case rates also saw higher rates of working outside the home. </a:t>
            </a:r>
          </a:p>
          <a:p>
            <a:endParaRPr lang="en-US" dirty="0"/>
          </a:p>
          <a:p>
            <a:r>
              <a:rPr lang="en-US" dirty="0"/>
              <a:t>Lastly, the green stars, indicate industries that showed higher rates of not working outside of the home past 14 days, compared to other sectors. Financial &amp; Insurance sector along with Professional, Scientific, and Technical had the highest rates of not working outside of the home while possibly contagious. This could be that these are sectors that have occupations that are more easily able to transition to working from home, thus possibly contributing to their lower case rates for these sectors. </a:t>
            </a:r>
          </a:p>
          <a:p>
            <a:endParaRPr lang="en-US" dirty="0"/>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5</a:t>
            </a:fld>
            <a:endParaRPr lang="en-US"/>
          </a:p>
        </p:txBody>
      </p:sp>
    </p:spTree>
    <p:extLst>
      <p:ext uri="{BB962C8B-B14F-4D97-AF65-F5344CB8AC3E}">
        <p14:creationId xmlns:p14="http://schemas.microsoft.com/office/powerpoint/2010/main" val="4007482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concludes my poster presentation. I would like to acknowledge that this work could not have been done without the hard work of our contact tracers and case investigators. Also, NIOCCS Team at CDC with assisting us in industry and occupation coding, and provided valuable insight to help guide our analysis and approach. With that I thank you for your time and attention. [I would be happy to answer any questions] </a:t>
            </a: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6</a:t>
            </a:fld>
            <a:endParaRPr lang="en-US"/>
          </a:p>
        </p:txBody>
      </p:sp>
    </p:spTree>
    <p:extLst>
      <p:ext uri="{BB962C8B-B14F-4D97-AF65-F5344CB8AC3E}">
        <p14:creationId xmlns:p14="http://schemas.microsoft.com/office/powerpoint/2010/main" val="3489834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dhhs.ne.gov" TargetMode="External"/><Relationship Id="rId2" Type="http://schemas.openxmlformats.org/officeDocument/2006/relationships/hyperlink" Target="mailto:First.Last@nebraska.gov" TargetMode="External"/><Relationship Id="rId1" Type="http://schemas.openxmlformats.org/officeDocument/2006/relationships/slideMaster" Target="../slideMasters/slideMaster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5603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118007370"/>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and Title Page">
    <p:spTree>
      <p:nvGrpSpPr>
        <p:cNvPr id="1" name=""/>
        <p:cNvGrpSpPr/>
        <p:nvPr/>
      </p:nvGrpSpPr>
      <p:grpSpPr>
        <a:xfrm>
          <a:off x="0" y="0"/>
          <a:ext cx="0" cy="0"/>
          <a:chOff x="0" y="0"/>
          <a:chExt cx="0" cy="0"/>
        </a:xfrm>
      </p:grpSpPr>
      <p:cxnSp>
        <p:nvCxnSpPr>
          <p:cNvPr id="5" name="Title Page Rule Line"/>
          <p:cNvCxnSpPr/>
          <p:nvPr userDrawn="1"/>
        </p:nvCxnSpPr>
        <p:spPr>
          <a:xfrm>
            <a:off x="838200" y="2443431"/>
            <a:ext cx="10515600"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2" name="Master Title"/>
          <p:cNvSpPr>
            <a:spLocks noGrp="1"/>
          </p:cNvSpPr>
          <p:nvPr>
            <p:ph type="title" hasCustomPrompt="1"/>
          </p:nvPr>
        </p:nvSpPr>
        <p:spPr>
          <a:xfrm>
            <a:off x="838200" y="7010"/>
            <a:ext cx="10515600" cy="2417921"/>
          </a:xfrm>
          <a:prstGeom prst="rect">
            <a:avLst/>
          </a:prstGeom>
        </p:spPr>
        <p:txBody>
          <a:bodyPr anchor="b" anchorCtr="0">
            <a:normAutofit/>
          </a:bodyPr>
          <a:lstStyle>
            <a:lvl1pPr>
              <a:defRPr sz="4400">
                <a:solidFill>
                  <a:srgbClr val="036080"/>
                </a:solidFill>
              </a:defRPr>
            </a:lvl1pPr>
          </a:lstStyle>
          <a:p>
            <a:r>
              <a:rPr lang="en-US" dirty="0"/>
              <a:t>Click to edit Master Title</a:t>
            </a:r>
          </a:p>
        </p:txBody>
      </p:sp>
      <p:sp>
        <p:nvSpPr>
          <p:cNvPr id="7" name="Text Placeholder 3"/>
          <p:cNvSpPr>
            <a:spLocks noGrp="1"/>
          </p:cNvSpPr>
          <p:nvPr>
            <p:ph idx="1" hasCustomPrompt="1"/>
          </p:nvPr>
        </p:nvSpPr>
        <p:spPr>
          <a:xfrm>
            <a:off x="838200" y="2587767"/>
            <a:ext cx="10515600" cy="1925893"/>
          </a:xfrm>
          <a:prstGeom prst="rect">
            <a:avLst/>
          </a:prstGeom>
        </p:spPr>
        <p:txBody>
          <a:bodyPr vert="horz" lIns="91440" tIns="45720" rIns="91440" bIns="45720" rtlCol="0">
            <a:normAutofit/>
          </a:bodyPr>
          <a:lstStyle>
            <a:lvl1pPr algn="ctr">
              <a:defRPr sz="3200">
                <a:solidFill>
                  <a:srgbClr val="7E99A9"/>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Subtitle</a:t>
            </a:r>
          </a:p>
        </p:txBody>
      </p:sp>
    </p:spTree>
    <p:extLst>
      <p:ext uri="{BB962C8B-B14F-4D97-AF65-F5344CB8AC3E}">
        <p14:creationId xmlns:p14="http://schemas.microsoft.com/office/powerpoint/2010/main" val="218902701"/>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cxnSp>
        <p:nvCxnSpPr>
          <p:cNvPr id="5" name="Title Page Rule Line"/>
          <p:cNvCxnSpPr/>
          <p:nvPr userDrawn="1"/>
        </p:nvCxnSpPr>
        <p:spPr>
          <a:xfrm>
            <a:off x="838200" y="3525782"/>
            <a:ext cx="10515600"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2" name="Master Title"/>
          <p:cNvSpPr>
            <a:spLocks noGrp="1"/>
          </p:cNvSpPr>
          <p:nvPr>
            <p:ph type="title" hasCustomPrompt="1"/>
          </p:nvPr>
        </p:nvSpPr>
        <p:spPr>
          <a:xfrm>
            <a:off x="838200" y="1107861"/>
            <a:ext cx="10515600" cy="2417921"/>
          </a:xfrm>
          <a:prstGeom prst="rect">
            <a:avLst/>
          </a:prstGeom>
        </p:spPr>
        <p:txBody>
          <a:bodyPr anchor="b" anchorCtr="0">
            <a:normAutofit/>
          </a:bodyPr>
          <a:lstStyle>
            <a:lvl1pPr algn="l">
              <a:defRPr sz="4400" baseline="0">
                <a:solidFill>
                  <a:srgbClr val="036080"/>
                </a:solidFill>
              </a:defRPr>
            </a:lvl1pPr>
          </a:lstStyle>
          <a:p>
            <a:r>
              <a:rPr lang="en-US" dirty="0"/>
              <a:t>Click to edit Section Title</a:t>
            </a:r>
          </a:p>
        </p:txBody>
      </p:sp>
    </p:spTree>
    <p:extLst>
      <p:ext uri="{BB962C8B-B14F-4D97-AF65-F5344CB8AC3E}">
        <p14:creationId xmlns:p14="http://schemas.microsoft.com/office/powerpoint/2010/main" val="2792062492"/>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with Subtitle">
    <p:spTree>
      <p:nvGrpSpPr>
        <p:cNvPr id="1" name=""/>
        <p:cNvGrpSpPr/>
        <p:nvPr/>
      </p:nvGrpSpPr>
      <p:grpSpPr>
        <a:xfrm>
          <a:off x="0" y="0"/>
          <a:ext cx="0" cy="0"/>
          <a:chOff x="0" y="0"/>
          <a:chExt cx="0" cy="0"/>
        </a:xfrm>
      </p:grpSpPr>
      <p:cxnSp>
        <p:nvCxnSpPr>
          <p:cNvPr id="5" name="Title Page Rule Line"/>
          <p:cNvCxnSpPr/>
          <p:nvPr userDrawn="1"/>
        </p:nvCxnSpPr>
        <p:spPr>
          <a:xfrm>
            <a:off x="838200" y="3525782"/>
            <a:ext cx="10515600"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2" name="Master Title"/>
          <p:cNvSpPr>
            <a:spLocks noGrp="1"/>
          </p:cNvSpPr>
          <p:nvPr>
            <p:ph type="title" hasCustomPrompt="1"/>
          </p:nvPr>
        </p:nvSpPr>
        <p:spPr>
          <a:xfrm>
            <a:off x="838200" y="1107861"/>
            <a:ext cx="10515600" cy="2417921"/>
          </a:xfrm>
          <a:prstGeom prst="rect">
            <a:avLst/>
          </a:prstGeom>
        </p:spPr>
        <p:txBody>
          <a:bodyPr anchor="b" anchorCtr="0">
            <a:normAutofit/>
          </a:bodyPr>
          <a:lstStyle>
            <a:lvl1pPr algn="l">
              <a:defRPr sz="4400" baseline="0">
                <a:solidFill>
                  <a:srgbClr val="036080"/>
                </a:solidFill>
              </a:defRPr>
            </a:lvl1pPr>
          </a:lstStyle>
          <a:p>
            <a:r>
              <a:rPr lang="en-US" dirty="0"/>
              <a:t>Click to edit Section Title</a:t>
            </a:r>
          </a:p>
        </p:txBody>
      </p:sp>
      <p:sp>
        <p:nvSpPr>
          <p:cNvPr id="11" name="Text Placeholder 10"/>
          <p:cNvSpPr>
            <a:spLocks noGrp="1"/>
          </p:cNvSpPr>
          <p:nvPr>
            <p:ph type="body" sz="quarter" idx="10"/>
          </p:nvPr>
        </p:nvSpPr>
        <p:spPr>
          <a:xfrm>
            <a:off x="838200" y="3744913"/>
            <a:ext cx="10515600" cy="1033462"/>
          </a:xfrm>
          <a:prstGeom prst="rect">
            <a:avLst/>
          </a:prstGeom>
        </p:spPr>
        <p:txBody>
          <a:bodyPr/>
          <a:lstStyle>
            <a:lvl1pPr algn="l">
              <a:defRPr>
                <a:latin typeface="+mn-lt"/>
              </a:defRPr>
            </a:lvl1pPr>
          </a:lstStyle>
          <a:p>
            <a:pPr lvl="0"/>
            <a:endParaRPr lang="en-US" dirty="0"/>
          </a:p>
        </p:txBody>
      </p:sp>
    </p:spTree>
    <p:extLst>
      <p:ext uri="{BB962C8B-B14F-4D97-AF65-F5344CB8AC3E}">
        <p14:creationId xmlns:p14="http://schemas.microsoft.com/office/powerpoint/2010/main" val="4159702504"/>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rand DHHS Bullet Text Layout">
    <p:spTree>
      <p:nvGrpSpPr>
        <p:cNvPr id="1" name=""/>
        <p:cNvGrpSpPr/>
        <p:nvPr/>
      </p:nvGrpSpPr>
      <p:grpSpPr>
        <a:xfrm>
          <a:off x="0" y="0"/>
          <a:ext cx="0" cy="0"/>
          <a:chOff x="0" y="0"/>
          <a:chExt cx="0" cy="0"/>
        </a:xfrm>
      </p:grpSpPr>
      <p:sp>
        <p:nvSpPr>
          <p:cNvPr id="8" name="Title 1"/>
          <p:cNvSpPr>
            <a:spLocks noGrp="1"/>
          </p:cNvSpPr>
          <p:nvPr>
            <p:ph type="title"/>
          </p:nvPr>
        </p:nvSpPr>
        <p:spPr>
          <a:xfrm>
            <a:off x="365097" y="365126"/>
            <a:ext cx="11552349" cy="696420"/>
          </a:xfrm>
          <a:prstGeom prst="rect">
            <a:avLst/>
          </a:prstGeom>
        </p:spPr>
        <p:txBody>
          <a:bodyPr>
            <a:normAutofit/>
          </a:bodyPr>
          <a:lstStyle>
            <a:lvl1pPr algn="l">
              <a:defRPr sz="3600"/>
            </a:lvl1pPr>
          </a:lstStyle>
          <a:p>
            <a:r>
              <a:rPr lang="en-US"/>
              <a:t>Click to edit Master title style</a:t>
            </a:r>
            <a:endParaRPr lang="en-US" dirty="0"/>
          </a:p>
        </p:txBody>
      </p:sp>
      <p:cxnSp>
        <p:nvCxnSpPr>
          <p:cNvPr id="10" name="Title Page Rule Line"/>
          <p:cNvCxnSpPr/>
          <p:nvPr/>
        </p:nvCxnSpPr>
        <p:spPr>
          <a:xfrm>
            <a:off x="373487" y="931466"/>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6" name="Bulleted Text"/>
          <p:cNvSpPr>
            <a:spLocks noGrp="1"/>
          </p:cNvSpPr>
          <p:nvPr>
            <p:ph type="body" sz="quarter" idx="12" hasCustomPrompt="1"/>
          </p:nvPr>
        </p:nvSpPr>
        <p:spPr>
          <a:xfrm>
            <a:off x="365098" y="1073276"/>
            <a:ext cx="11552349" cy="5060823"/>
          </a:xfrm>
          <a:prstGeom prst="rect">
            <a:avLst/>
          </a:prstGeom>
        </p:spPr>
        <p:txBody>
          <a:bodyPr lIns="0" tIns="45720" rIns="91440"/>
          <a:lstStyle>
            <a:lvl1pPr marL="457200" indent="-274320" algn="l">
              <a:lnSpc>
                <a:spcPct val="100000"/>
              </a:lnSpc>
              <a:spcBef>
                <a:spcPts val="0"/>
              </a:spcBef>
              <a:spcAft>
                <a:spcPts val="1000"/>
              </a:spcAft>
              <a:buClr>
                <a:srgbClr val="B9C8D3"/>
              </a:buClr>
              <a:buFont typeface="Wingdings 3" panose="05040102010807070707" pitchFamily="18" charset="2"/>
              <a:buChar char=""/>
              <a:defRPr lang="en-US" sz="2000" kern="1200" baseline="0" dirty="0" smtClean="0">
                <a:solidFill>
                  <a:schemeClr val="tx1"/>
                </a:solidFill>
                <a:latin typeface="Roboto" panose="02000000000000000000" pitchFamily="2" charset="0"/>
                <a:ea typeface="Roboto" panose="02000000000000000000" pitchFamily="2" charset="0"/>
                <a:cs typeface="Roboto" panose="02000000000000000000" pitchFamily="2" charset="0"/>
              </a:defRPr>
            </a:lvl1pPr>
            <a:lvl2pPr>
              <a:lnSpc>
                <a:spcPct val="100000"/>
              </a:lnSpc>
              <a:spcBef>
                <a:spcPts val="0"/>
              </a:spcBef>
              <a:spcAft>
                <a:spcPts val="1000"/>
              </a:spcAft>
              <a:defRPr sz="1800" baseline="0"/>
            </a:lvl2pPr>
            <a:lvl3pPr>
              <a:lnSpc>
                <a:spcPct val="100000"/>
              </a:lnSpc>
              <a:spcBef>
                <a:spcPts val="0"/>
              </a:spcBef>
              <a:spcAft>
                <a:spcPts val="1000"/>
              </a:spcAft>
              <a:defRPr sz="1600" baseline="0"/>
            </a:lvl3pPr>
          </a:lstStyle>
          <a:p>
            <a:pPr lvl="0"/>
            <a:r>
              <a:rPr lang="en-US" dirty="0"/>
              <a:t>Click to edit bulleted text</a:t>
            </a:r>
          </a:p>
          <a:p>
            <a:pPr lvl="1"/>
            <a:r>
              <a:rPr lang="en-US" dirty="0"/>
              <a:t>Second level</a:t>
            </a:r>
          </a:p>
          <a:p>
            <a:pPr lvl="2"/>
            <a:r>
              <a:rPr lang="en-US" dirty="0"/>
              <a:t>Third Level</a:t>
            </a:r>
          </a:p>
        </p:txBody>
      </p:sp>
    </p:spTree>
    <p:extLst>
      <p:ext uri="{BB962C8B-B14F-4D97-AF65-F5344CB8AC3E}">
        <p14:creationId xmlns:p14="http://schemas.microsoft.com/office/powerpoint/2010/main" val="1100564985"/>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rand DHHS Bullet Text Layout NO LOGO">
    <p:spTree>
      <p:nvGrpSpPr>
        <p:cNvPr id="1" name=""/>
        <p:cNvGrpSpPr/>
        <p:nvPr/>
      </p:nvGrpSpPr>
      <p:grpSpPr>
        <a:xfrm>
          <a:off x="0" y="0"/>
          <a:ext cx="0" cy="0"/>
          <a:chOff x="0" y="0"/>
          <a:chExt cx="0" cy="0"/>
        </a:xfrm>
      </p:grpSpPr>
      <p:sp>
        <p:nvSpPr>
          <p:cNvPr id="8" name="Title 1"/>
          <p:cNvSpPr>
            <a:spLocks noGrp="1"/>
          </p:cNvSpPr>
          <p:nvPr>
            <p:ph type="title"/>
          </p:nvPr>
        </p:nvSpPr>
        <p:spPr>
          <a:xfrm>
            <a:off x="365097" y="365126"/>
            <a:ext cx="11552349" cy="696420"/>
          </a:xfrm>
          <a:prstGeom prst="rect">
            <a:avLst/>
          </a:prstGeom>
        </p:spPr>
        <p:txBody>
          <a:bodyPr>
            <a:normAutofit/>
          </a:bodyPr>
          <a:lstStyle>
            <a:lvl1pPr algn="l">
              <a:defRPr sz="3600"/>
            </a:lvl1pPr>
          </a:lstStyle>
          <a:p>
            <a:r>
              <a:rPr lang="en-US"/>
              <a:t>Click to edit Master title style</a:t>
            </a:r>
            <a:endParaRPr lang="en-US" dirty="0"/>
          </a:p>
        </p:txBody>
      </p:sp>
      <p:cxnSp>
        <p:nvCxnSpPr>
          <p:cNvPr id="10" name="Title Page Rule Line"/>
          <p:cNvCxnSpPr/>
          <p:nvPr/>
        </p:nvCxnSpPr>
        <p:spPr>
          <a:xfrm>
            <a:off x="373487" y="931466"/>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6" name="Bulleted Text"/>
          <p:cNvSpPr>
            <a:spLocks noGrp="1"/>
          </p:cNvSpPr>
          <p:nvPr>
            <p:ph type="body" sz="quarter" idx="12" hasCustomPrompt="1"/>
          </p:nvPr>
        </p:nvSpPr>
        <p:spPr>
          <a:xfrm>
            <a:off x="365098" y="1073276"/>
            <a:ext cx="11552349" cy="5060823"/>
          </a:xfrm>
          <a:prstGeom prst="rect">
            <a:avLst/>
          </a:prstGeom>
        </p:spPr>
        <p:txBody>
          <a:bodyPr lIns="0" tIns="45720" rIns="91440"/>
          <a:lstStyle>
            <a:lvl1pPr marL="457200" indent="-274320" algn="l">
              <a:lnSpc>
                <a:spcPct val="100000"/>
              </a:lnSpc>
              <a:spcBef>
                <a:spcPts val="0"/>
              </a:spcBef>
              <a:spcAft>
                <a:spcPts val="1000"/>
              </a:spcAft>
              <a:buClr>
                <a:srgbClr val="B9C8D3"/>
              </a:buClr>
              <a:buFont typeface="Wingdings 3" panose="05040102010807070707" pitchFamily="18" charset="2"/>
              <a:buChar char=""/>
              <a:defRPr lang="en-US" sz="2000" kern="1200" baseline="0" dirty="0" smtClean="0">
                <a:solidFill>
                  <a:schemeClr val="tx1"/>
                </a:solidFill>
                <a:latin typeface="Roboto" panose="02000000000000000000" pitchFamily="2" charset="0"/>
                <a:ea typeface="Roboto" panose="02000000000000000000" pitchFamily="2" charset="0"/>
                <a:cs typeface="Roboto" panose="02000000000000000000" pitchFamily="2" charset="0"/>
              </a:defRPr>
            </a:lvl1pPr>
            <a:lvl2pPr>
              <a:lnSpc>
                <a:spcPct val="100000"/>
              </a:lnSpc>
              <a:spcBef>
                <a:spcPts val="0"/>
              </a:spcBef>
              <a:spcAft>
                <a:spcPts val="1000"/>
              </a:spcAft>
              <a:defRPr sz="1800" baseline="0"/>
            </a:lvl2pPr>
            <a:lvl3pPr>
              <a:lnSpc>
                <a:spcPct val="100000"/>
              </a:lnSpc>
              <a:spcBef>
                <a:spcPts val="0"/>
              </a:spcBef>
              <a:spcAft>
                <a:spcPts val="1000"/>
              </a:spcAft>
              <a:defRPr sz="1600" baseline="0"/>
            </a:lvl3pPr>
          </a:lstStyle>
          <a:p>
            <a:pPr lvl="0"/>
            <a:r>
              <a:rPr lang="en-US" dirty="0"/>
              <a:t>Click to edit bulleted text</a:t>
            </a:r>
          </a:p>
          <a:p>
            <a:pPr lvl="1"/>
            <a:r>
              <a:rPr lang="en-US" dirty="0"/>
              <a:t>Second level</a:t>
            </a:r>
          </a:p>
          <a:p>
            <a:pPr lvl="2"/>
            <a:r>
              <a:rPr lang="en-US" dirty="0"/>
              <a:t>Third Level</a:t>
            </a:r>
          </a:p>
        </p:txBody>
      </p:sp>
      <p:sp>
        <p:nvSpPr>
          <p:cNvPr id="2" name="Rectangle 1"/>
          <p:cNvSpPr/>
          <p:nvPr userDrawn="1"/>
        </p:nvSpPr>
        <p:spPr>
          <a:xfrm>
            <a:off x="9609826" y="4528868"/>
            <a:ext cx="2225616" cy="13457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7781412"/>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rand DHHS Bullet Text Layout NO FOOTER">
    <p:spTree>
      <p:nvGrpSpPr>
        <p:cNvPr id="1" name=""/>
        <p:cNvGrpSpPr/>
        <p:nvPr/>
      </p:nvGrpSpPr>
      <p:grpSpPr>
        <a:xfrm>
          <a:off x="0" y="0"/>
          <a:ext cx="0" cy="0"/>
          <a:chOff x="0" y="0"/>
          <a:chExt cx="0" cy="0"/>
        </a:xfrm>
      </p:grpSpPr>
      <p:sp>
        <p:nvSpPr>
          <p:cNvPr id="8" name="Title 1"/>
          <p:cNvSpPr>
            <a:spLocks noGrp="1"/>
          </p:cNvSpPr>
          <p:nvPr>
            <p:ph type="title"/>
          </p:nvPr>
        </p:nvSpPr>
        <p:spPr>
          <a:xfrm>
            <a:off x="365097" y="365126"/>
            <a:ext cx="11552349" cy="696420"/>
          </a:xfrm>
          <a:prstGeom prst="rect">
            <a:avLst/>
          </a:prstGeom>
        </p:spPr>
        <p:txBody>
          <a:bodyPr>
            <a:normAutofit/>
          </a:bodyPr>
          <a:lstStyle>
            <a:lvl1pPr algn="l">
              <a:defRPr sz="3600"/>
            </a:lvl1pPr>
          </a:lstStyle>
          <a:p>
            <a:r>
              <a:rPr lang="en-US"/>
              <a:t>Click to edit Master title style</a:t>
            </a:r>
            <a:endParaRPr lang="en-US" dirty="0"/>
          </a:p>
        </p:txBody>
      </p:sp>
      <p:cxnSp>
        <p:nvCxnSpPr>
          <p:cNvPr id="10" name="Title Page Rule Line"/>
          <p:cNvCxnSpPr/>
          <p:nvPr/>
        </p:nvCxnSpPr>
        <p:spPr>
          <a:xfrm>
            <a:off x="373487" y="931466"/>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2" name="Rectangle 1"/>
          <p:cNvSpPr/>
          <p:nvPr userDrawn="1"/>
        </p:nvSpPr>
        <p:spPr>
          <a:xfrm>
            <a:off x="0" y="4425351"/>
            <a:ext cx="12192000" cy="24326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Bulleted Text"/>
          <p:cNvSpPr>
            <a:spLocks noGrp="1"/>
          </p:cNvSpPr>
          <p:nvPr>
            <p:ph type="body" sz="quarter" idx="13" hasCustomPrompt="1"/>
          </p:nvPr>
        </p:nvSpPr>
        <p:spPr>
          <a:xfrm>
            <a:off x="365096" y="1061546"/>
            <a:ext cx="11552349" cy="5060823"/>
          </a:xfrm>
          <a:prstGeom prst="rect">
            <a:avLst/>
          </a:prstGeom>
        </p:spPr>
        <p:txBody>
          <a:bodyPr lIns="0" tIns="45720" rIns="91440"/>
          <a:lstStyle>
            <a:lvl1pPr marL="457200" indent="-274320" algn="l">
              <a:lnSpc>
                <a:spcPct val="100000"/>
              </a:lnSpc>
              <a:spcBef>
                <a:spcPts val="0"/>
              </a:spcBef>
              <a:spcAft>
                <a:spcPts val="1000"/>
              </a:spcAft>
              <a:buClr>
                <a:srgbClr val="B9C8D3"/>
              </a:buClr>
              <a:buFont typeface="Wingdings 3" panose="05040102010807070707" pitchFamily="18" charset="2"/>
              <a:buChar char=""/>
              <a:defRPr lang="en-US" sz="2000" kern="1200" baseline="0" dirty="0" smtClean="0">
                <a:solidFill>
                  <a:schemeClr val="tx1"/>
                </a:solidFill>
                <a:latin typeface="Roboto" panose="02000000000000000000" pitchFamily="2" charset="0"/>
                <a:ea typeface="Roboto" panose="02000000000000000000" pitchFamily="2" charset="0"/>
                <a:cs typeface="Roboto" panose="02000000000000000000" pitchFamily="2" charset="0"/>
              </a:defRPr>
            </a:lvl1pPr>
            <a:lvl2pPr>
              <a:lnSpc>
                <a:spcPct val="100000"/>
              </a:lnSpc>
              <a:spcBef>
                <a:spcPts val="0"/>
              </a:spcBef>
              <a:spcAft>
                <a:spcPts val="1000"/>
              </a:spcAft>
              <a:defRPr sz="1800" baseline="0"/>
            </a:lvl2pPr>
            <a:lvl3pPr>
              <a:lnSpc>
                <a:spcPct val="100000"/>
              </a:lnSpc>
              <a:spcBef>
                <a:spcPts val="0"/>
              </a:spcBef>
              <a:spcAft>
                <a:spcPts val="1000"/>
              </a:spcAft>
              <a:defRPr sz="1600" baseline="0"/>
            </a:lvl3pPr>
          </a:lstStyle>
          <a:p>
            <a:pPr lvl="0"/>
            <a:r>
              <a:rPr lang="en-US" dirty="0"/>
              <a:t>Click to edit bulleted text</a:t>
            </a:r>
          </a:p>
          <a:p>
            <a:pPr lvl="1"/>
            <a:r>
              <a:rPr lang="en-US" dirty="0"/>
              <a:t>Second level</a:t>
            </a:r>
          </a:p>
          <a:p>
            <a:pPr lvl="2"/>
            <a:r>
              <a:rPr lang="en-US" dirty="0"/>
              <a:t>Third Level</a:t>
            </a:r>
          </a:p>
        </p:txBody>
      </p:sp>
    </p:spTree>
    <p:extLst>
      <p:ext uri="{BB962C8B-B14F-4D97-AF65-F5344CB8AC3E}">
        <p14:creationId xmlns:p14="http://schemas.microsoft.com/office/powerpoint/2010/main" val="936455890"/>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rand DHHS Photo Layout">
    <p:spTree>
      <p:nvGrpSpPr>
        <p:cNvPr id="1" name=""/>
        <p:cNvGrpSpPr/>
        <p:nvPr/>
      </p:nvGrpSpPr>
      <p:grpSpPr>
        <a:xfrm>
          <a:off x="0" y="0"/>
          <a:ext cx="0" cy="0"/>
          <a:chOff x="0" y="0"/>
          <a:chExt cx="0" cy="0"/>
        </a:xfrm>
      </p:grpSpPr>
      <p:sp>
        <p:nvSpPr>
          <p:cNvPr id="5" name="Smaller Body Text"/>
          <p:cNvSpPr>
            <a:spLocks noGrp="1"/>
          </p:cNvSpPr>
          <p:nvPr>
            <p:ph type="body" sz="quarter" idx="11" hasCustomPrompt="1"/>
          </p:nvPr>
        </p:nvSpPr>
        <p:spPr>
          <a:xfrm>
            <a:off x="373488" y="1104782"/>
            <a:ext cx="4178022" cy="5029318"/>
          </a:xfrm>
          <a:prstGeom prst="rect">
            <a:avLst/>
          </a:prstGeom>
        </p:spPr>
        <p:txBody>
          <a:bodyPr>
            <a:normAutofit/>
          </a:bodyPr>
          <a:lstStyle>
            <a:lvl1pPr marL="0" indent="0" algn="l">
              <a:buNone/>
              <a:defRPr sz="2000">
                <a:solidFill>
                  <a:schemeClr val="tx1"/>
                </a:solidFill>
              </a:defRPr>
            </a:lvl1pPr>
          </a:lstStyle>
          <a:p>
            <a:pPr lvl="0"/>
            <a:r>
              <a:rPr lang="en-US" dirty="0"/>
              <a:t>Click to edit text</a:t>
            </a:r>
          </a:p>
        </p:txBody>
      </p:sp>
      <p:sp>
        <p:nvSpPr>
          <p:cNvPr id="13" name="Picture Placeholder 12"/>
          <p:cNvSpPr>
            <a:spLocks noGrp="1"/>
          </p:cNvSpPr>
          <p:nvPr>
            <p:ph type="pic" sz="quarter" idx="12"/>
          </p:nvPr>
        </p:nvSpPr>
        <p:spPr>
          <a:xfrm>
            <a:off x="7043895" y="1104782"/>
            <a:ext cx="4808380" cy="3818910"/>
          </a:xfrm>
          <a:prstGeom prst="rect">
            <a:avLst/>
          </a:prstGeom>
        </p:spPr>
        <p:txBody>
          <a:bodyPr/>
          <a:lstStyle>
            <a:lvl1pPr>
              <a:defRPr>
                <a:solidFill>
                  <a:srgbClr val="FFC843"/>
                </a:solidFill>
              </a:defRPr>
            </a:lvl1pPr>
          </a:lstStyle>
          <a:p>
            <a:r>
              <a:rPr lang="en-US" dirty="0"/>
              <a:t>Click icon to add picture</a:t>
            </a:r>
          </a:p>
        </p:txBody>
      </p:sp>
      <p:sp>
        <p:nvSpPr>
          <p:cNvPr id="15" name="Picture Placeholder 14"/>
          <p:cNvSpPr>
            <a:spLocks noGrp="1"/>
          </p:cNvSpPr>
          <p:nvPr>
            <p:ph type="pic" sz="quarter" idx="13"/>
          </p:nvPr>
        </p:nvSpPr>
        <p:spPr>
          <a:xfrm>
            <a:off x="4732338" y="1104782"/>
            <a:ext cx="2130729" cy="1819288"/>
          </a:xfrm>
          <a:prstGeom prst="rect">
            <a:avLst/>
          </a:prstGeom>
        </p:spPr>
        <p:txBody>
          <a:bodyPr/>
          <a:lstStyle>
            <a:lvl1pPr>
              <a:defRPr>
                <a:solidFill>
                  <a:srgbClr val="FFC843"/>
                </a:solidFill>
              </a:defRPr>
            </a:lvl1pPr>
          </a:lstStyle>
          <a:p>
            <a:r>
              <a:rPr lang="en-US" dirty="0"/>
              <a:t>Click icon to add picture</a:t>
            </a:r>
          </a:p>
        </p:txBody>
      </p:sp>
      <p:sp>
        <p:nvSpPr>
          <p:cNvPr id="17" name="Picture Placeholder 16"/>
          <p:cNvSpPr>
            <a:spLocks noGrp="1"/>
          </p:cNvSpPr>
          <p:nvPr>
            <p:ph type="pic" sz="quarter" idx="14"/>
          </p:nvPr>
        </p:nvSpPr>
        <p:spPr>
          <a:xfrm>
            <a:off x="4732338" y="3114565"/>
            <a:ext cx="2160587" cy="1809128"/>
          </a:xfrm>
          <a:prstGeom prst="rect">
            <a:avLst/>
          </a:prstGeom>
        </p:spPr>
        <p:txBody>
          <a:bodyPr/>
          <a:lstStyle>
            <a:lvl1pPr>
              <a:defRPr>
                <a:solidFill>
                  <a:srgbClr val="FFC843"/>
                </a:solidFill>
              </a:defRPr>
            </a:lvl1pPr>
          </a:lstStyle>
          <a:p>
            <a:r>
              <a:rPr lang="en-US" dirty="0"/>
              <a:t>Click icon to add picture</a:t>
            </a:r>
          </a:p>
        </p:txBody>
      </p:sp>
      <p:sp>
        <p:nvSpPr>
          <p:cNvPr id="9" name="Title 1"/>
          <p:cNvSpPr>
            <a:spLocks noGrp="1"/>
          </p:cNvSpPr>
          <p:nvPr>
            <p:ph type="title"/>
          </p:nvPr>
        </p:nvSpPr>
        <p:spPr>
          <a:xfrm>
            <a:off x="373488" y="365126"/>
            <a:ext cx="11478084" cy="696420"/>
          </a:xfrm>
          <a:prstGeom prst="rect">
            <a:avLst/>
          </a:prstGeom>
        </p:spPr>
        <p:txBody>
          <a:bodyPr>
            <a:normAutofit/>
          </a:bodyPr>
          <a:lstStyle>
            <a:lvl1pPr algn="l">
              <a:defRPr sz="3600"/>
            </a:lvl1pPr>
          </a:lstStyle>
          <a:p>
            <a:r>
              <a:rPr lang="en-US"/>
              <a:t>Click to edit Master title style</a:t>
            </a:r>
            <a:endParaRPr lang="en-US" dirty="0"/>
          </a:p>
        </p:txBody>
      </p:sp>
      <p:cxnSp>
        <p:nvCxnSpPr>
          <p:cNvPr id="12" name="Title Page Rule Line"/>
          <p:cNvCxnSpPr/>
          <p:nvPr/>
        </p:nvCxnSpPr>
        <p:spPr>
          <a:xfrm>
            <a:off x="373487" y="941997"/>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0849636"/>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rand DHHS End Slide Layout">
    <p:spTree>
      <p:nvGrpSpPr>
        <p:cNvPr id="1" name=""/>
        <p:cNvGrpSpPr/>
        <p:nvPr/>
      </p:nvGrpSpPr>
      <p:grpSpPr>
        <a:xfrm>
          <a:off x="0" y="0"/>
          <a:ext cx="0" cy="0"/>
          <a:chOff x="0" y="0"/>
          <a:chExt cx="0" cy="0"/>
        </a:xfrm>
      </p:grpSpPr>
      <p:sp>
        <p:nvSpPr>
          <p:cNvPr id="10" name="Subhead"/>
          <p:cNvSpPr>
            <a:spLocks noGrp="1"/>
          </p:cNvSpPr>
          <p:nvPr>
            <p:ph type="body" sz="quarter" idx="11" hasCustomPrompt="1"/>
          </p:nvPr>
        </p:nvSpPr>
        <p:spPr>
          <a:xfrm>
            <a:off x="838200" y="2755761"/>
            <a:ext cx="10478729" cy="774839"/>
          </a:xfrm>
          <a:prstGeom prst="rect">
            <a:avLst/>
          </a:prstGeom>
          <a:noFill/>
        </p:spPr>
        <p:txBody>
          <a:bodyPr anchor="t" anchorCtr="1">
            <a:noAutofit/>
          </a:bodyPr>
          <a:lstStyle>
            <a:lvl1pPr marL="0" marR="0" indent="0" algn="ctr" defTabSz="914400" rtl="0" eaLnBrk="1" fontAlgn="auto" latinLnBrk="0" hangingPunct="1">
              <a:lnSpc>
                <a:spcPct val="100000"/>
              </a:lnSpc>
              <a:spcBef>
                <a:spcPts val="0"/>
              </a:spcBef>
              <a:spcAft>
                <a:spcPts val="600"/>
              </a:spcAft>
              <a:buClrTx/>
              <a:buSzTx/>
              <a:buFontTx/>
              <a:buNone/>
              <a:tabLst/>
              <a:defRPr sz="2400">
                <a:solidFill>
                  <a:srgbClr val="5690E2"/>
                </a:solidFill>
                <a:latin typeface="Roboto" panose="02000000000000000000" pitchFamily="2" charset="0"/>
                <a:ea typeface="Roboto" panose="02000000000000000000" pitchFamily="2" charset="0"/>
                <a:cs typeface="Roboto" panose="02000000000000000000" pitchFamily="2" charset="0"/>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Click to edit Title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Click to edit Department</a:t>
            </a:r>
          </a:p>
        </p:txBody>
      </p:sp>
      <p:sp>
        <p:nvSpPr>
          <p:cNvPr id="11" name="Page Subhead Bold"/>
          <p:cNvSpPr>
            <a:spLocks noGrp="1"/>
          </p:cNvSpPr>
          <p:nvPr>
            <p:ph type="body" sz="quarter" idx="12" hasCustomPrompt="1"/>
          </p:nvPr>
        </p:nvSpPr>
        <p:spPr>
          <a:xfrm>
            <a:off x="838200" y="2240666"/>
            <a:ext cx="10478729" cy="469563"/>
          </a:xfrm>
          <a:prstGeom prst="rect">
            <a:avLst/>
          </a:prstGeom>
          <a:solidFill>
            <a:srgbClr val="036080"/>
          </a:solidFill>
          <a:effectLst>
            <a:innerShdw blurRad="63500" dist="50800" dir="13500000">
              <a:prstClr val="black">
                <a:alpha val="50000"/>
              </a:prstClr>
            </a:innerShdw>
          </a:effectLst>
        </p:spPr>
        <p:txBody>
          <a:bodyPr>
            <a:noAutofit/>
          </a:bodyPr>
          <a:lstStyle>
            <a:lvl1pPr marL="0" indent="0" algn="ctr">
              <a:buClr>
                <a:srgbClr val="0036C9"/>
              </a:buClr>
              <a:buFont typeface="Wingdings 3" panose="05040102010807070707" pitchFamily="18" charset="2"/>
              <a:buNone/>
              <a:defRPr sz="2800" b="1" baseline="0">
                <a:solidFill>
                  <a:schemeClr val="bg1"/>
                </a:solidFill>
              </a:defRPr>
            </a:lvl1pPr>
          </a:lstStyle>
          <a:p>
            <a:pPr lvl="0"/>
            <a:r>
              <a:rPr lang="en-US" dirty="0"/>
              <a:t>Click to edit Contact Name</a:t>
            </a:r>
          </a:p>
        </p:txBody>
      </p:sp>
      <p:sp>
        <p:nvSpPr>
          <p:cNvPr id="13" name="Additonal Text"/>
          <p:cNvSpPr>
            <a:spLocks noGrp="1"/>
          </p:cNvSpPr>
          <p:nvPr>
            <p:ph type="body" sz="quarter" idx="13" hasCustomPrompt="1"/>
          </p:nvPr>
        </p:nvSpPr>
        <p:spPr>
          <a:xfrm>
            <a:off x="840085" y="4610335"/>
            <a:ext cx="10478729" cy="765965"/>
          </a:xfrm>
          <a:prstGeom prst="rect">
            <a:avLst/>
          </a:prstGeom>
        </p:spPr>
        <p:txBody>
          <a:bodyPr/>
          <a:lstStyle>
            <a:lvl1pPr marL="0" indent="0" algn="ctr">
              <a:buClr>
                <a:srgbClr val="0036C9"/>
              </a:buClr>
              <a:buFontTx/>
              <a:buNone/>
              <a:tabLst>
                <a:tab pos="182880" algn="l"/>
              </a:tabLst>
              <a:defRPr sz="1200" baseline="0">
                <a:solidFill>
                  <a:schemeClr val="tx1"/>
                </a:solidFill>
                <a:latin typeface="+mn-lt"/>
              </a:defRPr>
            </a:lvl1pPr>
            <a:lvl2pPr defTabSz="1828800">
              <a:defRPr/>
            </a:lvl2pPr>
            <a:lvl4pPr marL="1097280" indent="0">
              <a:spcBef>
                <a:spcPts val="1000"/>
              </a:spcBef>
              <a:buClr>
                <a:schemeClr val="accent1"/>
              </a:buClr>
              <a:buFontTx/>
              <a:buNone/>
              <a:defRPr/>
            </a:lvl4pPr>
          </a:lstStyle>
          <a:p>
            <a:pPr lvl="0"/>
            <a:r>
              <a:rPr lang="en-US" dirty="0"/>
              <a:t>Click to add additional text</a:t>
            </a:r>
          </a:p>
        </p:txBody>
      </p:sp>
      <p:sp>
        <p:nvSpPr>
          <p:cNvPr id="14" name="Email Text"/>
          <p:cNvSpPr>
            <a:spLocks noGrp="1"/>
          </p:cNvSpPr>
          <p:nvPr>
            <p:ph type="body" sz="quarter" idx="14" hasCustomPrompt="1"/>
          </p:nvPr>
        </p:nvSpPr>
        <p:spPr>
          <a:xfrm>
            <a:off x="846764" y="3585624"/>
            <a:ext cx="10478729" cy="463576"/>
          </a:xfrm>
          <a:prstGeom prst="rect">
            <a:avLst/>
          </a:prstGeom>
        </p:spPr>
        <p:txBody>
          <a:bodyPr>
            <a:normAutofit/>
          </a:bodyPr>
          <a:lstStyle>
            <a:lvl1pPr marL="0" indent="0" algn="ctr">
              <a:buClr>
                <a:srgbClr val="0036C9"/>
              </a:buClr>
              <a:buFontTx/>
              <a:buNone/>
              <a:tabLst>
                <a:tab pos="182880" algn="l"/>
              </a:tabLst>
              <a:defRPr lang="en-US" sz="1600" b="0" kern="1200" baseline="0" dirty="0" smtClean="0">
                <a:solidFill>
                  <a:srgbClr val="036080"/>
                </a:solidFill>
                <a:latin typeface="+mn-lt"/>
                <a:ea typeface="+mn-ea"/>
                <a:cs typeface="+mn-cs"/>
              </a:defRPr>
            </a:lvl1pPr>
            <a:lvl2pPr defTabSz="1828800">
              <a:defRPr/>
            </a:lvl2pPr>
            <a:lvl4pPr marL="1097280" indent="0">
              <a:spcBef>
                <a:spcPts val="1000"/>
              </a:spcBef>
              <a:buClr>
                <a:schemeClr val="accent1"/>
              </a:buClr>
              <a:buFontTx/>
              <a:buNone/>
              <a:defRPr/>
            </a:lvl4pPr>
          </a:lstStyle>
          <a:p>
            <a:pPr lvl="0"/>
            <a:r>
              <a:rPr lang="en-US" dirty="0">
                <a:solidFill>
                  <a:schemeClr val="accent2">
                    <a:lumMod val="50000"/>
                  </a:schemeClr>
                </a:solidFill>
                <a:hlinkClick r:id="rId2"/>
              </a:rPr>
              <a:t>First.Last@nebraska.gov</a:t>
            </a:r>
            <a:endParaRPr lang="en-US" dirty="0"/>
          </a:p>
        </p:txBody>
      </p:sp>
      <p:sp>
        <p:nvSpPr>
          <p:cNvPr id="16" name="Website"/>
          <p:cNvSpPr txBox="1">
            <a:spLocks/>
          </p:cNvSpPr>
          <p:nvPr/>
        </p:nvSpPr>
        <p:spPr>
          <a:xfrm>
            <a:off x="5194998" y="5431323"/>
            <a:ext cx="1788606" cy="361538"/>
          </a:xfrm>
          <a:prstGeom prst="rect">
            <a:avLst/>
          </a:prstGeom>
          <a:noFill/>
          <a:ln>
            <a:solidFill>
              <a:srgbClr val="FFC843"/>
            </a:solidFill>
          </a:ln>
          <a:effectLst>
            <a:softEdge rad="0"/>
          </a:effectLst>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spc="70" baseline="0" dirty="0">
                <a:solidFill>
                  <a:srgbClr val="036080"/>
                </a:solidFill>
                <a:latin typeface="+mj-lt"/>
                <a:cs typeface="Gisha" panose="020B0502040204020203" pitchFamily="34" charset="-79"/>
                <a:hlinkClick r:id="rId3"/>
              </a:rPr>
              <a:t>dhhs.ne.gov</a:t>
            </a:r>
            <a:endParaRPr lang="en-US" sz="1600" b="1" spc="70" baseline="0" dirty="0">
              <a:solidFill>
                <a:srgbClr val="036080"/>
              </a:solidFill>
              <a:latin typeface="+mj-lt"/>
              <a:cs typeface="Gisha" panose="020B0502040204020203" pitchFamily="34" charset="-79"/>
            </a:endParaRPr>
          </a:p>
        </p:txBody>
      </p:sp>
      <p:pic>
        <p:nvPicPr>
          <p:cNvPr id="7" name="Facebook"/>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02989" y="5360085"/>
            <a:ext cx="457200" cy="432776"/>
          </a:xfrm>
          <a:prstGeom prst="rect">
            <a:avLst/>
          </a:prstGeom>
          <a:effectLst/>
        </p:spPr>
      </p:pic>
      <p:sp>
        <p:nvSpPr>
          <p:cNvPr id="2" name="TextBox 1"/>
          <p:cNvSpPr txBox="1"/>
          <p:nvPr userDrawn="1"/>
        </p:nvSpPr>
        <p:spPr>
          <a:xfrm>
            <a:off x="2064425" y="5834088"/>
            <a:ext cx="769276" cy="223138"/>
          </a:xfrm>
          <a:prstGeom prst="rect">
            <a:avLst/>
          </a:prstGeom>
          <a:noFill/>
        </p:spPr>
        <p:txBody>
          <a:bodyPr wrap="square" rtlCol="0">
            <a:spAutoFit/>
          </a:bodyPr>
          <a:lstStyle/>
          <a:p>
            <a:r>
              <a:rPr lang="en-US" sz="850" kern="1200" dirty="0">
                <a:solidFill>
                  <a:schemeClr val="tx1"/>
                </a:solidFill>
                <a:effectLst/>
                <a:latin typeface="+mn-lt"/>
                <a:ea typeface="+mn-ea"/>
                <a:cs typeface="+mn-cs"/>
              </a:rPr>
              <a:t>@NEDHHS</a:t>
            </a:r>
            <a:endParaRPr lang="en-US" sz="850" dirty="0"/>
          </a:p>
        </p:txBody>
      </p:sp>
      <p:pic>
        <p:nvPicPr>
          <p:cNvPr id="5" name="Twitte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58976" y="5360085"/>
            <a:ext cx="467498" cy="432776"/>
          </a:xfrm>
          <a:prstGeom prst="rect">
            <a:avLst/>
          </a:prstGeom>
        </p:spPr>
      </p:pic>
      <p:sp>
        <p:nvSpPr>
          <p:cNvPr id="17" name="TextBox 16"/>
          <p:cNvSpPr txBox="1"/>
          <p:nvPr userDrawn="1"/>
        </p:nvSpPr>
        <p:spPr>
          <a:xfrm>
            <a:off x="297907" y="5834088"/>
            <a:ext cx="769276" cy="223138"/>
          </a:xfrm>
          <a:prstGeom prst="rect">
            <a:avLst/>
          </a:prstGeom>
          <a:noFill/>
        </p:spPr>
        <p:txBody>
          <a:bodyPr wrap="square" rtlCol="0">
            <a:spAutoFit/>
          </a:bodyPr>
          <a:lstStyle/>
          <a:p>
            <a:r>
              <a:rPr lang="en-US" sz="850" kern="1200" dirty="0">
                <a:solidFill>
                  <a:schemeClr val="tx1"/>
                </a:solidFill>
                <a:effectLst/>
                <a:latin typeface="+mn-lt"/>
                <a:ea typeface="+mn-ea"/>
                <a:cs typeface="+mn-cs"/>
              </a:rPr>
              <a:t>@NEDHHS</a:t>
            </a:r>
            <a:endParaRPr lang="en-US" sz="850" dirty="0"/>
          </a:p>
        </p:txBody>
      </p:sp>
      <p:pic>
        <p:nvPicPr>
          <p:cNvPr id="6" name="You Tube"/>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349525" y="5366159"/>
            <a:ext cx="457200" cy="432776"/>
          </a:xfrm>
          <a:prstGeom prst="rect">
            <a:avLst/>
          </a:prstGeom>
        </p:spPr>
      </p:pic>
      <p:sp>
        <p:nvSpPr>
          <p:cNvPr id="19" name="TextBox 18"/>
          <p:cNvSpPr txBox="1"/>
          <p:nvPr userDrawn="1"/>
        </p:nvSpPr>
        <p:spPr>
          <a:xfrm>
            <a:off x="956618" y="5834088"/>
            <a:ext cx="1213825" cy="223138"/>
          </a:xfrm>
          <a:prstGeom prst="rect">
            <a:avLst/>
          </a:prstGeom>
          <a:noFill/>
        </p:spPr>
        <p:txBody>
          <a:bodyPr wrap="square" rtlCol="0">
            <a:spAutoFit/>
          </a:bodyPr>
          <a:lstStyle/>
          <a:p>
            <a:pPr algn="ctr"/>
            <a:r>
              <a:rPr lang="en-US" sz="850" kern="1200" dirty="0" err="1">
                <a:solidFill>
                  <a:schemeClr val="tx1"/>
                </a:solidFill>
                <a:effectLst/>
                <a:latin typeface="+mn-lt"/>
                <a:ea typeface="+mn-ea"/>
                <a:cs typeface="+mn-cs"/>
              </a:rPr>
              <a:t>NebraskaDHHS</a:t>
            </a:r>
            <a:endParaRPr lang="en-US" sz="850" dirty="0"/>
          </a:p>
        </p:txBody>
      </p:sp>
      <p:sp>
        <p:nvSpPr>
          <p:cNvPr id="18" name="Email Text"/>
          <p:cNvSpPr>
            <a:spLocks noGrp="1"/>
          </p:cNvSpPr>
          <p:nvPr>
            <p:ph type="body" sz="quarter" idx="15" hasCustomPrompt="1"/>
          </p:nvPr>
        </p:nvSpPr>
        <p:spPr>
          <a:xfrm>
            <a:off x="846764" y="4049200"/>
            <a:ext cx="10478729" cy="525982"/>
          </a:xfrm>
          <a:prstGeom prst="rect">
            <a:avLst/>
          </a:prstGeom>
        </p:spPr>
        <p:txBody>
          <a:bodyPr>
            <a:normAutofit/>
          </a:bodyPr>
          <a:lstStyle>
            <a:lvl1pPr marL="0" indent="0" algn="ctr">
              <a:buClr>
                <a:srgbClr val="0036C9"/>
              </a:buClr>
              <a:buFontTx/>
              <a:buNone/>
              <a:tabLst>
                <a:tab pos="182880" algn="l"/>
              </a:tabLst>
              <a:defRPr lang="en-US" sz="2400" b="0" kern="1200" baseline="0" dirty="0" smtClean="0">
                <a:solidFill>
                  <a:srgbClr val="7E99A9"/>
                </a:solidFill>
                <a:latin typeface="+mn-lt"/>
                <a:ea typeface="+mn-ea"/>
                <a:cs typeface="+mn-cs"/>
              </a:defRPr>
            </a:lvl1pPr>
            <a:lvl2pPr defTabSz="1828800">
              <a:defRPr/>
            </a:lvl2pPr>
            <a:lvl4pPr marL="1097280" indent="0">
              <a:spcBef>
                <a:spcPts val="1000"/>
              </a:spcBef>
              <a:buClr>
                <a:schemeClr val="accent1"/>
              </a:buClr>
              <a:buFontTx/>
              <a:buNone/>
              <a:defRPr/>
            </a:lvl4pPr>
          </a:lstStyle>
          <a:p>
            <a:pPr lvl="0"/>
            <a:r>
              <a:rPr lang="en-US" dirty="0"/>
              <a:t>000-000-0000</a:t>
            </a:r>
          </a:p>
        </p:txBody>
      </p:sp>
    </p:spTree>
    <p:extLst>
      <p:ext uri="{BB962C8B-B14F-4D97-AF65-F5344CB8AC3E}">
        <p14:creationId xmlns:p14="http://schemas.microsoft.com/office/powerpoint/2010/main" val="1627203453"/>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with BRAND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7456287"/>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5.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4.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041" y="10049"/>
            <a:ext cx="12170664" cy="6839924"/>
          </a:xfrm>
          <a:prstGeom prst="rect">
            <a:avLst/>
          </a:prstGeom>
          <a:ln>
            <a:solidFill>
              <a:schemeClr val="tx1"/>
            </a:solidFill>
          </a:ln>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475089" y="4845428"/>
            <a:ext cx="2360315" cy="971453"/>
          </a:xfrm>
          <a:prstGeom prst="rect">
            <a:avLst/>
          </a:prstGeom>
        </p:spPr>
      </p:pic>
      <p:sp>
        <p:nvSpPr>
          <p:cNvPr id="13" name="Rectangle 12"/>
          <p:cNvSpPr/>
          <p:nvPr userDrawn="1"/>
        </p:nvSpPr>
        <p:spPr>
          <a:xfrm>
            <a:off x="2852230" y="6055600"/>
            <a:ext cx="2885379" cy="276999"/>
          </a:xfrm>
          <a:prstGeom prst="rect">
            <a:avLst/>
          </a:prstGeom>
          <a:effectLst>
            <a:outerShdw blurRad="50800" dist="38100" dir="2700000" algn="tl" rotWithShape="0">
              <a:sysClr val="window" lastClr="FFFFFF">
                <a:alpha val="40000"/>
              </a:sysClr>
            </a:outer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20" normalizeH="0" baseline="0" noProof="0" dirty="0">
                <a:ln>
                  <a:noFill/>
                </a:ln>
                <a:solidFill>
                  <a:srgbClr val="036080"/>
                </a:solidFill>
                <a:effectLst/>
                <a:uLnTx/>
                <a:uFillTx/>
                <a:latin typeface="Montserrat"/>
              </a:rPr>
              <a:t>Helping People Live Better Lives.</a:t>
            </a:r>
          </a:p>
        </p:txBody>
      </p:sp>
    </p:spTree>
    <p:extLst>
      <p:ext uri="{BB962C8B-B14F-4D97-AF65-F5344CB8AC3E}">
        <p14:creationId xmlns:p14="http://schemas.microsoft.com/office/powerpoint/2010/main" val="4112078921"/>
      </p:ext>
    </p:extLst>
  </p:cSld>
  <p:clrMap bg1="lt1" tx1="dk1" bg2="lt2" tx2="dk2" accent1="accent1" accent2="accent2" accent3="accent3" accent4="accent4" accent5="accent5" accent6="accent6" hlink="hlink" folHlink="folHlink"/>
  <p:sldLayoutIdLst>
    <p:sldLayoutId id="21474837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058496" y="5086067"/>
            <a:ext cx="1776908" cy="731336"/>
          </a:xfrm>
          <a:prstGeom prst="rect">
            <a:avLst/>
          </a:prstGeom>
        </p:spPr>
      </p:pic>
      <p:sp>
        <p:nvSpPr>
          <p:cNvPr id="2" name="Rectangle 1"/>
          <p:cNvSpPr/>
          <p:nvPr userDrawn="1"/>
        </p:nvSpPr>
        <p:spPr>
          <a:xfrm>
            <a:off x="0" y="0"/>
            <a:ext cx="12181952" cy="68580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852230" y="6055600"/>
            <a:ext cx="2885379" cy="276999"/>
          </a:xfrm>
          <a:prstGeom prst="rect">
            <a:avLst/>
          </a:prstGeom>
          <a:effectLst>
            <a:outerShdw blurRad="50800" dist="38100" dir="2700000" algn="tl" rotWithShape="0">
              <a:schemeClr val="bg1">
                <a:alpha val="40000"/>
              </a:schemeClr>
            </a:outerShdw>
          </a:effectLst>
        </p:spPr>
        <p:txBody>
          <a:bodyPr wrap="square">
            <a:spAutoFit/>
          </a:bodyPr>
          <a:lstStyle/>
          <a:p>
            <a:r>
              <a:rPr lang="en-US" sz="1200" i="1" spc="20" baseline="0" dirty="0">
                <a:solidFill>
                  <a:srgbClr val="036080"/>
                </a:solidFill>
              </a:rPr>
              <a:t>Helping People Live Better Lives.</a:t>
            </a:r>
          </a:p>
        </p:txBody>
      </p:sp>
    </p:spTree>
    <p:extLst>
      <p:ext uri="{BB962C8B-B14F-4D97-AF65-F5344CB8AC3E}">
        <p14:creationId xmlns:p14="http://schemas.microsoft.com/office/powerpoint/2010/main" val="1527444400"/>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91" r:id="rId3"/>
    <p:sldLayoutId id="2147483796" r:id="rId4"/>
    <p:sldLayoutId id="2147483775" r:id="rId5"/>
    <p:sldLayoutId id="2147483790" r:id="rId6"/>
    <p:sldLayoutId id="2147483789" r:id="rId7"/>
    <p:sldLayoutId id="2147483779" r:id="rId8"/>
    <p:sldLayoutId id="2147483780" r:id="rId9"/>
    <p:sldLayoutId id="2147483787" r:id="rId10"/>
  </p:sldLayoutIdLst>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hf hdr="0" dt="0"/>
  <p:txStyles>
    <p:titleStyle>
      <a:lvl1pPr algn="ctr" defTabSz="914400" rtl="0" eaLnBrk="1" latinLnBrk="0" hangingPunct="1">
        <a:lnSpc>
          <a:spcPct val="90000"/>
        </a:lnSpc>
        <a:spcBef>
          <a:spcPct val="0"/>
        </a:spcBef>
        <a:buNone/>
        <a:defRPr sz="4400" kern="1200" baseline="0">
          <a:ln>
            <a:noFill/>
          </a:ln>
          <a:solidFill>
            <a:srgbClr val="036080"/>
          </a:solidFill>
          <a:latin typeface="Montserrat Semi Bold" panose="00000700000000000000" pitchFamily="50" charset="0"/>
          <a:ea typeface="+mj-ea"/>
          <a:cs typeface="+mj-cs"/>
        </a:defRPr>
      </a:lvl1pPr>
    </p:titleStyle>
    <p:bodyStyle>
      <a:lvl1pPr marL="0" indent="0" algn="ctr" defTabSz="914400" rtl="0" eaLnBrk="1" latinLnBrk="0" hangingPunct="1">
        <a:lnSpc>
          <a:spcPct val="100000"/>
        </a:lnSpc>
        <a:spcBef>
          <a:spcPts val="1000"/>
        </a:spcBef>
        <a:buFont typeface="Arial" panose="020B0604020202020204" pitchFamily="34" charset="0"/>
        <a:buNone/>
        <a:defRPr sz="3200" kern="1200" baseline="0">
          <a:solidFill>
            <a:srgbClr val="BABF33"/>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Clr>
          <a:srgbClr val="B9C8D3"/>
        </a:buClr>
        <a:buFont typeface="Wingdings 3" panose="05040102010807070707" pitchFamily="18" charset="2"/>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Clr>
          <a:srgbClr val="B9C8D3"/>
        </a:buClr>
        <a:buFont typeface="Wingdings 3" panose="05040102010807070707" pitchFamily="18" charset="2"/>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Clr>
          <a:srgbClr val="B9C8D3"/>
        </a:buClr>
        <a:buFont typeface="Wingdings 3" panose="05040102010807070707" pitchFamily="18" charset="2"/>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Clr>
          <a:srgbClr val="B9C8D3"/>
        </a:buClr>
        <a:buFont typeface="Wingdings 3" panose="05040102010807070707" pitchFamily="18" charset="2"/>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64">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3201/eid2704.204800" TargetMode="External"/><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9.png"/><Relationship Id="rId4" Type="http://schemas.openxmlformats.org/officeDocument/2006/relationships/hyperlink" Target="https://doi.org/10.1093/occmed/kqaa03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b="1" dirty="0">
                <a:solidFill>
                  <a:schemeClr val="tx2"/>
                </a:solidFill>
                <a:latin typeface="Arial" panose="020B0604020202020204" pitchFamily="34" charset="0"/>
                <a:cs typeface="Arial" panose="020B0604020202020204" pitchFamily="34" charset="0"/>
              </a:rPr>
              <a:t>Distribution of COVID-19 Cases by Industry Sector, Nebraska, 2020</a:t>
            </a:r>
            <a:endParaRPr lang="en-US" sz="7200" b="1" dirty="0">
              <a:solidFill>
                <a:schemeClr val="tx2"/>
              </a:solidFill>
              <a:latin typeface="Arial" panose="020B0604020202020204" pitchFamily="34" charset="0"/>
              <a:cs typeface="Arial" panose="020B0604020202020204" pitchFamily="34" charset="0"/>
            </a:endParaRPr>
          </a:p>
        </p:txBody>
      </p:sp>
      <p:sp>
        <p:nvSpPr>
          <p:cNvPr id="4" name="Rectangle 3"/>
          <p:cNvSpPr/>
          <p:nvPr/>
        </p:nvSpPr>
        <p:spPr>
          <a:xfrm>
            <a:off x="838199" y="3535370"/>
            <a:ext cx="4518992" cy="2031325"/>
          </a:xfrm>
          <a:prstGeom prst="rect">
            <a:avLst/>
          </a:prstGeom>
        </p:spPr>
        <p:txBody>
          <a:bodyPr wrap="square">
            <a:spAutoFit/>
          </a:bodyPr>
          <a:lstStyle/>
          <a:p>
            <a:endParaRPr lang="en-US" dirty="0"/>
          </a:p>
          <a:p>
            <a:endParaRPr lang="en-US" dirty="0"/>
          </a:p>
          <a:p>
            <a:r>
              <a:rPr lang="en-US" dirty="0">
                <a:latin typeface="Arial" panose="020B0604020202020204" pitchFamily="34" charset="0"/>
                <a:cs typeface="Arial" panose="020B0604020202020204" pitchFamily="34" charset="0"/>
              </a:rPr>
              <a:t>Christopher Austin, MS (Presenter)</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University of Nebraska Medical Center College of Public Health</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endParaRPr lang="en-US" dirty="0"/>
          </a:p>
        </p:txBody>
      </p:sp>
      <p:sp>
        <p:nvSpPr>
          <p:cNvPr id="5" name="Rectangle 4"/>
          <p:cNvSpPr/>
          <p:nvPr/>
        </p:nvSpPr>
        <p:spPr>
          <a:xfrm>
            <a:off x="5551203" y="3499093"/>
            <a:ext cx="5665304" cy="2031325"/>
          </a:xfrm>
          <a:prstGeom prst="rect">
            <a:avLst/>
          </a:prstGeom>
        </p:spPr>
        <p:txBody>
          <a:bodyPr wrap="square">
            <a:spAutoFit/>
          </a:bodyPr>
          <a:lstStyle/>
          <a:p>
            <a:endParaRPr lang="en-US" dirty="0"/>
          </a:p>
          <a:p>
            <a:endParaRPr lang="en-US" dirty="0"/>
          </a:p>
          <a:p>
            <a:r>
              <a:rPr lang="en-US" dirty="0">
                <a:latin typeface="Arial" panose="020B0604020202020204" pitchFamily="34" charset="0"/>
                <a:cs typeface="Arial" panose="020B0604020202020204" pitchFamily="34" charset="0"/>
              </a:rPr>
              <a:t>Derry Stover, MPH</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Nebraska Dept of Health and Human Services</a:t>
            </a:r>
          </a:p>
          <a:p>
            <a:r>
              <a:rPr lang="en-US" dirty="0">
                <a:latin typeface="Arial" panose="020B0604020202020204" pitchFamily="34" charset="0"/>
                <a:cs typeface="Arial" panose="020B0604020202020204" pitchFamily="34" charset="0"/>
              </a:rPr>
              <a:t>Division of Public Health</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endParaRPr lang="en-US" dirty="0"/>
          </a:p>
        </p:txBody>
      </p:sp>
      <p:sp>
        <p:nvSpPr>
          <p:cNvPr id="6" name="Rectangle 5"/>
          <p:cNvSpPr/>
          <p:nvPr/>
        </p:nvSpPr>
        <p:spPr>
          <a:xfrm>
            <a:off x="838199" y="2574542"/>
            <a:ext cx="6096000" cy="369332"/>
          </a:xfrm>
          <a:prstGeom prst="rect">
            <a:avLst/>
          </a:prstGeom>
        </p:spPr>
        <p:txBody>
          <a:bodyPr>
            <a:spAutoFit/>
          </a:bodyPr>
          <a:lstStyle/>
          <a:p>
            <a:r>
              <a:rPr lang="en-US" dirty="0">
                <a:latin typeface="Arial" panose="020B0604020202020204" pitchFamily="34" charset="0"/>
                <a:cs typeface="Arial" panose="020B0604020202020204" pitchFamily="34" charset="0"/>
              </a:rPr>
              <a:t>October 2021</a:t>
            </a:r>
          </a:p>
        </p:txBody>
      </p:sp>
    </p:spTree>
    <p:extLst>
      <p:ext uri="{BB962C8B-B14F-4D97-AF65-F5344CB8AC3E}">
        <p14:creationId xmlns:p14="http://schemas.microsoft.com/office/powerpoint/2010/main" val="2554059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Main findings</a:t>
            </a:r>
          </a:p>
        </p:txBody>
      </p:sp>
      <p:sp>
        <p:nvSpPr>
          <p:cNvPr id="3" name="Text Placeholder 2"/>
          <p:cNvSpPr>
            <a:spLocks noGrp="1"/>
          </p:cNvSpPr>
          <p:nvPr>
            <p:ph type="body" sz="quarter" idx="12"/>
          </p:nvPr>
        </p:nvSpPr>
        <p:spPr>
          <a:xfrm>
            <a:off x="288897" y="968829"/>
            <a:ext cx="10118972" cy="5132613"/>
          </a:xfrm>
        </p:spPr>
        <p:txBody>
          <a:bodyPr/>
          <a:lstStyle/>
          <a:p>
            <a:r>
              <a:rPr lang="en-US" sz="2800" dirty="0">
                <a:latin typeface="Arial" panose="020B0604020202020204" pitchFamily="34" charset="0"/>
                <a:cs typeface="Arial" panose="020B0604020202020204" pitchFamily="34" charset="0"/>
              </a:rPr>
              <a:t>COVID-19 impacted all industry sectors of Nebraska’s workforce in 2020.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Certain sectors such as manufacturing, public administration, and educational services experienced higher case rates compared to other sectors.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Majority of employed cases (83%) worked outside of home in the past 14 days prior to their symptom onset or positive test date. </a:t>
            </a:r>
          </a:p>
        </p:txBody>
      </p:sp>
    </p:spTree>
    <p:extLst>
      <p:ext uri="{BB962C8B-B14F-4D97-AF65-F5344CB8AC3E}">
        <p14:creationId xmlns:p14="http://schemas.microsoft.com/office/powerpoint/2010/main" val="9218598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Intro and Methods</a:t>
            </a:r>
          </a:p>
        </p:txBody>
      </p:sp>
      <p:sp>
        <p:nvSpPr>
          <p:cNvPr id="6" name="Text Placeholder 5"/>
          <p:cNvSpPr>
            <a:spLocks noGrp="1"/>
          </p:cNvSpPr>
          <p:nvPr>
            <p:ph type="body" sz="quarter" idx="13"/>
          </p:nvPr>
        </p:nvSpPr>
        <p:spPr>
          <a:xfrm>
            <a:off x="0" y="971112"/>
            <a:ext cx="6495930" cy="5796452"/>
          </a:xfrm>
        </p:spPr>
        <p:txBody>
          <a:bodyPr/>
          <a:lstStyle/>
          <a:p>
            <a:r>
              <a:rPr lang="en-US" dirty="0">
                <a:latin typeface="Arial" panose="020B0604020202020204" pitchFamily="34" charset="0"/>
                <a:cs typeface="Arial" panose="020B0604020202020204" pitchFamily="34" charset="0"/>
              </a:rPr>
              <a:t>Occupational outbreaks of COVID-19 have been described during the pandemic</a:t>
            </a:r>
            <a:r>
              <a:rPr lang="en-US" baseline="30000" dirty="0">
                <a:latin typeface="Arial" panose="020B0604020202020204" pitchFamily="34" charset="0"/>
                <a:cs typeface="Arial" panose="020B0604020202020204" pitchFamily="34" charset="0"/>
              </a:rPr>
              <a:t>1,2</a:t>
            </a:r>
            <a:r>
              <a:rPr lang="en-US" dirty="0">
                <a:latin typeface="Arial" panose="020B0604020202020204" pitchFamily="34" charset="0"/>
                <a:cs typeface="Arial" panose="020B0604020202020204" pitchFamily="34" charset="0"/>
              </a:rPr>
              <a:t>. However, epidemiology of COVID-19 across a larger workforce population is currently not well characterized in the United States.</a:t>
            </a:r>
          </a:p>
          <a:p>
            <a:pPr marL="182880" indent="0">
              <a:buNone/>
            </a:pP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We describe COVID-19 cases by industry sector to better understand how the pandemic has affected Nebraska’s workforce.</a:t>
            </a:r>
          </a:p>
          <a:p>
            <a:endParaRPr lang="en-US" sz="12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120,000 working age COVID-19 cases </a:t>
            </a:r>
          </a:p>
          <a:p>
            <a:endParaRPr lang="en-US" sz="12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56,878 (47%) employed cases coded</a:t>
            </a:r>
          </a:p>
          <a:p>
            <a:endParaRPr lang="en-US" sz="12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Discarded 63,474 (53%) cases with insufficient employer data, retired, unemployed, or military. </a:t>
            </a:r>
          </a:p>
          <a:p>
            <a:endParaRPr lang="en-US" dirty="0"/>
          </a:p>
          <a:p>
            <a:endParaRPr lang="en-US" dirty="0"/>
          </a:p>
        </p:txBody>
      </p:sp>
      <p:graphicFrame>
        <p:nvGraphicFramePr>
          <p:cNvPr id="7" name="Diagram 6" descr="Smart art diagram illustrating methods used to collect , categorize, and analyze data presented in presentation."/>
          <p:cNvGraphicFramePr/>
          <p:nvPr>
            <p:extLst>
              <p:ext uri="{D42A27DB-BD31-4B8C-83A1-F6EECF244321}">
                <p14:modId xmlns:p14="http://schemas.microsoft.com/office/powerpoint/2010/main" val="2583200990"/>
              </p:ext>
            </p:extLst>
          </p:nvPr>
        </p:nvGraphicFramePr>
        <p:xfrm>
          <a:off x="6495930" y="971111"/>
          <a:ext cx="5421516" cy="5796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460312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Arial" panose="020B0604020202020204" pitchFamily="34" charset="0"/>
                <a:cs typeface="Arial" panose="020B0604020202020204" pitchFamily="34" charset="0"/>
              </a:rPr>
              <a:t>Results</a:t>
            </a:r>
          </a:p>
        </p:txBody>
      </p:sp>
      <p:graphicFrame>
        <p:nvGraphicFramePr>
          <p:cNvPr id="6" name="Chart 5" descr="This is a chart that shows the distribution of cases by industry sectors. The left side of the chart, in yellow, represents the percentage of cases by industry sector from the total codable employed cases. On the right side of the chart, in dark blue, is the percentage of each industry sector of the total workforce."/>
          <p:cNvGraphicFramePr>
            <a:graphicFrameLocks noGrp="1"/>
          </p:cNvGraphicFramePr>
          <p:nvPr>
            <p:extLst>
              <p:ext uri="{D42A27DB-BD31-4B8C-83A1-F6EECF244321}">
                <p14:modId xmlns:p14="http://schemas.microsoft.com/office/powerpoint/2010/main" val="1903076477"/>
              </p:ext>
            </p:extLst>
          </p:nvPr>
        </p:nvGraphicFramePr>
        <p:xfrm>
          <a:off x="0" y="957942"/>
          <a:ext cx="12192000" cy="5900057"/>
        </p:xfrm>
        <a:graphic>
          <a:graphicData uri="http://schemas.openxmlformats.org/drawingml/2006/chart">
            <c:chart xmlns:c="http://schemas.openxmlformats.org/drawingml/2006/chart" xmlns:r="http://schemas.openxmlformats.org/officeDocument/2006/relationships" r:id="rId3"/>
          </a:graphicData>
        </a:graphic>
      </p:graphicFrame>
      <p:sp>
        <p:nvSpPr>
          <p:cNvPr id="2" name="5-Point Star 1" descr="Green star to highlight low proportion of cases Health Care and Social Assistance cases relative to their high overall workforce proportion. "/>
          <p:cNvSpPr/>
          <p:nvPr/>
        </p:nvSpPr>
        <p:spPr>
          <a:xfrm>
            <a:off x="2917371" y="2057401"/>
            <a:ext cx="250372" cy="206828"/>
          </a:xfrm>
          <a:prstGeom prst="star5">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65020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825" y="365126"/>
            <a:ext cx="11552349" cy="696420"/>
          </a:xfrm>
        </p:spPr>
        <p:txBody>
          <a:bodyPr/>
          <a:lstStyle/>
          <a:p>
            <a:r>
              <a:rPr lang="en-US" dirty="0"/>
              <a:t>Results</a:t>
            </a:r>
          </a:p>
        </p:txBody>
      </p:sp>
      <p:graphicFrame>
        <p:nvGraphicFramePr>
          <p:cNvPr id="4" name="Chart 3" descr="Chart showing sector-based rates of cases, per 100,000 employed workers, and sector-based rates of those that worked outside of the home in the past 14 days prior to symptom onset or their positive test date, and the rate of those workers who did not work outside of the home during those 14 days. "/>
          <p:cNvGraphicFramePr>
            <a:graphicFrameLocks/>
          </p:cNvGraphicFramePr>
          <p:nvPr>
            <p:extLst>
              <p:ext uri="{D42A27DB-BD31-4B8C-83A1-F6EECF244321}">
                <p14:modId xmlns:p14="http://schemas.microsoft.com/office/powerpoint/2010/main" val="1363289328"/>
              </p:ext>
            </p:extLst>
          </p:nvPr>
        </p:nvGraphicFramePr>
        <p:xfrm>
          <a:off x="0" y="979714"/>
          <a:ext cx="12192000" cy="5878286"/>
        </p:xfrm>
        <a:graphic>
          <a:graphicData uri="http://schemas.openxmlformats.org/drawingml/2006/chart">
            <c:chart xmlns:c="http://schemas.openxmlformats.org/drawingml/2006/chart" xmlns:r="http://schemas.openxmlformats.org/officeDocument/2006/relationships" r:id="rId3"/>
          </a:graphicData>
        </a:graphic>
      </p:graphicFrame>
      <p:sp>
        <p:nvSpPr>
          <p:cNvPr id="6" name="5-Point Star 5" descr="Green star to highlight sector with higher rate of &quot;Did not work outside of home in past 14 days&quot;."/>
          <p:cNvSpPr/>
          <p:nvPr/>
        </p:nvSpPr>
        <p:spPr>
          <a:xfrm>
            <a:off x="9100457" y="2917372"/>
            <a:ext cx="250372" cy="206828"/>
          </a:xfrm>
          <a:prstGeom prst="star5">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5-Point Star 6" descr="Green star to highlight sector with higher rate of &quot;Did not work outside of home in past 14 days&quot;."/>
          <p:cNvSpPr/>
          <p:nvPr/>
        </p:nvSpPr>
        <p:spPr>
          <a:xfrm>
            <a:off x="6836228" y="2917372"/>
            <a:ext cx="250372" cy="206828"/>
          </a:xfrm>
          <a:prstGeom prst="star5">
            <a:avLst/>
          </a:prstGeom>
          <a:solidFill>
            <a:srgbClr val="00B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56146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846764" y="2098065"/>
            <a:ext cx="10478729" cy="928599"/>
          </a:xfrm>
        </p:spPr>
        <p:txBody>
          <a:bodyPr/>
          <a:lstStyle/>
          <a:p>
            <a:pPr>
              <a:spcAft>
                <a:spcPts val="0"/>
              </a:spcAft>
              <a:tabLst>
                <a:tab pos="6400800" algn="l"/>
              </a:tabLst>
            </a:pPr>
            <a:r>
              <a:rPr lang="en-US" sz="1600" dirty="0">
                <a:solidFill>
                  <a:schemeClr val="tx1"/>
                </a:solidFill>
                <a:latin typeface="Arial" panose="020B0604020202020204" pitchFamily="34" charset="0"/>
                <a:cs typeface="Arial" panose="020B0604020202020204" pitchFamily="34" charset="0"/>
              </a:rPr>
              <a:t>MPH Graduate Student</a:t>
            </a:r>
          </a:p>
          <a:p>
            <a:pPr>
              <a:spcAft>
                <a:spcPts val="0"/>
              </a:spcAft>
            </a:pPr>
            <a:r>
              <a:rPr lang="en-US" sz="1600" dirty="0">
                <a:solidFill>
                  <a:schemeClr val="tx1"/>
                </a:solidFill>
                <a:latin typeface="Arial" panose="020B0604020202020204" pitchFamily="34" charset="0"/>
                <a:cs typeface="Arial" panose="020B0604020202020204" pitchFamily="34" charset="0"/>
              </a:rPr>
              <a:t>University of Nebraska Medical Center / Nebraska Dept of Health and Human Services</a:t>
            </a:r>
          </a:p>
          <a:p>
            <a:pPr>
              <a:spcAft>
                <a:spcPts val="0"/>
              </a:spcAft>
            </a:pPr>
            <a:r>
              <a:rPr lang="en-US" sz="1600" dirty="0">
                <a:solidFill>
                  <a:schemeClr val="tx1"/>
                </a:solidFill>
                <a:latin typeface="Arial" panose="020B0604020202020204" pitchFamily="34" charset="0"/>
                <a:cs typeface="Arial" panose="020B0604020202020204" pitchFamily="34" charset="0"/>
              </a:rPr>
              <a:t>Christopher.Austin@Nebraska.gov</a:t>
            </a:r>
          </a:p>
        </p:txBody>
      </p:sp>
      <p:sp>
        <p:nvSpPr>
          <p:cNvPr id="3" name="Text Placeholder 2"/>
          <p:cNvSpPr>
            <a:spLocks noGrp="1"/>
          </p:cNvSpPr>
          <p:nvPr>
            <p:ph type="body" sz="quarter" idx="12"/>
          </p:nvPr>
        </p:nvSpPr>
        <p:spPr>
          <a:xfrm>
            <a:off x="846764" y="1441244"/>
            <a:ext cx="10478729" cy="469563"/>
          </a:xfrm>
        </p:spPr>
        <p:txBody>
          <a:bodyPr/>
          <a:lstStyle/>
          <a:p>
            <a:r>
              <a:rPr lang="en-US" dirty="0">
                <a:latin typeface="Arial" panose="020B0604020202020204" pitchFamily="34" charset="0"/>
                <a:cs typeface="Arial" panose="020B0604020202020204" pitchFamily="34" charset="0"/>
              </a:rPr>
              <a:t>Christopher Austin, MS</a:t>
            </a:r>
          </a:p>
        </p:txBody>
      </p:sp>
      <p:sp>
        <p:nvSpPr>
          <p:cNvPr id="4" name="TextBox 3"/>
          <p:cNvSpPr txBox="1"/>
          <p:nvPr/>
        </p:nvSpPr>
        <p:spPr>
          <a:xfrm>
            <a:off x="1714500" y="546100"/>
            <a:ext cx="8966200" cy="707886"/>
          </a:xfrm>
          <a:prstGeom prst="rect">
            <a:avLst/>
          </a:prstGeom>
          <a:noFill/>
        </p:spPr>
        <p:txBody>
          <a:bodyPr wrap="square" rtlCol="0">
            <a:spAutoFit/>
          </a:bodyPr>
          <a:lstStyle/>
          <a:p>
            <a:pPr algn="ctr"/>
            <a:r>
              <a:rPr lang="en-US" sz="4000" dirty="0">
                <a:latin typeface="Arial" panose="020B0604020202020204" pitchFamily="34" charset="0"/>
                <a:cs typeface="Arial" panose="020B0604020202020204" pitchFamily="34" charset="0"/>
              </a:rPr>
              <a:t>THANK YOU!</a:t>
            </a:r>
          </a:p>
        </p:txBody>
      </p:sp>
      <p:sp>
        <p:nvSpPr>
          <p:cNvPr id="8" name="Text Placeholder 2"/>
          <p:cNvSpPr>
            <a:spLocks noGrp="1"/>
          </p:cNvSpPr>
          <p:nvPr>
            <p:ph type="body" sz="quarter" idx="13"/>
          </p:nvPr>
        </p:nvSpPr>
        <p:spPr>
          <a:xfrm>
            <a:off x="492470" y="4328177"/>
            <a:ext cx="10546660" cy="928599"/>
          </a:xfrm>
        </p:spPr>
        <p:txBody>
          <a:bodyPr/>
          <a:lstStyle/>
          <a:p>
            <a:pPr algn="l">
              <a:spcBef>
                <a:spcPts val="0"/>
              </a:spcBef>
            </a:pPr>
            <a:r>
              <a:rPr lang="en-US" sz="900" dirty="0">
                <a:latin typeface="Arial" panose="020B0604020202020204" pitchFamily="34" charset="0"/>
                <a:cs typeface="Arial" panose="020B0604020202020204" pitchFamily="34" charset="0"/>
              </a:rPr>
              <a:t>References:</a:t>
            </a:r>
          </a:p>
          <a:p>
            <a:pPr algn="l">
              <a:spcBef>
                <a:spcPts val="0"/>
              </a:spcBef>
            </a:pPr>
            <a:r>
              <a:rPr lang="en-US" sz="900" dirty="0">
                <a:latin typeface="Arial" panose="020B0604020202020204" pitchFamily="34" charset="0"/>
                <a:cs typeface="Arial" panose="020B0604020202020204" pitchFamily="34" charset="0"/>
              </a:rPr>
              <a:t>1. </a:t>
            </a:r>
            <a:r>
              <a:rPr lang="en-US" sz="900" dirty="0" err="1">
                <a:latin typeface="Arial" panose="020B0604020202020204" pitchFamily="34" charset="0"/>
                <a:cs typeface="Arial" panose="020B0604020202020204" pitchFamily="34" charset="0"/>
              </a:rPr>
              <a:t>Herstein</a:t>
            </a:r>
            <a:r>
              <a:rPr lang="en-US" sz="900" dirty="0">
                <a:latin typeface="Arial" panose="020B0604020202020204" pitchFamily="34" charset="0"/>
                <a:cs typeface="Arial" panose="020B0604020202020204" pitchFamily="34" charset="0"/>
              </a:rPr>
              <a:t>, J. J., </a:t>
            </a:r>
            <a:r>
              <a:rPr lang="en-US" sz="900" dirty="0" err="1">
                <a:latin typeface="Arial" panose="020B0604020202020204" pitchFamily="34" charset="0"/>
                <a:cs typeface="Arial" panose="020B0604020202020204" pitchFamily="34" charset="0"/>
              </a:rPr>
              <a:t>Degarege</a:t>
            </a:r>
            <a:r>
              <a:rPr lang="en-US" sz="900" dirty="0">
                <a:latin typeface="Arial" panose="020B0604020202020204" pitchFamily="34" charset="0"/>
                <a:cs typeface="Arial" panose="020B0604020202020204" pitchFamily="34" charset="0"/>
              </a:rPr>
              <a:t>, A., Stover, D., Austin, C., </a:t>
            </a:r>
            <a:r>
              <a:rPr lang="en-US" sz="900" dirty="0" err="1">
                <a:latin typeface="Arial" panose="020B0604020202020204" pitchFamily="34" charset="0"/>
                <a:cs typeface="Arial" panose="020B0604020202020204" pitchFamily="34" charset="0"/>
              </a:rPr>
              <a:t>Schwedhelm</a:t>
            </a:r>
            <a:r>
              <a:rPr lang="en-US" sz="900" dirty="0">
                <a:latin typeface="Arial" panose="020B0604020202020204" pitchFamily="34" charset="0"/>
                <a:cs typeface="Arial" panose="020B0604020202020204" pitchFamily="34" charset="0"/>
              </a:rPr>
              <a:t>, M. M., Lawler, J. V....Donahue, M. (2021). Characteristics of SARS-CoV-2 Transmission among Meat Processing Workers in Nebraska, USA, and Effectiveness of Risk Mitigation Measures. </a:t>
            </a:r>
            <a:r>
              <a:rPr lang="en-US" sz="900" i="1" dirty="0">
                <a:latin typeface="Arial" panose="020B0604020202020204" pitchFamily="34" charset="0"/>
                <a:cs typeface="Arial" panose="020B0604020202020204" pitchFamily="34" charset="0"/>
              </a:rPr>
              <a:t>Emerging Infectious Diseases</a:t>
            </a:r>
            <a:r>
              <a:rPr lang="en-US" sz="900" dirty="0">
                <a:latin typeface="Arial" panose="020B0604020202020204" pitchFamily="34" charset="0"/>
                <a:cs typeface="Arial" panose="020B0604020202020204" pitchFamily="34" charset="0"/>
              </a:rPr>
              <a:t>, </a:t>
            </a:r>
            <a:r>
              <a:rPr lang="en-US" sz="900" i="1" dirty="0">
                <a:latin typeface="Arial" panose="020B0604020202020204" pitchFamily="34" charset="0"/>
                <a:cs typeface="Arial" panose="020B0604020202020204" pitchFamily="34" charset="0"/>
              </a:rPr>
              <a:t>27</a:t>
            </a:r>
            <a:r>
              <a:rPr lang="en-US" sz="900" dirty="0">
                <a:latin typeface="Arial" panose="020B0604020202020204" pitchFamily="34" charset="0"/>
                <a:cs typeface="Arial" panose="020B0604020202020204" pitchFamily="34" charset="0"/>
              </a:rPr>
              <a:t>(4), 1032-1038. </a:t>
            </a:r>
            <a:r>
              <a:rPr lang="en-US" sz="900" dirty="0">
                <a:latin typeface="Arial" panose="020B0604020202020204" pitchFamily="34" charset="0"/>
                <a:cs typeface="Arial" panose="020B0604020202020204" pitchFamily="34" charset="0"/>
                <a:hlinkClick r:id="rId3"/>
              </a:rPr>
              <a:t>https://doi.org/10.3201/eid2704.204800</a:t>
            </a:r>
            <a:r>
              <a:rPr lang="en-US" sz="900" dirty="0">
                <a:latin typeface="Arial" panose="020B0604020202020204" pitchFamily="34" charset="0"/>
                <a:cs typeface="Arial" panose="020B0604020202020204" pitchFamily="34" charset="0"/>
              </a:rPr>
              <a:t>. </a:t>
            </a:r>
          </a:p>
          <a:p>
            <a:pPr algn="l">
              <a:spcBef>
                <a:spcPts val="0"/>
              </a:spcBef>
            </a:pPr>
            <a:r>
              <a:rPr lang="en-US" sz="900" dirty="0">
                <a:latin typeface="Arial" panose="020B0604020202020204" pitchFamily="34" charset="0"/>
                <a:cs typeface="Arial" panose="020B0604020202020204" pitchFamily="34" charset="0"/>
              </a:rPr>
              <a:t>2. </a:t>
            </a:r>
            <a:r>
              <a:rPr lang="en-US" sz="900" dirty="0" err="1">
                <a:latin typeface="Arial" panose="020B0604020202020204" pitchFamily="34" charset="0"/>
                <a:cs typeface="Arial" panose="020B0604020202020204" pitchFamily="34" charset="0"/>
              </a:rPr>
              <a:t>Koh</a:t>
            </a:r>
            <a:r>
              <a:rPr lang="en-US" sz="900" dirty="0">
                <a:latin typeface="Arial" panose="020B0604020202020204" pitchFamily="34" charset="0"/>
                <a:cs typeface="Arial" panose="020B0604020202020204" pitchFamily="34" charset="0"/>
              </a:rPr>
              <a:t> D. (2020). Occupational risks for COVID-19 infection. </a:t>
            </a:r>
            <a:r>
              <a:rPr lang="en-US" sz="900" i="1" dirty="0">
                <a:latin typeface="Arial" panose="020B0604020202020204" pitchFamily="34" charset="0"/>
                <a:cs typeface="Arial" panose="020B0604020202020204" pitchFamily="34" charset="0"/>
              </a:rPr>
              <a:t>Occupational medicine (Oxford, England)</a:t>
            </a:r>
            <a:r>
              <a:rPr lang="en-US" sz="900" dirty="0">
                <a:latin typeface="Arial" panose="020B0604020202020204" pitchFamily="34" charset="0"/>
                <a:cs typeface="Arial" panose="020B0604020202020204" pitchFamily="34" charset="0"/>
              </a:rPr>
              <a:t>, </a:t>
            </a:r>
            <a:r>
              <a:rPr lang="en-US" sz="900" i="1" dirty="0">
                <a:latin typeface="Arial" panose="020B0604020202020204" pitchFamily="34" charset="0"/>
                <a:cs typeface="Arial" panose="020B0604020202020204" pitchFamily="34" charset="0"/>
              </a:rPr>
              <a:t>70</a:t>
            </a:r>
            <a:r>
              <a:rPr lang="en-US" sz="900" dirty="0">
                <a:latin typeface="Arial" panose="020B0604020202020204" pitchFamily="34" charset="0"/>
                <a:cs typeface="Arial" panose="020B0604020202020204" pitchFamily="34" charset="0"/>
              </a:rPr>
              <a:t>(1), 3–5. </a:t>
            </a:r>
            <a:r>
              <a:rPr lang="en-US" sz="900" dirty="0">
                <a:latin typeface="Arial" panose="020B0604020202020204" pitchFamily="34" charset="0"/>
                <a:cs typeface="Arial" panose="020B0604020202020204" pitchFamily="34" charset="0"/>
                <a:hlinkClick r:id="rId4"/>
              </a:rPr>
              <a:t>https://doi.org/10.1093/occmed/kqaa036</a:t>
            </a:r>
            <a:r>
              <a:rPr lang="en-US" sz="900" dirty="0">
                <a:latin typeface="Arial" panose="020B0604020202020204" pitchFamily="34" charset="0"/>
                <a:cs typeface="Arial" panose="020B0604020202020204" pitchFamily="34" charset="0"/>
              </a:rPr>
              <a:t> </a:t>
            </a:r>
          </a:p>
          <a:p>
            <a:pPr algn="l">
              <a:spcBef>
                <a:spcPts val="0"/>
              </a:spcBef>
            </a:pPr>
            <a:r>
              <a:rPr lang="en-US" sz="900" dirty="0">
                <a:latin typeface="Arial" panose="020B0604020202020204" pitchFamily="34" charset="0"/>
                <a:cs typeface="Arial" panose="020B0604020202020204" pitchFamily="34" charset="0"/>
              </a:rPr>
              <a:t>3. Centers for Disease Control and Prevention. (2021, February 9). </a:t>
            </a:r>
            <a:r>
              <a:rPr lang="en-US" sz="900" i="1" dirty="0">
                <a:latin typeface="Arial" panose="020B0604020202020204" pitchFamily="34" charset="0"/>
                <a:cs typeface="Arial" panose="020B0604020202020204" pitchFamily="34" charset="0"/>
              </a:rPr>
              <a:t>Collecting and Using Industry and Occupation Data</a:t>
            </a:r>
            <a:r>
              <a:rPr lang="en-US" sz="900" dirty="0">
                <a:latin typeface="Arial" panose="020B0604020202020204" pitchFamily="34" charset="0"/>
                <a:cs typeface="Arial" panose="020B0604020202020204" pitchFamily="34" charset="0"/>
              </a:rPr>
              <a:t>. The National Institute for Occupational Safety and Health (NIOSH). Retrieved from https://www.cdc.gov/niosh/topics/coding/code.html. </a:t>
            </a:r>
          </a:p>
          <a:p>
            <a:pPr algn="l">
              <a:spcBef>
                <a:spcPts val="0"/>
              </a:spcBef>
            </a:pPr>
            <a:endParaRPr lang="en-US" sz="900" dirty="0"/>
          </a:p>
        </p:txBody>
      </p:sp>
      <p:sp>
        <p:nvSpPr>
          <p:cNvPr id="13" name="TextBox 12"/>
          <p:cNvSpPr txBox="1"/>
          <p:nvPr/>
        </p:nvSpPr>
        <p:spPr>
          <a:xfrm>
            <a:off x="649224" y="3026664"/>
            <a:ext cx="10676269" cy="1231106"/>
          </a:xfrm>
          <a:prstGeom prst="rect">
            <a:avLst/>
          </a:prstGeom>
          <a:noFill/>
        </p:spPr>
        <p:txBody>
          <a:bodyPr wrap="square" rtlCol="0">
            <a:spAutoFit/>
          </a:bodyPr>
          <a:lstStyle/>
          <a:p>
            <a:pPr algn="ctr">
              <a:tabLst>
                <a:tab pos="6400800" algn="l"/>
              </a:tabLst>
            </a:pPr>
            <a:r>
              <a:rPr lang="en-US" b="1" dirty="0">
                <a:solidFill>
                  <a:schemeClr val="tx1">
                    <a:lumMod val="65000"/>
                    <a:lumOff val="35000"/>
                  </a:schemeClr>
                </a:solidFill>
                <a:latin typeface="Arial" panose="020B0604020202020204" pitchFamily="34" charset="0"/>
                <a:cs typeface="Arial" panose="020B0604020202020204" pitchFamily="34" charset="0"/>
              </a:rPr>
              <a:t>Acknowledgements</a:t>
            </a:r>
          </a:p>
          <a:p>
            <a:pPr marL="285750" indent="-285750" algn="ctr">
              <a:spcAft>
                <a:spcPts val="0"/>
              </a:spcAft>
              <a:buFont typeface="Arial" panose="020B0604020202020204" pitchFamily="34" charset="0"/>
              <a:buChar char="•"/>
              <a:tabLst>
                <a:tab pos="6400800" algn="l"/>
              </a:tabLst>
            </a:pPr>
            <a:r>
              <a:rPr lang="en-US" sz="1400" b="1" dirty="0">
                <a:solidFill>
                  <a:schemeClr val="tx1">
                    <a:lumMod val="65000"/>
                    <a:lumOff val="35000"/>
                  </a:schemeClr>
                </a:solidFill>
                <a:latin typeface="Arial" panose="020B0604020202020204" pitchFamily="34" charset="0"/>
                <a:cs typeface="Arial" panose="020B0604020202020204" pitchFamily="34" charset="0"/>
              </a:rPr>
              <a:t>NIOCCS Team (CDC-NIOSH)</a:t>
            </a:r>
          </a:p>
          <a:p>
            <a:pPr marL="285750" indent="-285750" algn="ctr">
              <a:spcAft>
                <a:spcPts val="0"/>
              </a:spcAft>
              <a:buFont typeface="Arial" panose="020B0604020202020204" pitchFamily="34" charset="0"/>
              <a:buChar char="•"/>
              <a:tabLst>
                <a:tab pos="6400800" algn="l"/>
              </a:tabLst>
            </a:pPr>
            <a:r>
              <a:rPr lang="en-US" sz="1400" b="1" dirty="0">
                <a:solidFill>
                  <a:schemeClr val="tx1">
                    <a:lumMod val="65000"/>
                    <a:lumOff val="35000"/>
                  </a:schemeClr>
                </a:solidFill>
                <a:latin typeface="Arial" panose="020B0604020202020204" pitchFamily="34" charset="0"/>
                <a:cs typeface="Arial" panose="020B0604020202020204" pitchFamily="34" charset="0"/>
              </a:rPr>
              <a:t>Staff at Nebraska Local Health Departments</a:t>
            </a:r>
          </a:p>
          <a:p>
            <a:pPr marL="285750" indent="-285750" algn="ctr">
              <a:spcAft>
                <a:spcPts val="0"/>
              </a:spcAft>
              <a:buFont typeface="Arial" panose="020B0604020202020204" pitchFamily="34" charset="0"/>
              <a:buChar char="•"/>
              <a:tabLst>
                <a:tab pos="6400800" algn="l"/>
              </a:tabLst>
            </a:pPr>
            <a:r>
              <a:rPr lang="en-US" sz="1400" b="1" dirty="0">
                <a:solidFill>
                  <a:schemeClr val="tx1">
                    <a:lumMod val="65000"/>
                    <a:lumOff val="35000"/>
                  </a:schemeClr>
                </a:solidFill>
                <a:latin typeface="Arial" panose="020B0604020202020204" pitchFamily="34" charset="0"/>
                <a:cs typeface="Arial" panose="020B0604020202020204" pitchFamily="34" charset="0"/>
              </a:rPr>
              <a:t>Contact Tracers and Case Investigators</a:t>
            </a:r>
          </a:p>
          <a:p>
            <a:pPr marL="285750" indent="-285750" algn="ctr">
              <a:spcAft>
                <a:spcPts val="0"/>
              </a:spcAft>
              <a:buFont typeface="Arial" panose="020B0604020202020204" pitchFamily="34" charset="0"/>
              <a:buChar char="•"/>
              <a:tabLst>
                <a:tab pos="6400800" algn="l"/>
              </a:tabLst>
            </a:pPr>
            <a:r>
              <a:rPr lang="en-US" sz="1400" b="1" dirty="0">
                <a:solidFill>
                  <a:schemeClr val="tx1">
                    <a:lumMod val="65000"/>
                    <a:lumOff val="35000"/>
                  </a:schemeClr>
                </a:solidFill>
                <a:latin typeface="Arial" panose="020B0604020202020204" pitchFamily="34" charset="0"/>
                <a:cs typeface="Arial" panose="020B0604020202020204" pitchFamily="34" charset="0"/>
              </a:rPr>
              <a:t>Matthew Donahue, MD (Interim State Epidemiologist)</a:t>
            </a:r>
          </a:p>
        </p:txBody>
      </p:sp>
      <p:pic>
        <p:nvPicPr>
          <p:cNvPr id="5" name="Picture 4" descr="University of Nebraska Medical Center logo. "/>
          <p:cNvPicPr>
            <a:picLocks noChangeAspect="1"/>
          </p:cNvPicPr>
          <p:nvPr/>
        </p:nvPicPr>
        <p:blipFill>
          <a:blip r:embed="rId5"/>
          <a:stretch>
            <a:fillRect/>
          </a:stretch>
        </p:blipFill>
        <p:spPr>
          <a:xfrm>
            <a:off x="7608340" y="5111738"/>
            <a:ext cx="2355606" cy="745659"/>
          </a:xfrm>
          <a:prstGeom prst="rect">
            <a:avLst/>
          </a:prstGeom>
        </p:spPr>
      </p:pic>
    </p:spTree>
    <p:extLst>
      <p:ext uri="{BB962C8B-B14F-4D97-AF65-F5344CB8AC3E}">
        <p14:creationId xmlns:p14="http://schemas.microsoft.com/office/powerpoint/2010/main" val="23682123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rand Theme Master">
  <a:themeElements>
    <a:clrScheme name="New Brand Colors">
      <a:dk1>
        <a:sysClr val="windowText" lastClr="000000"/>
      </a:dk1>
      <a:lt1>
        <a:sysClr val="window" lastClr="FFFFFF"/>
      </a:lt1>
      <a:dk2>
        <a:srgbClr val="036080"/>
      </a:dk2>
      <a:lt2>
        <a:srgbClr val="B9C8D3"/>
      </a:lt2>
      <a:accent1>
        <a:srgbClr val="BABF33"/>
      </a:accent1>
      <a:accent2>
        <a:srgbClr val="FFC843"/>
      </a:accent2>
      <a:accent3>
        <a:srgbClr val="B9C8D3"/>
      </a:accent3>
      <a:accent4>
        <a:srgbClr val="036080"/>
      </a:accent4>
      <a:accent5>
        <a:srgbClr val="FFC843"/>
      </a:accent5>
      <a:accent6>
        <a:srgbClr val="BABF33"/>
      </a:accent6>
      <a:hlink>
        <a:srgbClr val="036080"/>
      </a:hlink>
      <a:folHlink>
        <a:srgbClr val="BABF33"/>
      </a:folHlink>
    </a:clrScheme>
    <a:fontScheme name="Brand fonts">
      <a:majorFont>
        <a:latin typeface="Roboto Black"/>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AND PPT TEMPLATE" id="{B6D2EE42-8E16-4743-BA5A-6A556B75F7D0}" vid="{7CE6E7F2-AB64-449A-AFF9-DE15E83D1FA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HHS Brand 2">
    <a:dk1>
      <a:sysClr val="windowText" lastClr="000000"/>
    </a:dk1>
    <a:lt1>
      <a:sysClr val="window" lastClr="FFFFFF"/>
    </a:lt1>
    <a:dk2>
      <a:srgbClr val="036080"/>
    </a:dk2>
    <a:lt2>
      <a:srgbClr val="B9C8D3"/>
    </a:lt2>
    <a:accent1>
      <a:srgbClr val="036080"/>
    </a:accent1>
    <a:accent2>
      <a:srgbClr val="FFC843"/>
    </a:accent2>
    <a:accent3>
      <a:srgbClr val="BABF33"/>
    </a:accent3>
    <a:accent4>
      <a:srgbClr val="B9C8D3"/>
    </a:accent4>
    <a:accent5>
      <a:srgbClr val="FFC843"/>
    </a:accent5>
    <a:accent6>
      <a:srgbClr val="BABF33"/>
    </a:accent6>
    <a:hlink>
      <a:srgbClr val="036080"/>
    </a:hlink>
    <a:folHlink>
      <a:srgbClr val="0070C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2B6389463AD8D489B748E08E45C361A" ma:contentTypeVersion="3" ma:contentTypeDescription="Create a new document." ma:contentTypeScope="" ma:versionID="52dcef107bd0fbfaa8a3760c055b255d">
  <xsd:schema xmlns:xsd="http://www.w3.org/2001/XMLSchema" xmlns:xs="http://www.w3.org/2001/XMLSchema" xmlns:p="http://schemas.microsoft.com/office/2006/metadata/properties" xmlns:ns2="2f9a96d6-9b2b-4797-a61c-7fe1f15b622d" targetNamespace="http://schemas.microsoft.com/office/2006/metadata/properties" ma:root="true" ma:fieldsID="ab27a8a2f7bbe9a0a47441d94adf8875" ns2:_="">
    <xsd:import namespace="2f9a96d6-9b2b-4797-a61c-7fe1f15b622d"/>
    <xsd:element name="properties">
      <xsd:complexType>
        <xsd:sequence>
          <xsd:element name="documentManagement">
            <xsd:complexType>
              <xsd:all>
                <xsd:element ref="ns2:Category" minOccurs="0"/>
                <xsd:element ref="ns2:Sub_x002d_Category" minOccurs="0"/>
                <xsd:element ref="ns2:Description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9a96d6-9b2b-4797-a61c-7fe1f15b622d" elementFormDefault="qualified">
    <xsd:import namespace="http://schemas.microsoft.com/office/2006/documentManagement/types"/>
    <xsd:import namespace="http://schemas.microsoft.com/office/infopath/2007/PartnerControls"/>
    <xsd:element name="Category" ma:index="8" nillable="true" ma:displayName="Category" ma:format="Dropdown" ma:internalName="Category">
      <xsd:simpleType>
        <xsd:restriction base="dms:Choice">
          <xsd:enumeration value="Branding Standards and Q&amp;A"/>
          <xsd:enumeration value="Business Card"/>
          <xsd:enumeration value="Email Signature Block"/>
          <xsd:enumeration value="Fact Sheet Template"/>
          <xsd:enumeration value="FAQ"/>
          <xsd:enumeration value="Letterhead"/>
          <xsd:enumeration value="Logos"/>
          <xsd:enumeration value="Out of Office Messages"/>
          <xsd:enumeration value="PowerPoint Template"/>
        </xsd:restriction>
      </xsd:simpleType>
    </xsd:element>
    <xsd:element name="Sub_x002d_Category" ma:index="9" nillable="true" ma:displayName="Sub-Category" ma:format="Dropdown" ma:internalName="Sub_x002d_Category">
      <xsd:simpleType>
        <xsd:restriction base="dms:Choice">
          <xsd:enumeration value="Department Brand Only"/>
          <xsd:enumeration value="Tag Line Only"/>
          <xsd:enumeration value="Department and Tag Line"/>
          <xsd:enumeration value="Print"/>
          <xsd:enumeration value="Web"/>
        </xsd:restriction>
      </xsd:simpleType>
    </xsd:element>
    <xsd:element name="Description0" ma:index="10" nillable="true" ma:displayName="Description" ma:internalName="Description0">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escription0 xmlns="2f9a96d6-9b2b-4797-a61c-7fe1f15b622d">This PowerPoint template is to be used by employees agency-wide to provide a consistent visual for DHHS presentations.  The cover slide and three content slides are prepared and provide information about DHHS.  Talking points are provided in the Notes section.</Description0>
    <Category xmlns="2f9a96d6-9b2b-4797-a61c-7fe1f15b622d">PowerPoint Template</Category>
    <Sub_x002d_Category xmlns="2f9a96d6-9b2b-4797-a61c-7fe1f15b622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C09399-4B09-4F4C-A5E7-1E4A27AA60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9a96d6-9b2b-4797-a61c-7fe1f15b62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F364444-3E31-4591-BF65-8E77F441987D}">
  <ds:schemaRefs>
    <ds:schemaRef ds:uri="http://purl.org/dc/terms/"/>
    <ds:schemaRef ds:uri="http://schemas.microsoft.com/office/infopath/2007/PartnerControls"/>
    <ds:schemaRef ds:uri="http://schemas.microsoft.com/office/2006/documentManagement/types"/>
    <ds:schemaRef ds:uri="http://www.w3.org/XML/1998/namespace"/>
    <ds:schemaRef ds:uri="http://purl.org/dc/elements/1.1/"/>
    <ds:schemaRef ds:uri="http://purl.org/dc/dcmitype/"/>
    <ds:schemaRef ds:uri="2f9a96d6-9b2b-4797-a61c-7fe1f15b622d"/>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9D962A91-727D-4433-AE21-DFF73B4AAD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BRAND PPT TEMPLATE</Template>
  <TotalTime>8477</TotalTime>
  <Words>1486</Words>
  <Application>Microsoft Office PowerPoint</Application>
  <PresentationFormat>Widescreen</PresentationFormat>
  <Paragraphs>98</Paragraphs>
  <Slides>6</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vt:i4>
      </vt:variant>
    </vt:vector>
  </HeadingPairs>
  <TitlesOfParts>
    <vt:vector size="15" baseType="lpstr">
      <vt:lpstr>Roboto Black</vt:lpstr>
      <vt:lpstr>Roboto</vt:lpstr>
      <vt:lpstr>Montserrat</vt:lpstr>
      <vt:lpstr>Montserrat Semi Bold</vt:lpstr>
      <vt:lpstr>Wingdings 3</vt:lpstr>
      <vt:lpstr>Arial</vt:lpstr>
      <vt:lpstr>Calibri</vt:lpstr>
      <vt:lpstr>Custom Design</vt:lpstr>
      <vt:lpstr>Brand Theme Master</vt:lpstr>
      <vt:lpstr>Distribution of COVID-19 Cases by Industry Sector, Nebraska, 2020</vt:lpstr>
      <vt:lpstr>Main findings</vt:lpstr>
      <vt:lpstr>Intro and Methods</vt:lpstr>
      <vt:lpstr>Results</vt:lpstr>
      <vt:lpstr>Results</vt:lpstr>
      <vt:lpstr>PowerPoint Presentation</vt:lpstr>
    </vt:vector>
  </TitlesOfParts>
  <Company>State of Nebraska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Title</dc:title>
  <dc:creator>Cynthia Schneider</dc:creator>
  <cp:lastModifiedBy>Chris Austin</cp:lastModifiedBy>
  <cp:revision>398</cp:revision>
  <cp:lastPrinted>2016-10-25T21:04:27Z</cp:lastPrinted>
  <dcterms:created xsi:type="dcterms:W3CDTF">2016-09-27T14:31:05Z</dcterms:created>
  <dcterms:modified xsi:type="dcterms:W3CDTF">2021-10-21T18:03:57Z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1358634050</vt:i4>
  </property>
  <property fmtid="{D5CDD505-2E9C-101B-9397-08002B2CF9AE}" pid="3" name="_NewReviewCycle">
    <vt:lpwstr/>
  </property>
  <property fmtid="{D5CDD505-2E9C-101B-9397-08002B2CF9AE}" pid="4" name="_EmailSubject">
    <vt:lpwstr/>
  </property>
  <property fmtid="{D5CDD505-2E9C-101B-9397-08002B2CF9AE}" pid="5" name="_AuthorEmailDisplayName">
    <vt:lpwstr>Austin, Christopher</vt:lpwstr>
  </property>
  <property fmtid="{D5CDD505-2E9C-101B-9397-08002B2CF9AE}" pid="6" name="_PreviousAdHocReviewCycleID">
    <vt:i4>584865423</vt:i4>
  </property>
  <property fmtid="{D5CDD505-2E9C-101B-9397-08002B2CF9AE}" pid="7" name="_AuthorEmail">
    <vt:lpwstr>Christopher.Austin@nebraska.gov</vt:lpwstr>
  </property>
  <property fmtid="{D5CDD505-2E9C-101B-9397-08002B2CF9AE}" pid="8" name="ContentTypeId">
    <vt:lpwstr>0x01010052B6389463AD8D489B748E08E45C361A</vt:lpwstr>
  </property>
</Properties>
</file>