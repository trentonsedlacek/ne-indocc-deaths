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37" autoAdjust="0"/>
    <p:restoredTop sz="59224" autoAdjust="0"/>
  </p:normalViewPr>
  <p:slideViewPr>
    <p:cSldViewPr snapToGrid="0">
      <p:cViewPr varScale="1">
        <p:scale>
          <a:sx n="77" d="100"/>
          <a:sy n="77" d="100"/>
        </p:scale>
        <p:origin x="178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A00D90-36D6-4D54-A440-158CA67CAA89}" type="datetimeFigureOut">
              <a:rPr lang="en-US" smtClean="0"/>
              <a:t>6/27/2024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7C084B-B1E1-4478-8A7C-E72019190314}" type="slidenum">
              <a:rPr lang="en-US" smtClean="0"/>
              <a:t>‹#›</a:t>
            </a:fld>
            <a:endParaRPr lang="en-US"/>
          </a:p>
        </p:txBody>
      </p:sp>
    </p:spTree>
    <p:extLst>
      <p:ext uri="{BB962C8B-B14F-4D97-AF65-F5344CB8AC3E}">
        <p14:creationId xmlns:p14="http://schemas.microsoft.com/office/powerpoint/2010/main" val="609482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interventions and policies are vital for improving population health outcomes and preventing disease. Evaluating these interventions is essential to understand their effectiveness and ensure that resources are being used efficiently. Traditional methods like randomized controlled trials (RCTs) are often not feasible for population-level interventions due to ethical, logistical, and practical constraints. Thus, alternative methods like Interrupted Time Series (ITS) analysis provide valuable insights into the impact of these interventions in real-world settings.</a:t>
            </a:r>
          </a:p>
          <a:p>
            <a:endParaRPr lang="en-US" dirty="0"/>
          </a:p>
          <a:p>
            <a:endParaRPr lang="en-US" dirty="0"/>
          </a:p>
          <a:p>
            <a:r>
              <a:rPr lang="en-US" b="1" dirty="0"/>
              <a:t>Introduction to GLS:</a:t>
            </a:r>
            <a:r>
              <a:rPr lang="en-US" dirty="0"/>
              <a:t> Generalized Least Squares (GLS) is an advanced regression technique that extends the capabilities of Ordinary Least Squares (OLS) by accounting for autocorrelation and heteroscedasticity in the data. This makes GLS particularly suitable for time series analysis, where data points are often correlated with their past values.</a:t>
            </a:r>
          </a:p>
          <a:p>
            <a:endParaRPr lang="en-US" dirty="0"/>
          </a:p>
          <a:p>
            <a:r>
              <a:rPr lang="en-US" b="1" dirty="0"/>
              <a:t>Why Use GLS in ITS Analysis:</a:t>
            </a:r>
          </a:p>
          <a:p>
            <a:r>
              <a:rPr lang="en-US" dirty="0"/>
              <a:t>Adjusts for </a:t>
            </a:r>
            <a:r>
              <a:rPr lang="en-US" dirty="0" err="1"/>
              <a:t>Autocorrelation:Definition</a:t>
            </a:r>
            <a:r>
              <a:rPr lang="en-US" dirty="0"/>
              <a:t>: Autocorrelation refers to the correlation of a time series with its own past values.</a:t>
            </a:r>
          </a:p>
          <a:p>
            <a:r>
              <a:rPr lang="en-US" dirty="0"/>
              <a:t>Challenge: In time series data, autocorrelation can violate the assumption of independence of residuals, leading to biased parameter estimates and underestimated standard errors.</a:t>
            </a:r>
          </a:p>
          <a:p>
            <a:r>
              <a:rPr lang="en-US" dirty="0"/>
              <a:t>Solution: GLS adjusts for autocorrelation by incorporating the correlation structure directly into the model, ensuring more accurate and reliable estimates.</a:t>
            </a:r>
          </a:p>
          <a:p>
            <a:endParaRPr lang="en-US" dirty="0"/>
          </a:p>
          <a:p>
            <a:endParaRPr lang="en-US" dirty="0"/>
          </a:p>
          <a:p>
            <a:r>
              <a:rPr lang="en-US" b="1" dirty="0"/>
              <a:t>Benefits of Using GLS in ITS Analysis:</a:t>
            </a:r>
          </a:p>
          <a:p>
            <a:r>
              <a:rPr lang="en-US" b="0" dirty="0"/>
              <a:t>I</a:t>
            </a:r>
            <a:r>
              <a:rPr lang="en-US" dirty="0"/>
              <a:t>mproved Accuracy: By accounting for autocorrelation and heteroscedasticity, GLS provides more accurate parameter estimates. This accuracy is crucial when evaluating the impact of interventions in ITS analysis.</a:t>
            </a:r>
          </a:p>
          <a:p>
            <a:r>
              <a:rPr lang="en-US" dirty="0"/>
              <a:t>Robust Statistical Inference: GLS offers robust standard errors, enhancing the reliability of hypothesis tests and confidence intervals. This robustness is particularly important in ITS analysis, where precise estimation of intervention effects is essential for drawing valid conclusions.</a:t>
            </a:r>
          </a:p>
          <a:p>
            <a:endParaRPr lang="en-US" dirty="0"/>
          </a:p>
        </p:txBody>
      </p:sp>
      <p:sp>
        <p:nvSpPr>
          <p:cNvPr id="4" name="Slide Number Placeholder 3"/>
          <p:cNvSpPr>
            <a:spLocks noGrp="1"/>
          </p:cNvSpPr>
          <p:nvPr>
            <p:ph type="sldNum" sz="quarter" idx="5"/>
          </p:nvPr>
        </p:nvSpPr>
        <p:spPr/>
        <p:txBody>
          <a:bodyPr/>
          <a:lstStyle/>
          <a:p>
            <a:fld id="{0F7C084B-B1E1-4478-8A7C-E72019190314}" type="slidenum">
              <a:rPr lang="en-US" smtClean="0"/>
              <a:t>2</a:t>
            </a:fld>
            <a:endParaRPr lang="en-US"/>
          </a:p>
        </p:txBody>
      </p:sp>
    </p:spTree>
    <p:extLst>
      <p:ext uri="{BB962C8B-B14F-4D97-AF65-F5344CB8AC3E}">
        <p14:creationId xmlns:p14="http://schemas.microsoft.com/office/powerpoint/2010/main" val="2467818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interventions and policies are vital for improving population health outcomes and preventing disease. Evaluating these interventions is essential to understand their effectiveness and ensure that resources are being used efficiently. Traditional methods like randomized controlled trials (RCTs) are often not feasible for population-level interventions due to ethical, logistical, and practical constraints. Thus, alternative methods like ITS analysis provide valuable insights into the impact of these interventions in real-world settings.</a:t>
            </a:r>
          </a:p>
          <a:p>
            <a:r>
              <a:rPr lang="en-US" dirty="0"/>
              <a:t>8</a:t>
            </a:r>
          </a:p>
        </p:txBody>
      </p:sp>
      <p:sp>
        <p:nvSpPr>
          <p:cNvPr id="4" name="Slide Number Placeholder 3"/>
          <p:cNvSpPr>
            <a:spLocks noGrp="1"/>
          </p:cNvSpPr>
          <p:nvPr>
            <p:ph type="sldNum" sz="quarter" idx="5"/>
          </p:nvPr>
        </p:nvSpPr>
        <p:spPr/>
        <p:txBody>
          <a:bodyPr/>
          <a:lstStyle/>
          <a:p>
            <a:fld id="{0F7C084B-B1E1-4478-8A7C-E72019190314}" type="slidenum">
              <a:rPr lang="en-US" smtClean="0"/>
              <a:t>3</a:t>
            </a:fld>
            <a:endParaRPr lang="en-US"/>
          </a:p>
        </p:txBody>
      </p:sp>
    </p:spTree>
    <p:extLst>
      <p:ext uri="{BB962C8B-B14F-4D97-AF65-F5344CB8AC3E}">
        <p14:creationId xmlns:p14="http://schemas.microsoft.com/office/powerpoint/2010/main" val="31913467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7C084B-B1E1-4478-8A7C-E72019190314}" type="slidenum">
              <a:rPr lang="en-US" smtClean="0"/>
              <a:t>4</a:t>
            </a:fld>
            <a:endParaRPr lang="en-US"/>
          </a:p>
        </p:txBody>
      </p:sp>
    </p:spTree>
    <p:extLst>
      <p:ext uri="{BB962C8B-B14F-4D97-AF65-F5344CB8AC3E}">
        <p14:creationId xmlns:p14="http://schemas.microsoft.com/office/powerpoint/2010/main" val="2698095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Autocorrelation refers to the degree of correlation of the same variables between two successive time intervals.</a:t>
            </a:r>
          </a:p>
          <a:p>
            <a:endParaRPr lang="en-US" dirty="0"/>
          </a:p>
          <a:p>
            <a:r>
              <a:rPr lang="en-US" b="0" i="0" dirty="0">
                <a:solidFill>
                  <a:srgbClr val="333333"/>
                </a:solidFill>
                <a:effectLst/>
                <a:latin typeface="Merriweather" panose="00000500000000000000" pitchFamily="2" charset="0"/>
              </a:rPr>
              <a:t>Just as correlation measures the extent of a linear relationship between two variables, autocorrelation measures the linear relationship between </a:t>
            </a:r>
            <a:r>
              <a:rPr lang="en-US" b="0" i="1" dirty="0">
                <a:solidFill>
                  <a:srgbClr val="333333"/>
                </a:solidFill>
                <a:effectLst/>
                <a:latin typeface="Merriweather" panose="00000500000000000000" pitchFamily="2" charset="0"/>
              </a:rPr>
              <a:t>lagged values</a:t>
            </a:r>
            <a:r>
              <a:rPr lang="en-US" b="0" i="0" dirty="0">
                <a:solidFill>
                  <a:srgbClr val="333333"/>
                </a:solidFill>
                <a:effectLst/>
                <a:latin typeface="Merriweather" panose="00000500000000000000" pitchFamily="2" charset="0"/>
              </a:rPr>
              <a:t> of a time series.</a:t>
            </a:r>
            <a:endParaRPr lang="en-US" dirty="0"/>
          </a:p>
          <a:p>
            <a:endParaRPr lang="en-US" dirty="0"/>
          </a:p>
          <a:p>
            <a:r>
              <a:rPr lang="en-US" dirty="0"/>
              <a:t>Autocorrelation function:</a:t>
            </a:r>
          </a:p>
          <a:p>
            <a:r>
              <a:rPr lang="en-US" dirty="0"/>
              <a:t>ACF Plot: Example of an ACF plot with significant spikes indicating autocorrelation.</a:t>
            </a:r>
          </a:p>
        </p:txBody>
      </p:sp>
      <p:sp>
        <p:nvSpPr>
          <p:cNvPr id="4" name="Slide Number Placeholder 3"/>
          <p:cNvSpPr>
            <a:spLocks noGrp="1"/>
          </p:cNvSpPr>
          <p:nvPr>
            <p:ph type="sldNum" sz="quarter" idx="5"/>
          </p:nvPr>
        </p:nvSpPr>
        <p:spPr/>
        <p:txBody>
          <a:bodyPr/>
          <a:lstStyle/>
          <a:p>
            <a:fld id="{0F7C084B-B1E1-4478-8A7C-E72019190314}" type="slidenum">
              <a:rPr lang="en-US" smtClean="0"/>
              <a:t>6</a:t>
            </a:fld>
            <a:endParaRPr lang="en-US"/>
          </a:p>
        </p:txBody>
      </p:sp>
    </p:spTree>
    <p:extLst>
      <p:ext uri="{BB962C8B-B14F-4D97-AF65-F5344CB8AC3E}">
        <p14:creationId xmlns:p14="http://schemas.microsoft.com/office/powerpoint/2010/main" val="127899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333333"/>
                </a:solidFill>
                <a:effectLst/>
                <a:latin typeface="Helvetica Neue"/>
              </a:rPr>
              <a:t>These coefficients have actual meaning and are not there to be ignored.</a:t>
            </a:r>
          </a:p>
          <a:p>
            <a:pPr algn="l"/>
            <a:endParaRPr lang="en-US" b="0" i="0" dirty="0">
              <a:solidFill>
                <a:srgbClr val="333333"/>
              </a:solidFill>
              <a:effectLst/>
              <a:latin typeface="Helvetica Neue"/>
            </a:endParaRPr>
          </a:p>
          <a:p>
            <a:pPr algn="l"/>
            <a:r>
              <a:rPr lang="en-US" b="0" i="0" dirty="0">
                <a:solidFill>
                  <a:srgbClr val="333333"/>
                </a:solidFill>
                <a:effectLst/>
                <a:latin typeface="Helvetica Neue"/>
              </a:rPr>
              <a:t>This tells us that the model line passes the y axis at 305 admissions and that prior to the intervention, the average value of admission was falling by 2.1 units per month. At the intervention, there was a step change of -24.3 admissions and subsequent to the intervention there was a trend in which the value of admission only increased .05 per month. </a:t>
            </a:r>
          </a:p>
          <a:p>
            <a:pPr algn="l"/>
            <a:endParaRPr lang="en-US" b="0" i="0" dirty="0">
              <a:solidFill>
                <a:srgbClr val="333333"/>
              </a:solidFill>
              <a:effectLst/>
              <a:latin typeface="Helvetica Neue"/>
            </a:endParaRPr>
          </a:p>
          <a:p>
            <a:pPr algn="l"/>
            <a:r>
              <a:rPr lang="en-US" b="0" i="0" dirty="0">
                <a:solidFill>
                  <a:srgbClr val="333333"/>
                </a:solidFill>
                <a:effectLst/>
                <a:latin typeface="Helvetica Neue"/>
              </a:rPr>
              <a:t>The last distinction is important because that means that after the intervention, the weekly decrease in admissions  was 2.1 - .05 = 2.05</a:t>
            </a:r>
          </a:p>
          <a:p>
            <a:endParaRPr lang="en-US" dirty="0"/>
          </a:p>
        </p:txBody>
      </p:sp>
      <p:sp>
        <p:nvSpPr>
          <p:cNvPr id="4" name="Slide Number Placeholder 3"/>
          <p:cNvSpPr>
            <a:spLocks noGrp="1"/>
          </p:cNvSpPr>
          <p:nvPr>
            <p:ph type="sldNum" sz="quarter" idx="5"/>
          </p:nvPr>
        </p:nvSpPr>
        <p:spPr/>
        <p:txBody>
          <a:bodyPr/>
          <a:lstStyle/>
          <a:p>
            <a:fld id="{0F7C084B-B1E1-4478-8A7C-E72019190314}" type="slidenum">
              <a:rPr lang="en-US" smtClean="0"/>
              <a:t>10</a:t>
            </a:fld>
            <a:endParaRPr lang="en-US"/>
          </a:p>
        </p:txBody>
      </p:sp>
    </p:spTree>
    <p:extLst>
      <p:ext uri="{BB962C8B-B14F-4D97-AF65-F5344CB8AC3E}">
        <p14:creationId xmlns:p14="http://schemas.microsoft.com/office/powerpoint/2010/main" val="2796625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7C084B-B1E1-4478-8A7C-E72019190314}" type="slidenum">
              <a:rPr lang="en-US" smtClean="0"/>
              <a:t>11</a:t>
            </a:fld>
            <a:endParaRPr lang="en-US"/>
          </a:p>
        </p:txBody>
      </p:sp>
    </p:spTree>
    <p:extLst>
      <p:ext uri="{BB962C8B-B14F-4D97-AF65-F5344CB8AC3E}">
        <p14:creationId xmlns:p14="http://schemas.microsoft.com/office/powerpoint/2010/main" val="810216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solid line with green ribbon is the factual data, the red dashed line with the pink ribbon is the counterfactual. Using the rule of thumb that if the confidence intervals don’t overlap, there’s something significant happening, we can conclude that the interruption preceded a significant step change in admissions. That the lines also diverge suggests that there could be a significant trend change.</a:t>
            </a:r>
          </a:p>
          <a:p>
            <a:endParaRPr lang="en-US" dirty="0"/>
          </a:p>
        </p:txBody>
      </p:sp>
      <p:sp>
        <p:nvSpPr>
          <p:cNvPr id="4" name="Slide Number Placeholder 3"/>
          <p:cNvSpPr>
            <a:spLocks noGrp="1"/>
          </p:cNvSpPr>
          <p:nvPr>
            <p:ph type="sldNum" sz="quarter" idx="5"/>
          </p:nvPr>
        </p:nvSpPr>
        <p:spPr/>
        <p:txBody>
          <a:bodyPr/>
          <a:lstStyle/>
          <a:p>
            <a:fld id="{0F7C084B-B1E1-4478-8A7C-E72019190314}" type="slidenum">
              <a:rPr lang="en-US" smtClean="0"/>
              <a:t>14</a:t>
            </a:fld>
            <a:endParaRPr lang="en-US"/>
          </a:p>
        </p:txBody>
      </p:sp>
    </p:spTree>
    <p:extLst>
      <p:ext uri="{BB962C8B-B14F-4D97-AF65-F5344CB8AC3E}">
        <p14:creationId xmlns:p14="http://schemas.microsoft.com/office/powerpoint/2010/main" val="21994747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remaining thing we need to do is to calculate those relative differences. This is easy because we’ve been adding the modeled values to the </a:t>
            </a:r>
            <a:r>
              <a:rPr lang="en-US" dirty="0" err="1"/>
              <a:t>df</a:t>
            </a:r>
            <a:r>
              <a:rPr lang="en-US" dirty="0"/>
              <a:t> as variables. To get a list of the relative differences at different timepoints, we really only have to do subtract the factual from the counterfactual.</a:t>
            </a:r>
          </a:p>
          <a:p>
            <a:endParaRPr lang="en-US" dirty="0"/>
          </a:p>
          <a:p>
            <a:r>
              <a:rPr lang="en-US" b="0" i="0" dirty="0">
                <a:solidFill>
                  <a:srgbClr val="333333"/>
                </a:solidFill>
                <a:effectLst/>
                <a:latin typeface="Helvetica Neue"/>
              </a:rPr>
              <a:t>Here we can see that pre-intervention, the difference between factual and counterfactual is essentially zero, which is what we expect. At month 51 we see that the difference is 20 admissions, almost the same as the step change we saw in the coefficients for model previously. At month 100 the factual data are 33 admissions lower than the counterfactual, which is the combined effect of the intervention step change and the intervention trend change.</a:t>
            </a:r>
            <a:endParaRPr lang="en-US" dirty="0"/>
          </a:p>
          <a:p>
            <a:endParaRPr lang="en-US" dirty="0"/>
          </a:p>
        </p:txBody>
      </p:sp>
      <p:sp>
        <p:nvSpPr>
          <p:cNvPr id="4" name="Slide Number Placeholder 3"/>
          <p:cNvSpPr>
            <a:spLocks noGrp="1"/>
          </p:cNvSpPr>
          <p:nvPr>
            <p:ph type="sldNum" sz="quarter" idx="5"/>
          </p:nvPr>
        </p:nvSpPr>
        <p:spPr/>
        <p:txBody>
          <a:bodyPr/>
          <a:lstStyle/>
          <a:p>
            <a:fld id="{0F7C084B-B1E1-4478-8A7C-E72019190314}" type="slidenum">
              <a:rPr lang="en-US" smtClean="0"/>
              <a:t>15</a:t>
            </a:fld>
            <a:endParaRPr lang="en-US"/>
          </a:p>
        </p:txBody>
      </p:sp>
    </p:spTree>
    <p:extLst>
      <p:ext uri="{BB962C8B-B14F-4D97-AF65-F5344CB8AC3E}">
        <p14:creationId xmlns:p14="http://schemas.microsoft.com/office/powerpoint/2010/main" val="3402287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F3B77-DE59-0619-047E-252C154299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B490270-CB0A-60EC-B858-668353250E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20AD03-480E-A83F-9E07-D2FA10F5D2A8}"/>
              </a:ext>
            </a:extLst>
          </p:cNvPr>
          <p:cNvSpPr>
            <a:spLocks noGrp="1"/>
          </p:cNvSpPr>
          <p:nvPr>
            <p:ph type="dt" sz="half" idx="10"/>
          </p:nvPr>
        </p:nvSpPr>
        <p:spPr/>
        <p:txBody>
          <a:bodyPr/>
          <a:lstStyle/>
          <a:p>
            <a:fld id="{ADA66253-4858-44CD-A5D9-6C0442D309D8}" type="datetimeFigureOut">
              <a:rPr lang="en-US" smtClean="0"/>
              <a:t>6/27/2024</a:t>
            </a:fld>
            <a:endParaRPr lang="en-US"/>
          </a:p>
        </p:txBody>
      </p:sp>
      <p:sp>
        <p:nvSpPr>
          <p:cNvPr id="5" name="Footer Placeholder 4">
            <a:extLst>
              <a:ext uri="{FF2B5EF4-FFF2-40B4-BE49-F238E27FC236}">
                <a16:creationId xmlns:a16="http://schemas.microsoft.com/office/drawing/2014/main" id="{73F528DC-625D-F29F-6B07-D18C7B6319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5B227-2988-30AA-ABC7-099D0C1A090C}"/>
              </a:ext>
            </a:extLst>
          </p:cNvPr>
          <p:cNvSpPr>
            <a:spLocks noGrp="1"/>
          </p:cNvSpPr>
          <p:nvPr>
            <p:ph type="sldNum" sz="quarter" idx="12"/>
          </p:nvPr>
        </p:nvSpPr>
        <p:spPr/>
        <p:txBody>
          <a:bodyPr/>
          <a:lstStyle/>
          <a:p>
            <a:fld id="{6B744DD3-F666-4FFC-8E84-F6AC15D885D5}" type="slidenum">
              <a:rPr lang="en-US" smtClean="0"/>
              <a:t>‹#›</a:t>
            </a:fld>
            <a:endParaRPr lang="en-US"/>
          </a:p>
        </p:txBody>
      </p:sp>
    </p:spTree>
    <p:extLst>
      <p:ext uri="{BB962C8B-B14F-4D97-AF65-F5344CB8AC3E}">
        <p14:creationId xmlns:p14="http://schemas.microsoft.com/office/powerpoint/2010/main" val="646179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BB105-F67D-CDD8-B539-74D8AFBF09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AD03BF-DF49-2EA6-2F2B-FE8CF2FBED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CBAABD-2A6A-942B-3DC6-1B8FDA5C094F}"/>
              </a:ext>
            </a:extLst>
          </p:cNvPr>
          <p:cNvSpPr>
            <a:spLocks noGrp="1"/>
          </p:cNvSpPr>
          <p:nvPr>
            <p:ph type="dt" sz="half" idx="10"/>
          </p:nvPr>
        </p:nvSpPr>
        <p:spPr/>
        <p:txBody>
          <a:bodyPr/>
          <a:lstStyle/>
          <a:p>
            <a:fld id="{ADA66253-4858-44CD-A5D9-6C0442D309D8}" type="datetimeFigureOut">
              <a:rPr lang="en-US" smtClean="0"/>
              <a:t>6/27/2024</a:t>
            </a:fld>
            <a:endParaRPr lang="en-US"/>
          </a:p>
        </p:txBody>
      </p:sp>
      <p:sp>
        <p:nvSpPr>
          <p:cNvPr id="5" name="Footer Placeholder 4">
            <a:extLst>
              <a:ext uri="{FF2B5EF4-FFF2-40B4-BE49-F238E27FC236}">
                <a16:creationId xmlns:a16="http://schemas.microsoft.com/office/drawing/2014/main" id="{E5DA8E10-66E9-8D75-D5F4-21DB25755D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30A90D-1A90-4562-5B8C-7E20D48C92B5}"/>
              </a:ext>
            </a:extLst>
          </p:cNvPr>
          <p:cNvSpPr>
            <a:spLocks noGrp="1"/>
          </p:cNvSpPr>
          <p:nvPr>
            <p:ph type="sldNum" sz="quarter" idx="12"/>
          </p:nvPr>
        </p:nvSpPr>
        <p:spPr/>
        <p:txBody>
          <a:bodyPr/>
          <a:lstStyle/>
          <a:p>
            <a:fld id="{6B744DD3-F666-4FFC-8E84-F6AC15D885D5}" type="slidenum">
              <a:rPr lang="en-US" smtClean="0"/>
              <a:t>‹#›</a:t>
            </a:fld>
            <a:endParaRPr lang="en-US"/>
          </a:p>
        </p:txBody>
      </p:sp>
    </p:spTree>
    <p:extLst>
      <p:ext uri="{BB962C8B-B14F-4D97-AF65-F5344CB8AC3E}">
        <p14:creationId xmlns:p14="http://schemas.microsoft.com/office/powerpoint/2010/main" val="1808786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52991-C726-0C1A-135A-404956CD86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AA17501-A832-8C4A-CDF0-EF355ADB0F9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3296DF-8292-80A6-BE27-A5E3B6EBBE40}"/>
              </a:ext>
            </a:extLst>
          </p:cNvPr>
          <p:cNvSpPr>
            <a:spLocks noGrp="1"/>
          </p:cNvSpPr>
          <p:nvPr>
            <p:ph type="dt" sz="half" idx="10"/>
          </p:nvPr>
        </p:nvSpPr>
        <p:spPr/>
        <p:txBody>
          <a:bodyPr/>
          <a:lstStyle/>
          <a:p>
            <a:fld id="{ADA66253-4858-44CD-A5D9-6C0442D309D8}" type="datetimeFigureOut">
              <a:rPr lang="en-US" smtClean="0"/>
              <a:t>6/27/2024</a:t>
            </a:fld>
            <a:endParaRPr lang="en-US"/>
          </a:p>
        </p:txBody>
      </p:sp>
      <p:sp>
        <p:nvSpPr>
          <p:cNvPr id="5" name="Footer Placeholder 4">
            <a:extLst>
              <a:ext uri="{FF2B5EF4-FFF2-40B4-BE49-F238E27FC236}">
                <a16:creationId xmlns:a16="http://schemas.microsoft.com/office/drawing/2014/main" id="{26849D22-FCEC-DA84-33A0-8BF5ACE935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7FBCF9-1686-0E26-BA47-513B6247B39F}"/>
              </a:ext>
            </a:extLst>
          </p:cNvPr>
          <p:cNvSpPr>
            <a:spLocks noGrp="1"/>
          </p:cNvSpPr>
          <p:nvPr>
            <p:ph type="sldNum" sz="quarter" idx="12"/>
          </p:nvPr>
        </p:nvSpPr>
        <p:spPr/>
        <p:txBody>
          <a:bodyPr/>
          <a:lstStyle/>
          <a:p>
            <a:fld id="{6B744DD3-F666-4FFC-8E84-F6AC15D885D5}" type="slidenum">
              <a:rPr lang="en-US" smtClean="0"/>
              <a:t>‹#›</a:t>
            </a:fld>
            <a:endParaRPr lang="en-US"/>
          </a:p>
        </p:txBody>
      </p:sp>
    </p:spTree>
    <p:extLst>
      <p:ext uri="{BB962C8B-B14F-4D97-AF65-F5344CB8AC3E}">
        <p14:creationId xmlns:p14="http://schemas.microsoft.com/office/powerpoint/2010/main" val="1269939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33196-8F1F-B0A5-6429-2E0FEFC835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7DBB2E-7B1F-6221-D9F9-733EDAB2C6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0DA1382-C831-1F0D-6F2A-B901BCC2C2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347960-D695-7A12-015C-8D684C968E84}"/>
              </a:ext>
            </a:extLst>
          </p:cNvPr>
          <p:cNvSpPr>
            <a:spLocks noGrp="1"/>
          </p:cNvSpPr>
          <p:nvPr>
            <p:ph type="dt" sz="half" idx="10"/>
          </p:nvPr>
        </p:nvSpPr>
        <p:spPr/>
        <p:txBody>
          <a:bodyPr/>
          <a:lstStyle/>
          <a:p>
            <a:fld id="{ADA66253-4858-44CD-A5D9-6C0442D309D8}" type="datetimeFigureOut">
              <a:rPr lang="en-US" smtClean="0"/>
              <a:t>6/27/2024</a:t>
            </a:fld>
            <a:endParaRPr lang="en-US"/>
          </a:p>
        </p:txBody>
      </p:sp>
      <p:sp>
        <p:nvSpPr>
          <p:cNvPr id="6" name="Footer Placeholder 5">
            <a:extLst>
              <a:ext uri="{FF2B5EF4-FFF2-40B4-BE49-F238E27FC236}">
                <a16:creationId xmlns:a16="http://schemas.microsoft.com/office/drawing/2014/main" id="{8D038625-1392-D249-52E6-DE0583B5AC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5F1305-890A-4EE1-162F-FC0C3064DFF8}"/>
              </a:ext>
            </a:extLst>
          </p:cNvPr>
          <p:cNvSpPr>
            <a:spLocks noGrp="1"/>
          </p:cNvSpPr>
          <p:nvPr>
            <p:ph type="sldNum" sz="quarter" idx="12"/>
          </p:nvPr>
        </p:nvSpPr>
        <p:spPr/>
        <p:txBody>
          <a:bodyPr/>
          <a:lstStyle/>
          <a:p>
            <a:fld id="{6B744DD3-F666-4FFC-8E84-F6AC15D885D5}" type="slidenum">
              <a:rPr lang="en-US" smtClean="0"/>
              <a:t>‹#›</a:t>
            </a:fld>
            <a:endParaRPr lang="en-US"/>
          </a:p>
        </p:txBody>
      </p:sp>
    </p:spTree>
    <p:extLst>
      <p:ext uri="{BB962C8B-B14F-4D97-AF65-F5344CB8AC3E}">
        <p14:creationId xmlns:p14="http://schemas.microsoft.com/office/powerpoint/2010/main" val="4193150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49F5D-C95B-CB9A-52A0-B1418FCAA03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04A26DE-FD3E-9DA2-2F9D-F3503F5522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AB94A3-1B32-FC78-0A64-DAD7F8CDED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1FB874-D94A-F0D0-42DC-691E2294FA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4EE2E5-766C-04D9-71C3-8C13084191E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24FBCE0-45C0-DD6A-D21A-80A4985A9B81}"/>
              </a:ext>
            </a:extLst>
          </p:cNvPr>
          <p:cNvSpPr>
            <a:spLocks noGrp="1"/>
          </p:cNvSpPr>
          <p:nvPr>
            <p:ph type="dt" sz="half" idx="10"/>
          </p:nvPr>
        </p:nvSpPr>
        <p:spPr/>
        <p:txBody>
          <a:bodyPr/>
          <a:lstStyle/>
          <a:p>
            <a:fld id="{ADA66253-4858-44CD-A5D9-6C0442D309D8}" type="datetimeFigureOut">
              <a:rPr lang="en-US" smtClean="0"/>
              <a:t>6/27/2024</a:t>
            </a:fld>
            <a:endParaRPr lang="en-US"/>
          </a:p>
        </p:txBody>
      </p:sp>
      <p:sp>
        <p:nvSpPr>
          <p:cNvPr id="8" name="Footer Placeholder 7">
            <a:extLst>
              <a:ext uri="{FF2B5EF4-FFF2-40B4-BE49-F238E27FC236}">
                <a16:creationId xmlns:a16="http://schemas.microsoft.com/office/drawing/2014/main" id="{C28246CF-440D-A7AA-8424-F4D90BB83DE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0485C5-5EE9-9196-900A-F944200AB670}"/>
              </a:ext>
            </a:extLst>
          </p:cNvPr>
          <p:cNvSpPr>
            <a:spLocks noGrp="1"/>
          </p:cNvSpPr>
          <p:nvPr>
            <p:ph type="sldNum" sz="quarter" idx="12"/>
          </p:nvPr>
        </p:nvSpPr>
        <p:spPr/>
        <p:txBody>
          <a:bodyPr/>
          <a:lstStyle/>
          <a:p>
            <a:fld id="{6B744DD3-F666-4FFC-8E84-F6AC15D885D5}" type="slidenum">
              <a:rPr lang="en-US" smtClean="0"/>
              <a:t>‹#›</a:t>
            </a:fld>
            <a:endParaRPr lang="en-US"/>
          </a:p>
        </p:txBody>
      </p:sp>
    </p:spTree>
    <p:extLst>
      <p:ext uri="{BB962C8B-B14F-4D97-AF65-F5344CB8AC3E}">
        <p14:creationId xmlns:p14="http://schemas.microsoft.com/office/powerpoint/2010/main" val="3186626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240A7-277A-288F-173C-BCA946E0A0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A818B91-A32B-A5E5-EF80-47B3261F3709}"/>
              </a:ext>
            </a:extLst>
          </p:cNvPr>
          <p:cNvSpPr>
            <a:spLocks noGrp="1"/>
          </p:cNvSpPr>
          <p:nvPr>
            <p:ph type="dt" sz="half" idx="10"/>
          </p:nvPr>
        </p:nvSpPr>
        <p:spPr/>
        <p:txBody>
          <a:bodyPr/>
          <a:lstStyle/>
          <a:p>
            <a:fld id="{ADA66253-4858-44CD-A5D9-6C0442D309D8}" type="datetimeFigureOut">
              <a:rPr lang="en-US" smtClean="0"/>
              <a:t>6/27/2024</a:t>
            </a:fld>
            <a:endParaRPr lang="en-US"/>
          </a:p>
        </p:txBody>
      </p:sp>
      <p:sp>
        <p:nvSpPr>
          <p:cNvPr id="4" name="Footer Placeholder 3">
            <a:extLst>
              <a:ext uri="{FF2B5EF4-FFF2-40B4-BE49-F238E27FC236}">
                <a16:creationId xmlns:a16="http://schemas.microsoft.com/office/drawing/2014/main" id="{4650F619-E2FF-E995-F420-8589775E26D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7FED879-824D-B90A-1AC6-0828A1972F1A}"/>
              </a:ext>
            </a:extLst>
          </p:cNvPr>
          <p:cNvSpPr>
            <a:spLocks noGrp="1"/>
          </p:cNvSpPr>
          <p:nvPr>
            <p:ph type="sldNum" sz="quarter" idx="12"/>
          </p:nvPr>
        </p:nvSpPr>
        <p:spPr/>
        <p:txBody>
          <a:bodyPr/>
          <a:lstStyle/>
          <a:p>
            <a:fld id="{6B744DD3-F666-4FFC-8E84-F6AC15D885D5}" type="slidenum">
              <a:rPr lang="en-US" smtClean="0"/>
              <a:t>‹#›</a:t>
            </a:fld>
            <a:endParaRPr lang="en-US"/>
          </a:p>
        </p:txBody>
      </p:sp>
    </p:spTree>
    <p:extLst>
      <p:ext uri="{BB962C8B-B14F-4D97-AF65-F5344CB8AC3E}">
        <p14:creationId xmlns:p14="http://schemas.microsoft.com/office/powerpoint/2010/main" val="1410624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BEB37D-8559-8AD0-44B2-629BA4303A19}"/>
              </a:ext>
            </a:extLst>
          </p:cNvPr>
          <p:cNvSpPr>
            <a:spLocks noGrp="1"/>
          </p:cNvSpPr>
          <p:nvPr>
            <p:ph type="dt" sz="half" idx="10"/>
          </p:nvPr>
        </p:nvSpPr>
        <p:spPr/>
        <p:txBody>
          <a:bodyPr/>
          <a:lstStyle/>
          <a:p>
            <a:fld id="{ADA66253-4858-44CD-A5D9-6C0442D309D8}" type="datetimeFigureOut">
              <a:rPr lang="en-US" smtClean="0"/>
              <a:t>6/27/2024</a:t>
            </a:fld>
            <a:endParaRPr lang="en-US"/>
          </a:p>
        </p:txBody>
      </p:sp>
      <p:sp>
        <p:nvSpPr>
          <p:cNvPr id="3" name="Footer Placeholder 2">
            <a:extLst>
              <a:ext uri="{FF2B5EF4-FFF2-40B4-BE49-F238E27FC236}">
                <a16:creationId xmlns:a16="http://schemas.microsoft.com/office/drawing/2014/main" id="{2D7D701F-9AB4-0221-05F4-172B8DEBDA4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AA20E2F-3B8B-45E0-5C19-96A903017940}"/>
              </a:ext>
            </a:extLst>
          </p:cNvPr>
          <p:cNvSpPr>
            <a:spLocks noGrp="1"/>
          </p:cNvSpPr>
          <p:nvPr>
            <p:ph type="sldNum" sz="quarter" idx="12"/>
          </p:nvPr>
        </p:nvSpPr>
        <p:spPr/>
        <p:txBody>
          <a:bodyPr/>
          <a:lstStyle/>
          <a:p>
            <a:fld id="{6B744DD3-F666-4FFC-8E84-F6AC15D885D5}" type="slidenum">
              <a:rPr lang="en-US" smtClean="0"/>
              <a:t>‹#›</a:t>
            </a:fld>
            <a:endParaRPr lang="en-US"/>
          </a:p>
        </p:txBody>
      </p:sp>
    </p:spTree>
    <p:extLst>
      <p:ext uri="{BB962C8B-B14F-4D97-AF65-F5344CB8AC3E}">
        <p14:creationId xmlns:p14="http://schemas.microsoft.com/office/powerpoint/2010/main" val="1924924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C8757-604D-5A6B-360D-E54C47C4C6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AC384B-66B9-417D-77F9-4FB7C624FD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A45D614-9A29-D505-1DDC-879E980162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51EF8C-7B88-CC24-3783-A53F2113C176}"/>
              </a:ext>
            </a:extLst>
          </p:cNvPr>
          <p:cNvSpPr>
            <a:spLocks noGrp="1"/>
          </p:cNvSpPr>
          <p:nvPr>
            <p:ph type="dt" sz="half" idx="10"/>
          </p:nvPr>
        </p:nvSpPr>
        <p:spPr/>
        <p:txBody>
          <a:bodyPr/>
          <a:lstStyle/>
          <a:p>
            <a:fld id="{ADA66253-4858-44CD-A5D9-6C0442D309D8}" type="datetimeFigureOut">
              <a:rPr lang="en-US" smtClean="0"/>
              <a:t>6/27/2024</a:t>
            </a:fld>
            <a:endParaRPr lang="en-US"/>
          </a:p>
        </p:txBody>
      </p:sp>
      <p:sp>
        <p:nvSpPr>
          <p:cNvPr id="6" name="Footer Placeholder 5">
            <a:extLst>
              <a:ext uri="{FF2B5EF4-FFF2-40B4-BE49-F238E27FC236}">
                <a16:creationId xmlns:a16="http://schemas.microsoft.com/office/drawing/2014/main" id="{D4367035-B41F-AD18-A00F-583F8E05E6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921131-0B7C-2F28-7AEF-EB5B8A28F8C1}"/>
              </a:ext>
            </a:extLst>
          </p:cNvPr>
          <p:cNvSpPr>
            <a:spLocks noGrp="1"/>
          </p:cNvSpPr>
          <p:nvPr>
            <p:ph type="sldNum" sz="quarter" idx="12"/>
          </p:nvPr>
        </p:nvSpPr>
        <p:spPr/>
        <p:txBody>
          <a:bodyPr/>
          <a:lstStyle/>
          <a:p>
            <a:fld id="{6B744DD3-F666-4FFC-8E84-F6AC15D885D5}" type="slidenum">
              <a:rPr lang="en-US" smtClean="0"/>
              <a:t>‹#›</a:t>
            </a:fld>
            <a:endParaRPr lang="en-US"/>
          </a:p>
        </p:txBody>
      </p:sp>
    </p:spTree>
    <p:extLst>
      <p:ext uri="{BB962C8B-B14F-4D97-AF65-F5344CB8AC3E}">
        <p14:creationId xmlns:p14="http://schemas.microsoft.com/office/powerpoint/2010/main" val="2068727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CDE16-C00E-0E82-B4A5-183E3A1C1D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FD2C444-4187-5B4B-2286-0902D00C02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8065E66-9924-C474-1BD5-DF4639A645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FF4443-7790-7DB2-4260-5B111A711DBE}"/>
              </a:ext>
            </a:extLst>
          </p:cNvPr>
          <p:cNvSpPr>
            <a:spLocks noGrp="1"/>
          </p:cNvSpPr>
          <p:nvPr>
            <p:ph type="dt" sz="half" idx="10"/>
          </p:nvPr>
        </p:nvSpPr>
        <p:spPr/>
        <p:txBody>
          <a:bodyPr/>
          <a:lstStyle/>
          <a:p>
            <a:fld id="{ADA66253-4858-44CD-A5D9-6C0442D309D8}" type="datetimeFigureOut">
              <a:rPr lang="en-US" smtClean="0"/>
              <a:t>6/27/2024</a:t>
            </a:fld>
            <a:endParaRPr lang="en-US"/>
          </a:p>
        </p:txBody>
      </p:sp>
      <p:sp>
        <p:nvSpPr>
          <p:cNvPr id="6" name="Footer Placeholder 5">
            <a:extLst>
              <a:ext uri="{FF2B5EF4-FFF2-40B4-BE49-F238E27FC236}">
                <a16:creationId xmlns:a16="http://schemas.microsoft.com/office/drawing/2014/main" id="{8291E17D-DAFD-A6F8-8E70-888EABA0F3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C30A66-ABD0-E482-38E5-9BF23452B3D8}"/>
              </a:ext>
            </a:extLst>
          </p:cNvPr>
          <p:cNvSpPr>
            <a:spLocks noGrp="1"/>
          </p:cNvSpPr>
          <p:nvPr>
            <p:ph type="sldNum" sz="quarter" idx="12"/>
          </p:nvPr>
        </p:nvSpPr>
        <p:spPr/>
        <p:txBody>
          <a:bodyPr/>
          <a:lstStyle/>
          <a:p>
            <a:fld id="{6B744DD3-F666-4FFC-8E84-F6AC15D885D5}" type="slidenum">
              <a:rPr lang="en-US" smtClean="0"/>
              <a:t>‹#›</a:t>
            </a:fld>
            <a:endParaRPr lang="en-US"/>
          </a:p>
        </p:txBody>
      </p:sp>
    </p:spTree>
    <p:extLst>
      <p:ext uri="{BB962C8B-B14F-4D97-AF65-F5344CB8AC3E}">
        <p14:creationId xmlns:p14="http://schemas.microsoft.com/office/powerpoint/2010/main" val="306619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B92C4-6EDC-8C20-EA71-379B1E07D7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C375E03-3C78-7EEC-1403-A14C26AC5A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34E586-7D85-16BE-D406-9BE68ECFDE7B}"/>
              </a:ext>
            </a:extLst>
          </p:cNvPr>
          <p:cNvSpPr>
            <a:spLocks noGrp="1"/>
          </p:cNvSpPr>
          <p:nvPr>
            <p:ph type="dt" sz="half" idx="10"/>
          </p:nvPr>
        </p:nvSpPr>
        <p:spPr/>
        <p:txBody>
          <a:bodyPr/>
          <a:lstStyle/>
          <a:p>
            <a:fld id="{ADA66253-4858-44CD-A5D9-6C0442D309D8}" type="datetimeFigureOut">
              <a:rPr lang="en-US" smtClean="0"/>
              <a:t>6/27/2024</a:t>
            </a:fld>
            <a:endParaRPr lang="en-US"/>
          </a:p>
        </p:txBody>
      </p:sp>
      <p:sp>
        <p:nvSpPr>
          <p:cNvPr id="5" name="Footer Placeholder 4">
            <a:extLst>
              <a:ext uri="{FF2B5EF4-FFF2-40B4-BE49-F238E27FC236}">
                <a16:creationId xmlns:a16="http://schemas.microsoft.com/office/drawing/2014/main" id="{C7C5450D-10D0-4C7B-3900-4023D2D0C5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5F4EBE-328C-5346-21F2-D2FB843350E4}"/>
              </a:ext>
            </a:extLst>
          </p:cNvPr>
          <p:cNvSpPr>
            <a:spLocks noGrp="1"/>
          </p:cNvSpPr>
          <p:nvPr>
            <p:ph type="sldNum" sz="quarter" idx="12"/>
          </p:nvPr>
        </p:nvSpPr>
        <p:spPr/>
        <p:txBody>
          <a:bodyPr/>
          <a:lstStyle/>
          <a:p>
            <a:fld id="{6B744DD3-F666-4FFC-8E84-F6AC15D885D5}" type="slidenum">
              <a:rPr lang="en-US" smtClean="0"/>
              <a:t>‹#›</a:t>
            </a:fld>
            <a:endParaRPr lang="en-US"/>
          </a:p>
        </p:txBody>
      </p:sp>
    </p:spTree>
    <p:extLst>
      <p:ext uri="{BB962C8B-B14F-4D97-AF65-F5344CB8AC3E}">
        <p14:creationId xmlns:p14="http://schemas.microsoft.com/office/powerpoint/2010/main" val="1626730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B1C39A-1C9C-DF50-0C7A-E63F346397A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2EFE616-30B8-060D-CA03-63FFC3D195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D3105E-69DB-DACD-7C1A-8EC2E2133E99}"/>
              </a:ext>
            </a:extLst>
          </p:cNvPr>
          <p:cNvSpPr>
            <a:spLocks noGrp="1"/>
          </p:cNvSpPr>
          <p:nvPr>
            <p:ph type="dt" sz="half" idx="10"/>
          </p:nvPr>
        </p:nvSpPr>
        <p:spPr/>
        <p:txBody>
          <a:bodyPr/>
          <a:lstStyle/>
          <a:p>
            <a:fld id="{ADA66253-4858-44CD-A5D9-6C0442D309D8}" type="datetimeFigureOut">
              <a:rPr lang="en-US" smtClean="0"/>
              <a:t>6/27/2024</a:t>
            </a:fld>
            <a:endParaRPr lang="en-US"/>
          </a:p>
        </p:txBody>
      </p:sp>
      <p:sp>
        <p:nvSpPr>
          <p:cNvPr id="5" name="Footer Placeholder 4">
            <a:extLst>
              <a:ext uri="{FF2B5EF4-FFF2-40B4-BE49-F238E27FC236}">
                <a16:creationId xmlns:a16="http://schemas.microsoft.com/office/drawing/2014/main" id="{C7B2ED29-FC10-4B3A-4ED7-41077B51D9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756086-162E-D47A-80BF-5760C358DE20}"/>
              </a:ext>
            </a:extLst>
          </p:cNvPr>
          <p:cNvSpPr>
            <a:spLocks noGrp="1"/>
          </p:cNvSpPr>
          <p:nvPr>
            <p:ph type="sldNum" sz="quarter" idx="12"/>
          </p:nvPr>
        </p:nvSpPr>
        <p:spPr/>
        <p:txBody>
          <a:bodyPr/>
          <a:lstStyle/>
          <a:p>
            <a:fld id="{6B744DD3-F666-4FFC-8E84-F6AC15D885D5}" type="slidenum">
              <a:rPr lang="en-US" smtClean="0"/>
              <a:t>‹#›</a:t>
            </a:fld>
            <a:endParaRPr lang="en-US"/>
          </a:p>
        </p:txBody>
      </p:sp>
    </p:spTree>
    <p:extLst>
      <p:ext uri="{BB962C8B-B14F-4D97-AF65-F5344CB8AC3E}">
        <p14:creationId xmlns:p14="http://schemas.microsoft.com/office/powerpoint/2010/main" val="3218085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248C1D-2FDF-8312-15DF-A889870BA7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1D85AC7-D453-15A1-9CE7-A72BAF4BC1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1263F3-E406-A86C-B09D-44B25176B5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A66253-4858-44CD-A5D9-6C0442D309D8}" type="datetimeFigureOut">
              <a:rPr lang="en-US" smtClean="0"/>
              <a:t>6/27/2024</a:t>
            </a:fld>
            <a:endParaRPr lang="en-US"/>
          </a:p>
        </p:txBody>
      </p:sp>
      <p:sp>
        <p:nvSpPr>
          <p:cNvPr id="5" name="Footer Placeholder 4">
            <a:extLst>
              <a:ext uri="{FF2B5EF4-FFF2-40B4-BE49-F238E27FC236}">
                <a16:creationId xmlns:a16="http://schemas.microsoft.com/office/drawing/2014/main" id="{F6FD94B0-DF6B-D26A-9CE0-AE29B4D61E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633E1A0-1210-0028-6A56-5001D5F778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744DD3-F666-4FFC-8E84-F6AC15D885D5}" type="slidenum">
              <a:rPr lang="en-US" smtClean="0"/>
              <a:t>‹#›</a:t>
            </a:fld>
            <a:endParaRPr lang="en-US"/>
          </a:p>
        </p:txBody>
      </p:sp>
    </p:spTree>
    <p:extLst>
      <p:ext uri="{BB962C8B-B14F-4D97-AF65-F5344CB8AC3E}">
        <p14:creationId xmlns:p14="http://schemas.microsoft.com/office/powerpoint/2010/main" val="1668021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doi.org/10.1186/s12874-021-01306-w" TargetMode="External"/><Relationship Id="rId2" Type="http://schemas.openxmlformats.org/officeDocument/2006/relationships/hyperlink" Target="https://rpubs.com/chrissyhroberts/1006858"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AAA19-860C-DBCA-DC33-E233B1916868}"/>
              </a:ext>
            </a:extLst>
          </p:cNvPr>
          <p:cNvSpPr>
            <a:spLocks noGrp="1"/>
          </p:cNvSpPr>
          <p:nvPr>
            <p:ph type="ctrTitle"/>
          </p:nvPr>
        </p:nvSpPr>
        <p:spPr/>
        <p:txBody>
          <a:bodyPr>
            <a:normAutofit fontScale="90000"/>
          </a:bodyPr>
          <a:lstStyle/>
          <a:p>
            <a:r>
              <a:rPr lang="en-US" dirty="0"/>
              <a:t>Analyzing Public Health Interventions Using Interrupted Time Series</a:t>
            </a:r>
          </a:p>
        </p:txBody>
      </p:sp>
      <p:sp>
        <p:nvSpPr>
          <p:cNvPr id="3" name="Subtitle 2">
            <a:extLst>
              <a:ext uri="{FF2B5EF4-FFF2-40B4-BE49-F238E27FC236}">
                <a16:creationId xmlns:a16="http://schemas.microsoft.com/office/drawing/2014/main" id="{1DB8A863-01E4-166E-D655-8F5A0283DA32}"/>
              </a:ext>
            </a:extLst>
          </p:cNvPr>
          <p:cNvSpPr>
            <a:spLocks noGrp="1"/>
          </p:cNvSpPr>
          <p:nvPr>
            <p:ph type="subTitle" idx="1"/>
          </p:nvPr>
        </p:nvSpPr>
        <p:spPr/>
        <p:txBody>
          <a:bodyPr/>
          <a:lstStyle/>
          <a:p>
            <a:r>
              <a:rPr lang="en-US" dirty="0"/>
              <a:t>Chris Austin, MS, MPH</a:t>
            </a:r>
          </a:p>
          <a:p>
            <a:r>
              <a:rPr lang="en-US" dirty="0"/>
              <a:t>Occupational Health Epidemiologist</a:t>
            </a:r>
          </a:p>
          <a:p>
            <a:r>
              <a:rPr lang="en-US" dirty="0"/>
              <a:t>Nebraska DHHS</a:t>
            </a:r>
          </a:p>
        </p:txBody>
      </p:sp>
    </p:spTree>
    <p:extLst>
      <p:ext uri="{BB962C8B-B14F-4D97-AF65-F5344CB8AC3E}">
        <p14:creationId xmlns:p14="http://schemas.microsoft.com/office/powerpoint/2010/main" val="3930780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B510E-82BD-1A81-8D3A-D21539CFCDA1}"/>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C8DA3ED5-D8DF-2EC3-62E0-7CB999F33CAB}"/>
              </a:ext>
            </a:extLst>
          </p:cNvPr>
          <p:cNvSpPr>
            <a:spLocks noGrp="1"/>
          </p:cNvSpPr>
          <p:nvPr>
            <p:ph idx="1"/>
          </p:nvPr>
        </p:nvSpPr>
        <p:spPr>
          <a:xfrm>
            <a:off x="838200" y="1690688"/>
            <a:ext cx="10515600" cy="4734825"/>
          </a:xfrm>
        </p:spPr>
        <p:txBody>
          <a:bodyPr>
            <a:normAutofit/>
          </a:bodyPr>
          <a:lstStyle/>
          <a:p>
            <a:pPr marL="0" indent="0">
              <a:buNone/>
            </a:pPr>
            <a:endParaRPr lang="en-US" dirty="0"/>
          </a:p>
          <a:p>
            <a:pPr marL="0" indent="0">
              <a:buNone/>
            </a:pPr>
            <a:r>
              <a:rPr lang="en-US" b="1" dirty="0"/>
              <a:t>Goal of the Presentation:</a:t>
            </a:r>
            <a:endParaRPr lang="en-US" dirty="0"/>
          </a:p>
          <a:p>
            <a:pPr lvl="1"/>
            <a:r>
              <a:rPr lang="en-US" dirty="0"/>
              <a:t>The basic principles and components of ITS.</a:t>
            </a:r>
          </a:p>
          <a:p>
            <a:pPr lvl="1"/>
            <a:r>
              <a:rPr lang="en-US" dirty="0"/>
              <a:t>Methodological considerations and challenges.</a:t>
            </a:r>
          </a:p>
          <a:p>
            <a:pPr lvl="1"/>
            <a:r>
              <a:rPr lang="en-US" dirty="0"/>
              <a:t>Overview on conducting ITS analysis using Generalized Least Squares (GLS).</a:t>
            </a:r>
          </a:p>
          <a:p>
            <a:pPr>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3001173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909D5-AB7A-AF85-2049-E7152E527A55}"/>
              </a:ext>
            </a:extLst>
          </p:cNvPr>
          <p:cNvSpPr>
            <a:spLocks noGrp="1"/>
          </p:cNvSpPr>
          <p:nvPr>
            <p:ph type="title"/>
          </p:nvPr>
        </p:nvSpPr>
        <p:spPr/>
        <p:txBody>
          <a:bodyPr/>
          <a:lstStyle/>
          <a:p>
            <a:r>
              <a:rPr lang="en-US" dirty="0"/>
              <a:t>Why Use Interrupted Time Series?</a:t>
            </a:r>
          </a:p>
        </p:txBody>
      </p:sp>
      <p:sp>
        <p:nvSpPr>
          <p:cNvPr id="3" name="Content Placeholder 2">
            <a:extLst>
              <a:ext uri="{FF2B5EF4-FFF2-40B4-BE49-F238E27FC236}">
                <a16:creationId xmlns:a16="http://schemas.microsoft.com/office/drawing/2014/main" id="{86B3C7FE-CB6D-9568-320F-DA1F439D6995}"/>
              </a:ext>
            </a:extLst>
          </p:cNvPr>
          <p:cNvSpPr>
            <a:spLocks noGrp="1"/>
          </p:cNvSpPr>
          <p:nvPr>
            <p:ph idx="1"/>
          </p:nvPr>
        </p:nvSpPr>
        <p:spPr>
          <a:xfrm>
            <a:off x="838200" y="1825625"/>
            <a:ext cx="10515600" cy="4731694"/>
          </a:xfrm>
        </p:spPr>
        <p:txBody>
          <a:bodyPr>
            <a:normAutofit fontScale="62500" lnSpcReduction="20000"/>
          </a:bodyPr>
          <a:lstStyle/>
          <a:p>
            <a:pPr marL="0" indent="0">
              <a:buNone/>
            </a:pPr>
            <a:r>
              <a:rPr lang="en-US" dirty="0"/>
              <a:t>ITS analysis is a method for evaluating the impact of interventions, especially when randomized controlled trials (RCTs) are not feasible. It is particularly useful in public health settings where interventions are implemented at a population level.</a:t>
            </a:r>
          </a:p>
          <a:p>
            <a:pPr marL="0" indent="0">
              <a:buNone/>
            </a:pPr>
            <a:endParaRPr lang="en-US" dirty="0"/>
          </a:p>
          <a:p>
            <a:pPr marL="0" indent="0">
              <a:buNone/>
            </a:pPr>
            <a:r>
              <a:rPr lang="en-US" b="1" dirty="0"/>
              <a:t>Advantages of ITS:</a:t>
            </a:r>
            <a:endParaRPr lang="en-US" dirty="0"/>
          </a:p>
          <a:p>
            <a:pPr>
              <a:buFont typeface="Arial" panose="020B0604020202020204" pitchFamily="34" charset="0"/>
              <a:buChar char="•"/>
            </a:pPr>
            <a:r>
              <a:rPr lang="en-US" b="1" dirty="0"/>
              <a:t>Handles Interventions Implemented at Specific Points in Time:</a:t>
            </a:r>
            <a:r>
              <a:rPr lang="en-US" dirty="0"/>
              <a:t> ITS is designed to analyze the effect of interventions that start at a clearly defined time point, making it ideal for evaluating sudden policy changes or new programs.</a:t>
            </a:r>
          </a:p>
          <a:p>
            <a:pPr>
              <a:buFont typeface="Arial" panose="020B0604020202020204" pitchFamily="34" charset="0"/>
              <a:buChar char="•"/>
            </a:pPr>
            <a:r>
              <a:rPr lang="en-US" b="1" dirty="0"/>
              <a:t>Controls for Underlying Trends:</a:t>
            </a:r>
            <a:r>
              <a:rPr lang="en-US" dirty="0"/>
              <a:t> By analyzing data before and after the intervention, ITS can control for pre-existing trends, helping to isolate the effect of the intervention from other ongoing changes.</a:t>
            </a:r>
          </a:p>
          <a:p>
            <a:pPr>
              <a:buFont typeface="Arial" panose="020B0604020202020204" pitchFamily="34" charset="0"/>
              <a:buChar char="•"/>
            </a:pPr>
            <a:r>
              <a:rPr lang="en-US" b="1" dirty="0"/>
              <a:t>Suitable for Real-World Settings:</a:t>
            </a:r>
            <a:r>
              <a:rPr lang="en-US" dirty="0"/>
              <a:t> ITS can be applied to naturally occurring data, making it suitable for real-world evaluations where controlled experimental conditions are impractical.</a:t>
            </a:r>
          </a:p>
          <a:p>
            <a:pPr>
              <a:buFont typeface="Arial" panose="020B0604020202020204" pitchFamily="34" charset="0"/>
              <a:buChar char="•"/>
            </a:pPr>
            <a:r>
              <a:rPr lang="en-US" b="1" dirty="0"/>
              <a:t>Applications:</a:t>
            </a:r>
            <a:endParaRPr lang="en-US" dirty="0"/>
          </a:p>
          <a:p>
            <a:pPr marL="742950" lvl="1" indent="-285750">
              <a:buFont typeface="Arial" panose="020B0604020202020204" pitchFamily="34" charset="0"/>
              <a:buChar char="•"/>
            </a:pPr>
            <a:r>
              <a:rPr lang="en-US" b="1" dirty="0"/>
              <a:t>Smoking Bans:</a:t>
            </a:r>
            <a:r>
              <a:rPr lang="en-US" dirty="0"/>
              <a:t> Evaluating the impact of legislation banning smoking in public places on smoking rates or health outcomes.</a:t>
            </a:r>
          </a:p>
          <a:p>
            <a:pPr marL="742950" lvl="1" indent="-285750">
              <a:buFont typeface="Arial" panose="020B0604020202020204" pitchFamily="34" charset="0"/>
              <a:buChar char="•"/>
            </a:pPr>
            <a:r>
              <a:rPr lang="en-US" b="1" dirty="0"/>
              <a:t>Vaccination Programs:</a:t>
            </a:r>
            <a:r>
              <a:rPr lang="en-US" dirty="0"/>
              <a:t> Assessing the effectiveness of new vaccination campaigns on disease incidence rates.</a:t>
            </a:r>
          </a:p>
          <a:p>
            <a:pPr marL="742950" lvl="1" indent="-285750">
              <a:buFont typeface="Arial" panose="020B0604020202020204" pitchFamily="34" charset="0"/>
              <a:buChar char="•"/>
            </a:pPr>
            <a:r>
              <a:rPr lang="en-US" b="1" dirty="0"/>
              <a:t>Health Policies:</a:t>
            </a:r>
            <a:r>
              <a:rPr lang="en-US" dirty="0"/>
              <a:t> Analyzing the effect of new health policies, such as changes in healthcare funding or introduction of new screening programs.</a:t>
            </a:r>
          </a:p>
        </p:txBody>
      </p:sp>
    </p:spTree>
    <p:extLst>
      <p:ext uri="{BB962C8B-B14F-4D97-AF65-F5344CB8AC3E}">
        <p14:creationId xmlns:p14="http://schemas.microsoft.com/office/powerpoint/2010/main" val="1801732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2DF69-D46B-91FB-E61A-BB946F19FC53}"/>
              </a:ext>
            </a:extLst>
          </p:cNvPr>
          <p:cNvSpPr>
            <a:spLocks noGrp="1"/>
          </p:cNvSpPr>
          <p:nvPr>
            <p:ph type="title"/>
          </p:nvPr>
        </p:nvSpPr>
        <p:spPr/>
        <p:txBody>
          <a:bodyPr/>
          <a:lstStyle/>
          <a:p>
            <a:r>
              <a:rPr lang="en-US" dirty="0"/>
              <a:t>Key Components of ITS</a:t>
            </a:r>
          </a:p>
        </p:txBody>
      </p:sp>
      <p:sp>
        <p:nvSpPr>
          <p:cNvPr id="3" name="Content Placeholder 2">
            <a:extLst>
              <a:ext uri="{FF2B5EF4-FFF2-40B4-BE49-F238E27FC236}">
                <a16:creationId xmlns:a16="http://schemas.microsoft.com/office/drawing/2014/main" id="{8FBC0980-F118-F33D-52ED-A462224E5684}"/>
              </a:ext>
            </a:extLst>
          </p:cNvPr>
          <p:cNvSpPr>
            <a:spLocks noGrp="1"/>
          </p:cNvSpPr>
          <p:nvPr>
            <p:ph idx="1"/>
          </p:nvPr>
        </p:nvSpPr>
        <p:spPr>
          <a:xfrm>
            <a:off x="838200" y="1519332"/>
            <a:ext cx="11353800" cy="5338668"/>
          </a:xfrm>
        </p:spPr>
        <p:txBody>
          <a:bodyPr>
            <a:normAutofit fontScale="70000" lnSpcReduction="20000"/>
          </a:bodyPr>
          <a:lstStyle/>
          <a:p>
            <a:pPr marL="0" indent="0">
              <a:buNone/>
            </a:pPr>
            <a:r>
              <a:rPr lang="en-US" b="1" dirty="0"/>
              <a:t>Key Components:</a:t>
            </a:r>
            <a:endParaRPr lang="en-US" dirty="0"/>
          </a:p>
          <a:p>
            <a:pPr lvl="1"/>
            <a:r>
              <a:rPr lang="en-US" b="1" dirty="0"/>
              <a:t>Time Points:</a:t>
            </a:r>
            <a:endParaRPr lang="en-US" dirty="0"/>
          </a:p>
          <a:p>
            <a:pPr marL="1200150" lvl="2" indent="-285750"/>
            <a:r>
              <a:rPr lang="en-US" dirty="0"/>
              <a:t>Definition: Continuous sequence of observations taken at regular intervals.</a:t>
            </a:r>
          </a:p>
          <a:p>
            <a:pPr marL="1200150" lvl="2" indent="-285750"/>
            <a:r>
              <a:rPr lang="en-US" dirty="0"/>
              <a:t>Importance: Essential for identifying trends and changes over time.</a:t>
            </a:r>
          </a:p>
          <a:p>
            <a:pPr lvl="1"/>
            <a:r>
              <a:rPr lang="en-US" b="1" dirty="0"/>
              <a:t>Intervention:</a:t>
            </a:r>
            <a:endParaRPr lang="en-US" dirty="0"/>
          </a:p>
          <a:p>
            <a:pPr marL="1200150" lvl="2" indent="-285750"/>
            <a:r>
              <a:rPr lang="en-US" dirty="0"/>
              <a:t>Definition: A specific event or policy implementation that occurs at a known point in time.</a:t>
            </a:r>
          </a:p>
          <a:p>
            <a:pPr marL="1200150" lvl="2" indent="-285750"/>
            <a:r>
              <a:rPr lang="en-US" dirty="0"/>
              <a:t>Importance: Acts as the "interruption" in the time series, whose impact is being measured.</a:t>
            </a:r>
          </a:p>
          <a:p>
            <a:pPr lvl="1"/>
            <a:r>
              <a:rPr lang="en-US" b="1" dirty="0"/>
              <a:t>Outcome Measure:</a:t>
            </a:r>
            <a:endParaRPr lang="en-US" dirty="0"/>
          </a:p>
          <a:p>
            <a:pPr marL="1200150" lvl="2" indent="-285750"/>
            <a:r>
              <a:rPr lang="en-US" dirty="0"/>
              <a:t>Definition: The variable of interest that is measured at each time point.</a:t>
            </a:r>
          </a:p>
          <a:p>
            <a:pPr marL="1200150" lvl="2" indent="-285750"/>
            <a:r>
              <a:rPr lang="en-US" dirty="0"/>
              <a:t>Importance: Reflects the effect of the intervention. Examples include hospital admissions, disease incidence rates, etc.</a:t>
            </a:r>
          </a:p>
          <a:p>
            <a:pPr lvl="1"/>
            <a:r>
              <a:rPr lang="en-US" b="1" dirty="0"/>
              <a:t>Pre-Intervention Period:</a:t>
            </a:r>
            <a:endParaRPr lang="en-US" dirty="0"/>
          </a:p>
          <a:p>
            <a:pPr marL="1200150" lvl="2" indent="-285750"/>
            <a:r>
              <a:rPr lang="en-US" dirty="0"/>
              <a:t>Definition: The time period before the intervention is implemented.</a:t>
            </a:r>
          </a:p>
          <a:p>
            <a:pPr marL="1200150" lvl="2" indent="-285750"/>
            <a:r>
              <a:rPr lang="en-US" dirty="0"/>
              <a:t>Importance: Establishes the baseline trend and allows for comparison with the post-intervention period.</a:t>
            </a:r>
          </a:p>
          <a:p>
            <a:pPr lvl="1"/>
            <a:r>
              <a:rPr lang="en-US" b="1" dirty="0"/>
              <a:t>Post-Intervention Period:</a:t>
            </a:r>
            <a:endParaRPr lang="en-US" dirty="0"/>
          </a:p>
          <a:p>
            <a:pPr marL="1200150" lvl="2" indent="-285750"/>
            <a:r>
              <a:rPr lang="en-US" dirty="0"/>
              <a:t>Definition: The time period after the intervention is implemented.</a:t>
            </a:r>
          </a:p>
          <a:p>
            <a:pPr marL="1200150" lvl="2" indent="-285750"/>
            <a:r>
              <a:rPr lang="en-US" dirty="0"/>
              <a:t>Importance: Used to measure changes attributable to the intervention.</a:t>
            </a:r>
          </a:p>
          <a:p>
            <a:pPr lvl="1"/>
            <a:r>
              <a:rPr lang="en-US" b="1" dirty="0"/>
              <a:t>Trend and Level Changes:</a:t>
            </a:r>
            <a:endParaRPr lang="en-US" dirty="0"/>
          </a:p>
          <a:p>
            <a:pPr marL="1200150" lvl="2" indent="-285750"/>
            <a:r>
              <a:rPr lang="en-US" b="1" dirty="0"/>
              <a:t>Level Change:</a:t>
            </a:r>
            <a:endParaRPr lang="en-US" dirty="0"/>
          </a:p>
          <a:p>
            <a:pPr lvl="3"/>
            <a:r>
              <a:rPr lang="en-US" dirty="0"/>
              <a:t>Definition: A sudden shift in the outcome measure immediately after the intervention.</a:t>
            </a:r>
          </a:p>
          <a:p>
            <a:pPr lvl="3"/>
            <a:r>
              <a:rPr lang="en-US" dirty="0"/>
              <a:t>Importance: Indicates an immediate effect of the intervention.</a:t>
            </a:r>
          </a:p>
          <a:p>
            <a:pPr marL="1200150" lvl="2" indent="-285750"/>
            <a:r>
              <a:rPr lang="en-US" b="1" dirty="0"/>
              <a:t>Trend Change:</a:t>
            </a:r>
            <a:endParaRPr lang="en-US" dirty="0"/>
          </a:p>
          <a:p>
            <a:pPr lvl="3"/>
            <a:r>
              <a:rPr lang="en-US" dirty="0"/>
              <a:t>Definition: A change in the slope of the outcome measure over time post-intervention.</a:t>
            </a:r>
          </a:p>
          <a:p>
            <a:pPr lvl="3"/>
            <a:r>
              <a:rPr lang="en-US" dirty="0"/>
              <a:t>Importance: Indicates a gradual effect of the intervention.</a:t>
            </a:r>
          </a:p>
          <a:p>
            <a:endParaRPr lang="en-US" dirty="0"/>
          </a:p>
        </p:txBody>
      </p:sp>
    </p:spTree>
    <p:extLst>
      <p:ext uri="{BB962C8B-B14F-4D97-AF65-F5344CB8AC3E}">
        <p14:creationId xmlns:p14="http://schemas.microsoft.com/office/powerpoint/2010/main" val="2827303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E31D2-D07F-A0C3-4D6C-13EB5534DBB4}"/>
              </a:ext>
            </a:extLst>
          </p:cNvPr>
          <p:cNvSpPr>
            <a:spLocks noGrp="1"/>
          </p:cNvSpPr>
          <p:nvPr>
            <p:ph type="title"/>
          </p:nvPr>
        </p:nvSpPr>
        <p:spPr/>
        <p:txBody>
          <a:bodyPr/>
          <a:lstStyle/>
          <a:p>
            <a:r>
              <a:rPr lang="en-US" dirty="0"/>
              <a:t>Methodological Considerations in ITS Analysis</a:t>
            </a:r>
          </a:p>
        </p:txBody>
      </p:sp>
      <p:sp>
        <p:nvSpPr>
          <p:cNvPr id="3" name="Content Placeholder 2">
            <a:extLst>
              <a:ext uri="{FF2B5EF4-FFF2-40B4-BE49-F238E27FC236}">
                <a16:creationId xmlns:a16="http://schemas.microsoft.com/office/drawing/2014/main" id="{6921CBA7-3EA8-D1BA-2E29-6C47AE107B65}"/>
              </a:ext>
            </a:extLst>
          </p:cNvPr>
          <p:cNvSpPr>
            <a:spLocks noGrp="1"/>
          </p:cNvSpPr>
          <p:nvPr>
            <p:ph idx="1"/>
          </p:nvPr>
        </p:nvSpPr>
        <p:spPr>
          <a:xfrm>
            <a:off x="838200" y="1825624"/>
            <a:ext cx="10515600" cy="4962353"/>
          </a:xfrm>
        </p:spPr>
        <p:txBody>
          <a:bodyPr>
            <a:normAutofit fontScale="55000" lnSpcReduction="20000"/>
          </a:bodyPr>
          <a:lstStyle/>
          <a:p>
            <a:pPr>
              <a:buFont typeface="+mj-lt"/>
              <a:buAutoNum type="arabicPeriod"/>
            </a:pPr>
            <a:r>
              <a:rPr lang="en-US" b="1" dirty="0"/>
              <a:t>Autocorrelation:</a:t>
            </a:r>
            <a:endParaRPr lang="en-US" dirty="0"/>
          </a:p>
          <a:p>
            <a:pPr lvl="1"/>
            <a:r>
              <a:rPr lang="en-US" b="1" dirty="0"/>
              <a:t>Definition:</a:t>
            </a:r>
            <a:r>
              <a:rPr lang="en-US" dirty="0"/>
              <a:t> The correlation of a time series with its own past values.</a:t>
            </a:r>
          </a:p>
          <a:p>
            <a:pPr lvl="1"/>
            <a:r>
              <a:rPr lang="en-US" b="1" dirty="0"/>
              <a:t>Challenge:</a:t>
            </a:r>
            <a:r>
              <a:rPr lang="en-US" dirty="0"/>
              <a:t> Can inflate the type I error rate, leading to false positives.</a:t>
            </a:r>
          </a:p>
          <a:p>
            <a:pPr lvl="1"/>
            <a:r>
              <a:rPr lang="en-US" b="1" dirty="0"/>
              <a:t>Solution:</a:t>
            </a:r>
            <a:r>
              <a:rPr lang="en-US" dirty="0"/>
              <a:t> Use statistical methods such as Generalized Least Squares (GLS) to adjust for autocorrelation.</a:t>
            </a:r>
          </a:p>
          <a:p>
            <a:pPr>
              <a:buFont typeface="+mj-lt"/>
              <a:buAutoNum type="arabicPeriod"/>
            </a:pPr>
            <a:r>
              <a:rPr lang="en-US" b="1" dirty="0"/>
              <a:t>Seasonality:</a:t>
            </a:r>
            <a:endParaRPr lang="en-US" dirty="0"/>
          </a:p>
          <a:p>
            <a:pPr lvl="1"/>
            <a:r>
              <a:rPr lang="en-US" b="1" dirty="0"/>
              <a:t>Definition:</a:t>
            </a:r>
            <a:r>
              <a:rPr lang="en-US" dirty="0"/>
              <a:t> Regular patterns or cycles in data that repeat over time, such as monthly or yearly trends.</a:t>
            </a:r>
          </a:p>
          <a:p>
            <a:pPr lvl="1"/>
            <a:r>
              <a:rPr lang="en-US" b="1" dirty="0"/>
              <a:t>Challenge:</a:t>
            </a:r>
            <a:r>
              <a:rPr lang="en-US" dirty="0"/>
              <a:t> Can obscure the true impact of the intervention if not accounted for.</a:t>
            </a:r>
          </a:p>
          <a:p>
            <a:pPr lvl="1"/>
            <a:r>
              <a:rPr lang="en-US" b="1" dirty="0"/>
              <a:t>Solution:</a:t>
            </a:r>
            <a:r>
              <a:rPr lang="en-US" dirty="0"/>
              <a:t> Incorporate seasonal adjustment methods, such as including seasonal dummy variables or using Fourier terms.</a:t>
            </a:r>
          </a:p>
          <a:p>
            <a:pPr>
              <a:buFont typeface="+mj-lt"/>
              <a:buAutoNum type="arabicPeriod"/>
            </a:pPr>
            <a:r>
              <a:rPr lang="en-US" b="1" dirty="0"/>
              <a:t>Time-Varying Confounders:</a:t>
            </a:r>
            <a:endParaRPr lang="en-US" dirty="0"/>
          </a:p>
          <a:p>
            <a:pPr lvl="1"/>
            <a:r>
              <a:rPr lang="en-US" b="1" dirty="0"/>
              <a:t>Definition:</a:t>
            </a:r>
            <a:r>
              <a:rPr lang="en-US" dirty="0"/>
              <a:t> Variables that change over time and can influence the outcome independently of the intervention.</a:t>
            </a:r>
          </a:p>
          <a:p>
            <a:pPr lvl="1"/>
            <a:r>
              <a:rPr lang="en-US" b="1" dirty="0"/>
              <a:t>Challenge:</a:t>
            </a:r>
            <a:r>
              <a:rPr lang="en-US" dirty="0"/>
              <a:t> Can bias the results if not properly controlled.</a:t>
            </a:r>
          </a:p>
          <a:p>
            <a:pPr lvl="1"/>
            <a:r>
              <a:rPr lang="en-US" b="1" dirty="0"/>
              <a:t>Solution:</a:t>
            </a:r>
            <a:r>
              <a:rPr lang="en-US" dirty="0"/>
              <a:t> Include time-varying confounders in the regression model to adjust for their effects.</a:t>
            </a:r>
          </a:p>
          <a:p>
            <a:pPr>
              <a:buFont typeface="+mj-lt"/>
              <a:buAutoNum type="arabicPeriod"/>
            </a:pPr>
            <a:r>
              <a:rPr lang="en-US" b="1" dirty="0"/>
              <a:t>Model Specification:</a:t>
            </a:r>
            <a:endParaRPr lang="en-US" dirty="0"/>
          </a:p>
          <a:p>
            <a:pPr lvl="1"/>
            <a:r>
              <a:rPr lang="en-US" b="1" dirty="0"/>
              <a:t>Definition:</a:t>
            </a:r>
            <a:r>
              <a:rPr lang="en-US" dirty="0"/>
              <a:t> The process of selecting the appropriate variables and functional form for the regression model.</a:t>
            </a:r>
          </a:p>
          <a:p>
            <a:pPr lvl="1"/>
            <a:r>
              <a:rPr lang="en-US" b="1" dirty="0"/>
              <a:t>Challenge:</a:t>
            </a:r>
            <a:r>
              <a:rPr lang="en-US" dirty="0"/>
              <a:t> Incorrect model specification can lead to biased or incorrect estimates.</a:t>
            </a:r>
          </a:p>
          <a:p>
            <a:pPr lvl="1"/>
            <a:r>
              <a:rPr lang="en-US" b="1" dirty="0"/>
              <a:t>Solution:</a:t>
            </a:r>
            <a:r>
              <a:rPr lang="en-US" dirty="0"/>
              <a:t> Use theory and prior research to guide model specification and conduct sensitivity analyses to test the robustness of results.</a:t>
            </a:r>
          </a:p>
          <a:p>
            <a:pPr>
              <a:buFont typeface="+mj-lt"/>
              <a:buAutoNum type="arabicPeriod"/>
            </a:pPr>
            <a:r>
              <a:rPr lang="en-US" b="1" dirty="0"/>
              <a:t>Intervention Impact Model:</a:t>
            </a:r>
            <a:endParaRPr lang="en-US" dirty="0"/>
          </a:p>
          <a:p>
            <a:pPr lvl="1"/>
            <a:r>
              <a:rPr lang="en-US" b="1" dirty="0"/>
              <a:t>Definition:</a:t>
            </a:r>
            <a:r>
              <a:rPr lang="en-US" dirty="0"/>
              <a:t> The hypothesized way in which the intervention affects the outcome, such as an immediate level change, a gradual trend change, or both.</a:t>
            </a:r>
          </a:p>
          <a:p>
            <a:pPr lvl="1"/>
            <a:r>
              <a:rPr lang="en-US" b="1" dirty="0"/>
              <a:t>Challenge:</a:t>
            </a:r>
            <a:r>
              <a:rPr lang="en-US" dirty="0"/>
              <a:t> Incorrectly specifying the impact model can lead to misinterpretation of the intervention's effect.</a:t>
            </a:r>
          </a:p>
          <a:p>
            <a:pPr lvl="1"/>
            <a:r>
              <a:rPr lang="en-US" b="1" dirty="0"/>
              <a:t>Solution:</a:t>
            </a:r>
            <a:r>
              <a:rPr lang="en-US" dirty="0"/>
              <a:t> Pre-specify the impact model based on the nature of the intervention and conduct exploratory analyses if needed.</a:t>
            </a:r>
          </a:p>
          <a:p>
            <a:endParaRPr lang="en-US" dirty="0"/>
          </a:p>
        </p:txBody>
      </p:sp>
    </p:spTree>
    <p:extLst>
      <p:ext uri="{BB962C8B-B14F-4D97-AF65-F5344CB8AC3E}">
        <p14:creationId xmlns:p14="http://schemas.microsoft.com/office/powerpoint/2010/main" val="778310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0733F-D393-2859-E7FC-E5630816BB22}"/>
              </a:ext>
            </a:extLst>
          </p:cNvPr>
          <p:cNvSpPr>
            <a:spLocks noGrp="1"/>
          </p:cNvSpPr>
          <p:nvPr>
            <p:ph type="title"/>
          </p:nvPr>
        </p:nvSpPr>
        <p:spPr/>
        <p:txBody>
          <a:bodyPr/>
          <a:lstStyle/>
          <a:p>
            <a:r>
              <a:rPr lang="en-US" dirty="0"/>
              <a:t>Autocorrelation</a:t>
            </a:r>
          </a:p>
        </p:txBody>
      </p:sp>
      <p:sp>
        <p:nvSpPr>
          <p:cNvPr id="3" name="Content Placeholder 2">
            <a:extLst>
              <a:ext uri="{FF2B5EF4-FFF2-40B4-BE49-F238E27FC236}">
                <a16:creationId xmlns:a16="http://schemas.microsoft.com/office/drawing/2014/main" id="{88F73902-EA6C-00CA-3923-C3A84E2013DC}"/>
              </a:ext>
            </a:extLst>
          </p:cNvPr>
          <p:cNvSpPr>
            <a:spLocks noGrp="1"/>
          </p:cNvSpPr>
          <p:nvPr>
            <p:ph idx="1"/>
          </p:nvPr>
        </p:nvSpPr>
        <p:spPr>
          <a:xfrm>
            <a:off x="838200" y="1564640"/>
            <a:ext cx="10515600" cy="4928235"/>
          </a:xfrm>
        </p:spPr>
        <p:txBody>
          <a:bodyPr>
            <a:normAutofit fontScale="92500" lnSpcReduction="10000"/>
          </a:bodyPr>
          <a:lstStyle/>
          <a:p>
            <a:pPr marL="0" indent="0">
              <a:buNone/>
            </a:pPr>
            <a:r>
              <a:rPr lang="en-US" dirty="0"/>
              <a:t>Autocorrelation is important in timeseries analysis and refers to the correlation of a timeseries with its own past values, and it can significantly impact the results of an ITS analysis if not properly addressed.</a:t>
            </a:r>
          </a:p>
          <a:p>
            <a:pPr marL="0" indent="0">
              <a:buNone/>
            </a:pPr>
            <a:endParaRPr lang="en-US" dirty="0"/>
          </a:p>
          <a:p>
            <a:pPr marL="0" indent="0">
              <a:buNone/>
            </a:pPr>
            <a:r>
              <a:rPr lang="en-US" b="1" dirty="0"/>
              <a:t>Definition: </a:t>
            </a:r>
            <a:r>
              <a:rPr lang="en-US" dirty="0"/>
              <a:t>Autocorrelation occurs when the residuals (errors) of a model are not independent of each other. This means that the value of the outcome variable at one point in time is correlated with its values at previous points in time.</a:t>
            </a:r>
          </a:p>
          <a:p>
            <a:pPr marL="0" indent="0">
              <a:buNone/>
            </a:pPr>
            <a:endParaRPr lang="en-US" dirty="0"/>
          </a:p>
          <a:p>
            <a:pPr marL="0" indent="0">
              <a:buNone/>
            </a:pPr>
            <a:r>
              <a:rPr lang="en-US" b="1" dirty="0"/>
              <a:t>Analysis: </a:t>
            </a:r>
            <a:r>
              <a:rPr lang="en-US" dirty="0"/>
              <a:t>The presence of autocorrelation can lead to:</a:t>
            </a:r>
          </a:p>
          <a:p>
            <a:pPr lvl="1"/>
            <a:r>
              <a:rPr lang="en-US" dirty="0"/>
              <a:t>Inflated type I error rates, increasing the likelihood of false positives.</a:t>
            </a:r>
          </a:p>
          <a:p>
            <a:pPr lvl="1"/>
            <a:r>
              <a:rPr lang="en-US" dirty="0"/>
              <a:t>Underestimation of the standard errors, leading to overly optimistic confidence intervals.</a:t>
            </a:r>
          </a:p>
          <a:p>
            <a:pPr marL="0" indent="0">
              <a:buNone/>
            </a:pPr>
            <a:endParaRPr lang="en-US" dirty="0"/>
          </a:p>
        </p:txBody>
      </p:sp>
    </p:spTree>
    <p:extLst>
      <p:ext uri="{BB962C8B-B14F-4D97-AF65-F5344CB8AC3E}">
        <p14:creationId xmlns:p14="http://schemas.microsoft.com/office/powerpoint/2010/main" val="931654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B84EE-54DF-53E6-5929-6B93A705C5AB}"/>
              </a:ext>
            </a:extLst>
          </p:cNvPr>
          <p:cNvSpPr>
            <a:spLocks noGrp="1"/>
          </p:cNvSpPr>
          <p:nvPr>
            <p:ph type="title"/>
          </p:nvPr>
        </p:nvSpPr>
        <p:spPr/>
        <p:txBody>
          <a:bodyPr/>
          <a:lstStyle/>
          <a:p>
            <a:r>
              <a:rPr lang="en-US" dirty="0"/>
              <a:t>Example – No control, one intervention</a:t>
            </a:r>
          </a:p>
        </p:txBody>
      </p:sp>
      <p:sp>
        <p:nvSpPr>
          <p:cNvPr id="3" name="Content Placeholder 2">
            <a:extLst>
              <a:ext uri="{FF2B5EF4-FFF2-40B4-BE49-F238E27FC236}">
                <a16:creationId xmlns:a16="http://schemas.microsoft.com/office/drawing/2014/main" id="{E3CC5442-83D8-5FB4-55ED-27C96D2C459B}"/>
              </a:ext>
            </a:extLst>
          </p:cNvPr>
          <p:cNvSpPr>
            <a:spLocks noGrp="1"/>
          </p:cNvSpPr>
          <p:nvPr>
            <p:ph idx="1"/>
          </p:nvPr>
        </p:nvSpPr>
        <p:spPr>
          <a:xfrm>
            <a:off x="838200" y="1825625"/>
            <a:ext cx="10515600" cy="4801086"/>
          </a:xfrm>
        </p:spPr>
        <p:txBody>
          <a:bodyPr>
            <a:normAutofit lnSpcReduction="10000"/>
          </a:bodyPr>
          <a:lstStyle/>
          <a:p>
            <a:endParaRPr lang="en-US" dirty="0"/>
          </a:p>
          <a:p>
            <a:r>
              <a:rPr lang="en-US" dirty="0"/>
              <a:t>Time = </a:t>
            </a:r>
            <a:r>
              <a:rPr lang="en-US" dirty="0">
                <a:solidFill>
                  <a:schemeClr val="tx1">
                    <a:lumMod val="65000"/>
                    <a:lumOff val="35000"/>
                  </a:schemeClr>
                </a:solidFill>
              </a:rPr>
              <a:t>A number, the time in study weeks (1 - 100 months)</a:t>
            </a:r>
          </a:p>
          <a:p>
            <a:endParaRPr lang="en-US" dirty="0"/>
          </a:p>
          <a:p>
            <a:r>
              <a:rPr lang="en-US" dirty="0"/>
              <a:t>Intervention = </a:t>
            </a:r>
            <a:r>
              <a:rPr lang="en-US" dirty="0">
                <a:solidFill>
                  <a:schemeClr val="tx1">
                    <a:lumMod val="65000"/>
                    <a:lumOff val="35000"/>
                  </a:schemeClr>
                </a:solidFill>
              </a:rPr>
              <a:t>A binary indication of whether the Intervention has taken place at Time x.  In this case a smoking ban.</a:t>
            </a:r>
          </a:p>
          <a:p>
            <a:endParaRPr lang="en-US" dirty="0"/>
          </a:p>
          <a:p>
            <a:r>
              <a:rPr lang="en-US" dirty="0"/>
              <a:t>Post intervention time = </a:t>
            </a:r>
            <a:r>
              <a:rPr lang="en-US" dirty="0">
                <a:solidFill>
                  <a:schemeClr val="tx1">
                    <a:lumMod val="65000"/>
                    <a:lumOff val="35000"/>
                  </a:schemeClr>
                </a:solidFill>
              </a:rPr>
              <a:t>A number, the time elapsed since the Intervention</a:t>
            </a:r>
          </a:p>
          <a:p>
            <a:endParaRPr lang="en-US" dirty="0">
              <a:solidFill>
                <a:schemeClr val="tx1">
                  <a:lumMod val="65000"/>
                  <a:lumOff val="35000"/>
                </a:schemeClr>
              </a:solidFill>
            </a:endParaRPr>
          </a:p>
          <a:p>
            <a:r>
              <a:rPr lang="en-US" dirty="0"/>
              <a:t>Quantity/Outcome = </a:t>
            </a:r>
            <a:r>
              <a:rPr lang="en-US" dirty="0">
                <a:solidFill>
                  <a:schemeClr val="tx1">
                    <a:lumMod val="65000"/>
                    <a:lumOff val="35000"/>
                  </a:schemeClr>
                </a:solidFill>
              </a:rPr>
              <a:t>The thing we want to measure</a:t>
            </a:r>
          </a:p>
        </p:txBody>
      </p:sp>
    </p:spTree>
    <p:extLst>
      <p:ext uri="{BB962C8B-B14F-4D97-AF65-F5344CB8AC3E}">
        <p14:creationId xmlns:p14="http://schemas.microsoft.com/office/powerpoint/2010/main" val="2170767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D5452-5D97-B255-49A9-961965043E1B}"/>
              </a:ext>
            </a:extLst>
          </p:cNvPr>
          <p:cNvSpPr>
            <a:spLocks noGrp="1"/>
          </p:cNvSpPr>
          <p:nvPr>
            <p:ph type="title"/>
          </p:nvPr>
        </p:nvSpPr>
        <p:spPr>
          <a:xfrm>
            <a:off x="1946188" y="-12357"/>
            <a:ext cx="8501449" cy="667265"/>
          </a:xfrm>
        </p:spPr>
        <p:txBody>
          <a:bodyPr>
            <a:normAutofit fontScale="90000"/>
          </a:bodyPr>
          <a:lstStyle/>
          <a:p>
            <a:r>
              <a:rPr lang="en-US" dirty="0"/>
              <a:t>Example – No control, one intervention</a:t>
            </a:r>
          </a:p>
        </p:txBody>
      </p:sp>
      <p:pic>
        <p:nvPicPr>
          <p:cNvPr id="8" name="Picture 7">
            <a:extLst>
              <a:ext uri="{FF2B5EF4-FFF2-40B4-BE49-F238E27FC236}">
                <a16:creationId xmlns:a16="http://schemas.microsoft.com/office/drawing/2014/main" id="{30BCF8D7-69B3-F26C-B50C-29F0B01EE71F}"/>
              </a:ext>
            </a:extLst>
          </p:cNvPr>
          <p:cNvPicPr>
            <a:picLocks noChangeAspect="1"/>
          </p:cNvPicPr>
          <p:nvPr/>
        </p:nvPicPr>
        <p:blipFill>
          <a:blip r:embed="rId2"/>
          <a:stretch>
            <a:fillRect/>
          </a:stretch>
        </p:blipFill>
        <p:spPr>
          <a:xfrm>
            <a:off x="0" y="654907"/>
            <a:ext cx="12192000" cy="6116953"/>
          </a:xfrm>
          <a:prstGeom prst="rect">
            <a:avLst/>
          </a:prstGeom>
        </p:spPr>
      </p:pic>
    </p:spTree>
    <p:extLst>
      <p:ext uri="{BB962C8B-B14F-4D97-AF65-F5344CB8AC3E}">
        <p14:creationId xmlns:p14="http://schemas.microsoft.com/office/powerpoint/2010/main" val="38965538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B84EE-54DF-53E6-5929-6B93A705C5AB}"/>
              </a:ext>
            </a:extLst>
          </p:cNvPr>
          <p:cNvSpPr>
            <a:spLocks noGrp="1"/>
          </p:cNvSpPr>
          <p:nvPr>
            <p:ph type="title"/>
          </p:nvPr>
        </p:nvSpPr>
        <p:spPr/>
        <p:txBody>
          <a:bodyPr/>
          <a:lstStyle/>
          <a:p>
            <a:r>
              <a:rPr lang="en-US" dirty="0"/>
              <a:t>Example – No control, one intervention</a:t>
            </a:r>
          </a:p>
        </p:txBody>
      </p:sp>
      <p:sp>
        <p:nvSpPr>
          <p:cNvPr id="3" name="Content Placeholder 2">
            <a:extLst>
              <a:ext uri="{FF2B5EF4-FFF2-40B4-BE49-F238E27FC236}">
                <a16:creationId xmlns:a16="http://schemas.microsoft.com/office/drawing/2014/main" id="{E3CC5442-83D8-5FB4-55ED-27C96D2C459B}"/>
              </a:ext>
            </a:extLst>
          </p:cNvPr>
          <p:cNvSpPr>
            <a:spLocks noGrp="1"/>
          </p:cNvSpPr>
          <p:nvPr>
            <p:ph idx="1"/>
          </p:nvPr>
        </p:nvSpPr>
        <p:spPr>
          <a:xfrm>
            <a:off x="838200" y="1825625"/>
            <a:ext cx="10515600" cy="4801086"/>
          </a:xfrm>
        </p:spPr>
        <p:txBody>
          <a:bodyPr>
            <a:normAutofit/>
          </a:bodyPr>
          <a:lstStyle/>
          <a:p>
            <a:pPr marL="0" indent="0">
              <a:buNone/>
            </a:pPr>
            <a:r>
              <a:rPr lang="en-US" dirty="0">
                <a:solidFill>
                  <a:schemeClr val="tx1">
                    <a:lumMod val="65000"/>
                    <a:lumOff val="35000"/>
                  </a:schemeClr>
                </a:solidFill>
              </a:rPr>
              <a:t>GLS approach:</a:t>
            </a:r>
          </a:p>
          <a:p>
            <a:pPr marL="0" indent="0">
              <a:buNone/>
            </a:pPr>
            <a:endParaRPr lang="en-US" dirty="0">
              <a:solidFill>
                <a:schemeClr val="tx1">
                  <a:lumMod val="65000"/>
                  <a:lumOff val="35000"/>
                </a:schemeClr>
              </a:solidFill>
            </a:endParaRPr>
          </a:p>
          <a:p>
            <a:r>
              <a:rPr lang="en-US" dirty="0">
                <a:solidFill>
                  <a:schemeClr val="tx1">
                    <a:lumMod val="65000"/>
                    <a:lumOff val="35000"/>
                  </a:schemeClr>
                </a:solidFill>
              </a:rPr>
              <a:t>ITS model:</a:t>
            </a:r>
          </a:p>
          <a:p>
            <a:pPr marL="457200" lvl="1" indent="0">
              <a:buNone/>
            </a:pPr>
            <a:r>
              <a:rPr lang="en-US" dirty="0" err="1">
                <a:solidFill>
                  <a:schemeClr val="tx1">
                    <a:lumMod val="65000"/>
                    <a:lumOff val="35000"/>
                  </a:schemeClr>
                </a:solidFill>
              </a:rPr>
              <a:t>gls</a:t>
            </a:r>
            <a:r>
              <a:rPr lang="en-US" dirty="0">
                <a:solidFill>
                  <a:schemeClr val="tx1">
                    <a:lumMod val="65000"/>
                    <a:lumOff val="35000"/>
                  </a:schemeClr>
                </a:solidFill>
              </a:rPr>
              <a:t>(Admissions ~  Time + Intervention + </a:t>
            </a:r>
            <a:r>
              <a:rPr lang="en-US" dirty="0" err="1">
                <a:solidFill>
                  <a:schemeClr val="tx1">
                    <a:lumMod val="65000"/>
                    <a:lumOff val="35000"/>
                  </a:schemeClr>
                </a:solidFill>
              </a:rPr>
              <a:t>Post_intervention_time</a:t>
            </a:r>
            <a:r>
              <a:rPr lang="en-US" dirty="0">
                <a:solidFill>
                  <a:schemeClr val="tx1">
                    <a:lumMod val="65000"/>
                    <a:lumOff val="35000"/>
                  </a:schemeClr>
                </a:solidFill>
              </a:rPr>
              <a:t>, data = </a:t>
            </a:r>
            <a:r>
              <a:rPr lang="en-US" dirty="0" err="1">
                <a:solidFill>
                  <a:schemeClr val="tx1">
                    <a:lumMod val="65000"/>
                    <a:lumOff val="35000"/>
                  </a:schemeClr>
                </a:solidFill>
              </a:rPr>
              <a:t>df</a:t>
            </a:r>
            <a:r>
              <a:rPr lang="en-US" dirty="0">
                <a:solidFill>
                  <a:schemeClr val="tx1">
                    <a:lumMod val="65000"/>
                    <a:lumOff val="35000"/>
                  </a:schemeClr>
                </a:solidFill>
              </a:rPr>
              <a:t>, correlation = </a:t>
            </a:r>
            <a:r>
              <a:rPr lang="en-US" dirty="0" err="1">
                <a:solidFill>
                  <a:schemeClr val="tx1">
                    <a:lumMod val="65000"/>
                    <a:lumOff val="35000"/>
                  </a:schemeClr>
                </a:solidFill>
              </a:rPr>
              <a:t>corARMA</a:t>
            </a:r>
            <a:r>
              <a:rPr lang="en-US" dirty="0">
                <a:solidFill>
                  <a:schemeClr val="tx1">
                    <a:lumMod val="65000"/>
                    <a:lumOff val="35000"/>
                  </a:schemeClr>
                </a:solidFill>
              </a:rPr>
              <a:t>(p = 1, q = 0, form = ~ Time),  method=“ML”)</a:t>
            </a:r>
          </a:p>
          <a:p>
            <a:endParaRPr lang="en-US" dirty="0">
              <a:solidFill>
                <a:schemeClr val="tx1">
                  <a:lumMod val="65000"/>
                  <a:lumOff val="35000"/>
                </a:schemeClr>
              </a:solidFill>
            </a:endParaRPr>
          </a:p>
          <a:p>
            <a:endParaRPr lang="en-US" dirty="0">
              <a:solidFill>
                <a:schemeClr val="tx1">
                  <a:lumMod val="65000"/>
                  <a:lumOff val="35000"/>
                </a:schemeClr>
              </a:solidFill>
            </a:endParaRPr>
          </a:p>
        </p:txBody>
      </p:sp>
    </p:spTree>
    <p:extLst>
      <p:ext uri="{BB962C8B-B14F-4D97-AF65-F5344CB8AC3E}">
        <p14:creationId xmlns:p14="http://schemas.microsoft.com/office/powerpoint/2010/main" val="1574731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BBA50-9D73-EE95-DAB0-0EAA80720177}"/>
              </a:ext>
            </a:extLst>
          </p:cNvPr>
          <p:cNvSpPr>
            <a:spLocks noGrp="1"/>
          </p:cNvSpPr>
          <p:nvPr>
            <p:ph type="title"/>
          </p:nvPr>
        </p:nvSpPr>
        <p:spPr>
          <a:xfrm>
            <a:off x="994720" y="0"/>
            <a:ext cx="10515600" cy="1325563"/>
          </a:xfrm>
        </p:spPr>
        <p:txBody>
          <a:bodyPr/>
          <a:lstStyle/>
          <a:p>
            <a:r>
              <a:rPr lang="en-US" dirty="0"/>
              <a:t>Example – No control, one intervention</a:t>
            </a:r>
          </a:p>
        </p:txBody>
      </p:sp>
      <p:sp>
        <p:nvSpPr>
          <p:cNvPr id="7" name="TextBox 6">
            <a:extLst>
              <a:ext uri="{FF2B5EF4-FFF2-40B4-BE49-F238E27FC236}">
                <a16:creationId xmlns:a16="http://schemas.microsoft.com/office/drawing/2014/main" id="{478418C2-CAEE-52E3-92DF-086CF4E0DC61}"/>
              </a:ext>
            </a:extLst>
          </p:cNvPr>
          <p:cNvSpPr txBox="1"/>
          <p:nvPr/>
        </p:nvSpPr>
        <p:spPr>
          <a:xfrm>
            <a:off x="7274560" y="1210962"/>
            <a:ext cx="4633235" cy="5078313"/>
          </a:xfrm>
          <a:prstGeom prst="rect">
            <a:avLst/>
          </a:prstGeom>
          <a:noFill/>
        </p:spPr>
        <p:txBody>
          <a:bodyPr wrap="square" rtlCol="0">
            <a:spAutoFit/>
          </a:bodyPr>
          <a:lstStyle/>
          <a:p>
            <a:pPr algn="l"/>
            <a:r>
              <a:rPr lang="en-US" b="0" i="0" dirty="0">
                <a:solidFill>
                  <a:srgbClr val="333333"/>
                </a:solidFill>
                <a:effectLst/>
                <a:latin typeface="Helvetica Neue"/>
              </a:rPr>
              <a:t>This tells us that the model line passes the y axis at 305 admissions.</a:t>
            </a:r>
          </a:p>
          <a:p>
            <a:pPr algn="l"/>
            <a:endParaRPr lang="en-US" dirty="0">
              <a:solidFill>
                <a:srgbClr val="333333"/>
              </a:solidFill>
              <a:latin typeface="Helvetica Neue"/>
            </a:endParaRPr>
          </a:p>
          <a:p>
            <a:pPr algn="l"/>
            <a:r>
              <a:rPr lang="en-US" dirty="0">
                <a:solidFill>
                  <a:srgbClr val="333333"/>
                </a:solidFill>
                <a:latin typeface="Helvetica Neue"/>
              </a:rPr>
              <a:t>P</a:t>
            </a:r>
            <a:r>
              <a:rPr lang="en-US" b="0" i="0" dirty="0">
                <a:solidFill>
                  <a:srgbClr val="333333"/>
                </a:solidFill>
                <a:effectLst/>
                <a:latin typeface="Helvetica Neue"/>
              </a:rPr>
              <a:t>rior to the intervention, the average value of admission was falling by 2.1 admissions per month.</a:t>
            </a:r>
          </a:p>
          <a:p>
            <a:pPr algn="l"/>
            <a:endParaRPr lang="en-US" dirty="0">
              <a:solidFill>
                <a:srgbClr val="333333"/>
              </a:solidFill>
              <a:latin typeface="Helvetica Neue"/>
            </a:endParaRPr>
          </a:p>
          <a:p>
            <a:pPr algn="l"/>
            <a:r>
              <a:rPr lang="en-US" b="0" i="0" dirty="0">
                <a:solidFill>
                  <a:srgbClr val="333333"/>
                </a:solidFill>
                <a:effectLst/>
                <a:latin typeface="Helvetica Neue"/>
              </a:rPr>
              <a:t>At the intervention, there was a step change of -20.2 admissions and after the intervention there was a trend in which the number of admissions fell by additional .27 per month.</a:t>
            </a:r>
          </a:p>
          <a:p>
            <a:pPr algn="l"/>
            <a:endParaRPr lang="en-US" dirty="0">
              <a:solidFill>
                <a:srgbClr val="333333"/>
              </a:solidFill>
              <a:latin typeface="Helvetica Neue"/>
            </a:endParaRPr>
          </a:p>
          <a:p>
            <a:pPr algn="l"/>
            <a:r>
              <a:rPr lang="en-US" b="0" i="0" dirty="0">
                <a:solidFill>
                  <a:srgbClr val="333333"/>
                </a:solidFill>
                <a:effectLst/>
                <a:latin typeface="Helvetica Neue"/>
              </a:rPr>
              <a:t>The last distinction is important because that means that after the intervention, the monthly decrease in admissions was 2.1 + .27 = 2.37</a:t>
            </a:r>
          </a:p>
          <a:p>
            <a:pPr algn="l"/>
            <a:r>
              <a:rPr lang="en-US" b="0" i="0" dirty="0">
                <a:solidFill>
                  <a:srgbClr val="333333"/>
                </a:solidFill>
                <a:effectLst/>
                <a:latin typeface="Helvetica Neue"/>
              </a:rPr>
              <a:t> </a:t>
            </a:r>
          </a:p>
        </p:txBody>
      </p:sp>
      <p:pic>
        <p:nvPicPr>
          <p:cNvPr id="11" name="Picture 10">
            <a:extLst>
              <a:ext uri="{FF2B5EF4-FFF2-40B4-BE49-F238E27FC236}">
                <a16:creationId xmlns:a16="http://schemas.microsoft.com/office/drawing/2014/main" id="{506A5639-3046-1359-1629-F93A8164E29A}"/>
              </a:ext>
            </a:extLst>
          </p:cNvPr>
          <p:cNvPicPr>
            <a:picLocks noChangeAspect="1"/>
          </p:cNvPicPr>
          <p:nvPr/>
        </p:nvPicPr>
        <p:blipFill>
          <a:blip r:embed="rId3"/>
          <a:stretch>
            <a:fillRect/>
          </a:stretch>
        </p:blipFill>
        <p:spPr>
          <a:xfrm>
            <a:off x="511175" y="904875"/>
            <a:ext cx="6496050" cy="5953125"/>
          </a:xfrm>
          <a:prstGeom prst="rect">
            <a:avLst/>
          </a:prstGeom>
        </p:spPr>
      </p:pic>
      <p:sp>
        <p:nvSpPr>
          <p:cNvPr id="6" name="Rectangle 5">
            <a:extLst>
              <a:ext uri="{FF2B5EF4-FFF2-40B4-BE49-F238E27FC236}">
                <a16:creationId xmlns:a16="http://schemas.microsoft.com/office/drawing/2014/main" id="{3F35DB64-0FE3-6B5F-965B-0DAF9A98776A}"/>
              </a:ext>
            </a:extLst>
          </p:cNvPr>
          <p:cNvSpPr/>
          <p:nvPr/>
        </p:nvSpPr>
        <p:spPr>
          <a:xfrm>
            <a:off x="2721231" y="3384077"/>
            <a:ext cx="1037969" cy="99472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6693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0CD15-9ADA-3145-3F8A-9D807F3B2AA1}"/>
              </a:ext>
            </a:extLst>
          </p:cNvPr>
          <p:cNvSpPr>
            <a:spLocks noGrp="1"/>
          </p:cNvSpPr>
          <p:nvPr>
            <p:ph type="title"/>
          </p:nvPr>
        </p:nvSpPr>
        <p:spPr/>
        <p:txBody>
          <a:bodyPr/>
          <a:lstStyle/>
          <a:p>
            <a:r>
              <a:rPr lang="en-US" dirty="0"/>
              <a:t>Example – No control, one intervention</a:t>
            </a:r>
          </a:p>
        </p:txBody>
      </p:sp>
      <p:sp>
        <p:nvSpPr>
          <p:cNvPr id="3" name="Content Placeholder 2">
            <a:extLst>
              <a:ext uri="{FF2B5EF4-FFF2-40B4-BE49-F238E27FC236}">
                <a16:creationId xmlns:a16="http://schemas.microsoft.com/office/drawing/2014/main" id="{3CD85C12-6730-F75B-C607-B0327C1B072D}"/>
              </a:ext>
            </a:extLst>
          </p:cNvPr>
          <p:cNvSpPr>
            <a:spLocks noGrp="1"/>
          </p:cNvSpPr>
          <p:nvPr>
            <p:ph idx="1"/>
          </p:nvPr>
        </p:nvSpPr>
        <p:spPr>
          <a:xfrm>
            <a:off x="838200" y="1825624"/>
            <a:ext cx="10515600" cy="5032375"/>
          </a:xfrm>
        </p:spPr>
        <p:txBody>
          <a:bodyPr>
            <a:normAutofit/>
          </a:bodyPr>
          <a:lstStyle/>
          <a:p>
            <a:pPr marL="0" indent="0" algn="l">
              <a:buNone/>
            </a:pPr>
            <a:r>
              <a:rPr lang="en-US" sz="2000" b="0" i="0" dirty="0">
                <a:solidFill>
                  <a:srgbClr val="333333"/>
                </a:solidFill>
                <a:effectLst/>
              </a:rPr>
              <a:t>These values can be used to calculate the overall difference in admissions between times [i] and [ii] using this formula:</a:t>
            </a:r>
          </a:p>
          <a:p>
            <a:pPr marL="0" indent="0" algn="l">
              <a:buNone/>
            </a:pPr>
            <a:endParaRPr lang="en-US" sz="2000" b="0" i="0" dirty="0">
              <a:solidFill>
                <a:srgbClr val="333333"/>
              </a:solidFill>
              <a:effectLst/>
            </a:endParaRPr>
          </a:p>
          <a:p>
            <a:pPr algn="l"/>
            <a:r>
              <a:rPr lang="en-US" sz="2000" b="1" i="0" dirty="0">
                <a:solidFill>
                  <a:srgbClr val="333333"/>
                </a:solidFill>
                <a:effectLst/>
              </a:rPr>
              <a:t>Admissions[i] = 304.96779 + (Time[i]*-2.05654) + (Intervention[i]*-20.16562) + (</a:t>
            </a:r>
            <a:r>
              <a:rPr lang="en-US" sz="2000" b="1" i="0" dirty="0" err="1">
                <a:solidFill>
                  <a:srgbClr val="333333"/>
                </a:solidFill>
                <a:effectLst/>
              </a:rPr>
              <a:t>Post_intervention_time</a:t>
            </a:r>
            <a:r>
              <a:rPr lang="en-US" sz="2000" b="1" i="0" dirty="0">
                <a:solidFill>
                  <a:srgbClr val="333333"/>
                </a:solidFill>
                <a:effectLst/>
              </a:rPr>
              <a:t>[i]*-0.27023)</a:t>
            </a:r>
          </a:p>
          <a:p>
            <a:pPr algn="l"/>
            <a:endParaRPr lang="en-US" sz="2000" b="0" i="0" dirty="0">
              <a:solidFill>
                <a:srgbClr val="333333"/>
              </a:solidFill>
              <a:effectLst/>
            </a:endParaRPr>
          </a:p>
          <a:p>
            <a:pPr algn="l"/>
            <a:r>
              <a:rPr lang="en-US" sz="2000" b="1" i="0" dirty="0">
                <a:solidFill>
                  <a:srgbClr val="333333"/>
                </a:solidFill>
                <a:effectLst/>
              </a:rPr>
              <a:t>Admissions[ii] = 304.96779 + (Time[ii]*-2.05654) + (Intervention[ii]*-20.16562) + (</a:t>
            </a:r>
            <a:r>
              <a:rPr lang="en-US" sz="2000" b="1" i="0" dirty="0" err="1">
                <a:solidFill>
                  <a:srgbClr val="333333"/>
                </a:solidFill>
                <a:effectLst/>
              </a:rPr>
              <a:t>Post_intervention_time</a:t>
            </a:r>
            <a:r>
              <a:rPr lang="en-US" sz="2000" b="1" i="0" dirty="0">
                <a:solidFill>
                  <a:srgbClr val="333333"/>
                </a:solidFill>
                <a:effectLst/>
              </a:rPr>
              <a:t>[ii]*-0.27023)</a:t>
            </a:r>
          </a:p>
          <a:p>
            <a:pPr marL="0" indent="0" algn="l">
              <a:buNone/>
            </a:pPr>
            <a:endParaRPr lang="en-US" sz="2000" b="0" i="0" dirty="0">
              <a:solidFill>
                <a:srgbClr val="333333"/>
              </a:solidFill>
              <a:effectLst/>
            </a:endParaRPr>
          </a:p>
          <a:p>
            <a:pPr algn="l"/>
            <a:r>
              <a:rPr lang="en-US" sz="2000" b="1" i="0" dirty="0">
                <a:solidFill>
                  <a:srgbClr val="333333"/>
                </a:solidFill>
                <a:effectLst/>
              </a:rPr>
              <a:t>absolute difference = difference(Admissions[i] , Admissions[ii])</a:t>
            </a:r>
            <a:endParaRPr lang="en-US" sz="2000" b="0" i="0" dirty="0">
              <a:solidFill>
                <a:srgbClr val="333333"/>
              </a:solidFill>
              <a:effectLst/>
            </a:endParaRPr>
          </a:p>
        </p:txBody>
      </p:sp>
    </p:spTree>
    <p:extLst>
      <p:ext uri="{BB962C8B-B14F-4D97-AF65-F5344CB8AC3E}">
        <p14:creationId xmlns:p14="http://schemas.microsoft.com/office/powerpoint/2010/main" val="1491379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B84EE-54DF-53E6-5929-6B93A705C5AB}"/>
              </a:ext>
            </a:extLst>
          </p:cNvPr>
          <p:cNvSpPr>
            <a:spLocks noGrp="1"/>
          </p:cNvSpPr>
          <p:nvPr>
            <p:ph type="title"/>
          </p:nvPr>
        </p:nvSpPr>
        <p:spPr/>
        <p:txBody>
          <a:bodyPr/>
          <a:lstStyle/>
          <a:p>
            <a:r>
              <a:rPr lang="en-US" dirty="0"/>
              <a:t>Example – No control, one intervention</a:t>
            </a:r>
          </a:p>
        </p:txBody>
      </p:sp>
      <p:sp>
        <p:nvSpPr>
          <p:cNvPr id="3" name="Content Placeholder 2">
            <a:extLst>
              <a:ext uri="{FF2B5EF4-FFF2-40B4-BE49-F238E27FC236}">
                <a16:creationId xmlns:a16="http://schemas.microsoft.com/office/drawing/2014/main" id="{E3CC5442-83D8-5FB4-55ED-27C96D2C459B}"/>
              </a:ext>
            </a:extLst>
          </p:cNvPr>
          <p:cNvSpPr>
            <a:spLocks noGrp="1"/>
          </p:cNvSpPr>
          <p:nvPr>
            <p:ph idx="1"/>
          </p:nvPr>
        </p:nvSpPr>
        <p:spPr>
          <a:xfrm>
            <a:off x="838200" y="1825625"/>
            <a:ext cx="10515600" cy="4801086"/>
          </a:xfrm>
        </p:spPr>
        <p:txBody>
          <a:bodyPr>
            <a:normAutofit/>
          </a:bodyPr>
          <a:lstStyle/>
          <a:p>
            <a:pPr marL="0" indent="0">
              <a:buNone/>
            </a:pPr>
            <a:r>
              <a:rPr lang="en-US" sz="3200" dirty="0"/>
              <a:t>Counter factual:</a:t>
            </a:r>
          </a:p>
          <a:p>
            <a:pPr marL="0" indent="0">
              <a:buNone/>
            </a:pPr>
            <a:endParaRPr lang="en-US" dirty="0"/>
          </a:p>
          <a:p>
            <a:pPr marL="0" indent="0">
              <a:buNone/>
            </a:pPr>
            <a:r>
              <a:rPr lang="en-US" dirty="0"/>
              <a:t>But what would be nice would be to calculate the counterfactual scenario where the intervention didn’t happen and to estimate the difference between the factual values of admissions at time [i] and the counterfactuals at the same time [i].</a:t>
            </a:r>
          </a:p>
        </p:txBody>
      </p:sp>
    </p:spTree>
    <p:extLst>
      <p:ext uri="{BB962C8B-B14F-4D97-AF65-F5344CB8AC3E}">
        <p14:creationId xmlns:p14="http://schemas.microsoft.com/office/powerpoint/2010/main" val="3757963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B84EE-54DF-53E6-5929-6B93A705C5AB}"/>
              </a:ext>
            </a:extLst>
          </p:cNvPr>
          <p:cNvSpPr>
            <a:spLocks noGrp="1"/>
          </p:cNvSpPr>
          <p:nvPr>
            <p:ph type="title"/>
          </p:nvPr>
        </p:nvSpPr>
        <p:spPr/>
        <p:txBody>
          <a:bodyPr/>
          <a:lstStyle/>
          <a:p>
            <a:r>
              <a:rPr lang="en-US" dirty="0"/>
              <a:t>Example – No control, one intervention</a:t>
            </a:r>
          </a:p>
        </p:txBody>
      </p:sp>
      <p:sp>
        <p:nvSpPr>
          <p:cNvPr id="3" name="Content Placeholder 2">
            <a:extLst>
              <a:ext uri="{FF2B5EF4-FFF2-40B4-BE49-F238E27FC236}">
                <a16:creationId xmlns:a16="http://schemas.microsoft.com/office/drawing/2014/main" id="{E3CC5442-83D8-5FB4-55ED-27C96D2C459B}"/>
              </a:ext>
            </a:extLst>
          </p:cNvPr>
          <p:cNvSpPr>
            <a:spLocks noGrp="1"/>
          </p:cNvSpPr>
          <p:nvPr>
            <p:ph idx="1"/>
          </p:nvPr>
        </p:nvSpPr>
        <p:spPr>
          <a:xfrm>
            <a:off x="838200" y="1825625"/>
            <a:ext cx="10515600" cy="4801086"/>
          </a:xfrm>
        </p:spPr>
        <p:txBody>
          <a:bodyPr>
            <a:normAutofit/>
          </a:bodyPr>
          <a:lstStyle/>
          <a:p>
            <a:pPr marL="0" indent="0">
              <a:buNone/>
            </a:pPr>
            <a:r>
              <a:rPr lang="en-US" sz="3200" dirty="0"/>
              <a:t>Counter factual:</a:t>
            </a:r>
          </a:p>
          <a:p>
            <a:pPr marL="0" indent="0">
              <a:buNone/>
            </a:pPr>
            <a:endParaRPr lang="en-US" dirty="0"/>
          </a:p>
          <a:p>
            <a:pPr marL="0" indent="0">
              <a:buNone/>
            </a:pPr>
            <a:r>
              <a:rPr lang="en-US" dirty="0"/>
              <a:t>But what would be nice would be to calculate the counterfactual scenario where the intervention didn’t happen and to estimate the difference between the factual values of admissions at time [i] and the counterfactuals at the same time [i].</a:t>
            </a:r>
          </a:p>
        </p:txBody>
      </p:sp>
    </p:spTree>
    <p:extLst>
      <p:ext uri="{BB962C8B-B14F-4D97-AF65-F5344CB8AC3E}">
        <p14:creationId xmlns:p14="http://schemas.microsoft.com/office/powerpoint/2010/main" val="3201861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B84EE-54DF-53E6-5929-6B93A705C5AB}"/>
              </a:ext>
            </a:extLst>
          </p:cNvPr>
          <p:cNvSpPr>
            <a:spLocks noGrp="1"/>
          </p:cNvSpPr>
          <p:nvPr>
            <p:ph type="title"/>
          </p:nvPr>
        </p:nvSpPr>
        <p:spPr>
          <a:xfrm>
            <a:off x="327134" y="-182879"/>
            <a:ext cx="11537731" cy="1087822"/>
          </a:xfrm>
        </p:spPr>
        <p:txBody>
          <a:bodyPr/>
          <a:lstStyle/>
          <a:p>
            <a:r>
              <a:rPr lang="en-US" dirty="0"/>
              <a:t>Counter factual – No control, one intervention</a:t>
            </a:r>
          </a:p>
        </p:txBody>
      </p:sp>
      <p:pic>
        <p:nvPicPr>
          <p:cNvPr id="15" name="Picture 14">
            <a:extLst>
              <a:ext uri="{FF2B5EF4-FFF2-40B4-BE49-F238E27FC236}">
                <a16:creationId xmlns:a16="http://schemas.microsoft.com/office/drawing/2014/main" id="{CF3E1043-B1AD-DFEB-CAA5-E327F185B6B1}"/>
              </a:ext>
            </a:extLst>
          </p:cNvPr>
          <p:cNvPicPr>
            <a:picLocks noChangeAspect="1"/>
          </p:cNvPicPr>
          <p:nvPr/>
        </p:nvPicPr>
        <p:blipFill>
          <a:blip r:embed="rId3"/>
          <a:stretch>
            <a:fillRect/>
          </a:stretch>
        </p:blipFill>
        <p:spPr>
          <a:xfrm>
            <a:off x="0" y="680720"/>
            <a:ext cx="12192000" cy="6177279"/>
          </a:xfrm>
          <a:prstGeom prst="rect">
            <a:avLst/>
          </a:prstGeom>
        </p:spPr>
      </p:pic>
    </p:spTree>
    <p:extLst>
      <p:ext uri="{BB962C8B-B14F-4D97-AF65-F5344CB8AC3E}">
        <p14:creationId xmlns:p14="http://schemas.microsoft.com/office/powerpoint/2010/main" val="3798776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620CF-DCCF-2024-31C5-339EB8E137BC}"/>
              </a:ext>
            </a:extLst>
          </p:cNvPr>
          <p:cNvSpPr>
            <a:spLocks noGrp="1"/>
          </p:cNvSpPr>
          <p:nvPr>
            <p:ph type="title"/>
          </p:nvPr>
        </p:nvSpPr>
        <p:spPr/>
        <p:txBody>
          <a:bodyPr/>
          <a:lstStyle/>
          <a:p>
            <a:r>
              <a:rPr lang="en-US" dirty="0"/>
              <a:t>Calculate differences</a:t>
            </a:r>
          </a:p>
        </p:txBody>
      </p:sp>
      <p:sp>
        <p:nvSpPr>
          <p:cNvPr id="3" name="Content Placeholder 2">
            <a:extLst>
              <a:ext uri="{FF2B5EF4-FFF2-40B4-BE49-F238E27FC236}">
                <a16:creationId xmlns:a16="http://schemas.microsoft.com/office/drawing/2014/main" id="{ADA2769B-7419-F4C9-0D5C-C2C52EC584FF}"/>
              </a:ext>
            </a:extLst>
          </p:cNvPr>
          <p:cNvSpPr>
            <a:spLocks noGrp="1"/>
          </p:cNvSpPr>
          <p:nvPr>
            <p:ph idx="1"/>
          </p:nvPr>
        </p:nvSpPr>
        <p:spPr>
          <a:xfrm>
            <a:off x="843280" y="1825625"/>
            <a:ext cx="10510520" cy="4351338"/>
          </a:xfrm>
        </p:spPr>
        <p:txBody>
          <a:bodyPr/>
          <a:lstStyle/>
          <a:p>
            <a:r>
              <a:rPr lang="en-US" dirty="0"/>
              <a:t>Can now calculate relative differences at different time points. </a:t>
            </a:r>
          </a:p>
          <a:p>
            <a:endParaRPr lang="en-US" dirty="0"/>
          </a:p>
          <a:p>
            <a:endParaRPr lang="en-US" dirty="0"/>
          </a:p>
        </p:txBody>
      </p:sp>
      <p:pic>
        <p:nvPicPr>
          <p:cNvPr id="5" name="Picture 4">
            <a:extLst>
              <a:ext uri="{FF2B5EF4-FFF2-40B4-BE49-F238E27FC236}">
                <a16:creationId xmlns:a16="http://schemas.microsoft.com/office/drawing/2014/main" id="{60E59BC7-4942-AF99-FC6F-1EFB4D225C07}"/>
              </a:ext>
            </a:extLst>
          </p:cNvPr>
          <p:cNvPicPr>
            <a:picLocks noChangeAspect="1"/>
          </p:cNvPicPr>
          <p:nvPr/>
        </p:nvPicPr>
        <p:blipFill>
          <a:blip r:embed="rId3"/>
          <a:stretch>
            <a:fillRect/>
          </a:stretch>
        </p:blipFill>
        <p:spPr>
          <a:xfrm>
            <a:off x="1010920" y="3084354"/>
            <a:ext cx="9911080" cy="1111726"/>
          </a:xfrm>
          <a:prstGeom prst="rect">
            <a:avLst/>
          </a:prstGeom>
        </p:spPr>
      </p:pic>
    </p:spTree>
    <p:extLst>
      <p:ext uri="{BB962C8B-B14F-4D97-AF65-F5344CB8AC3E}">
        <p14:creationId xmlns:p14="http://schemas.microsoft.com/office/powerpoint/2010/main" val="2797472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C265C-18A0-5453-6F46-6D29050EB3BC}"/>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14527F76-B1F9-9567-7F5F-9895C903E7D2}"/>
              </a:ext>
            </a:extLst>
          </p:cNvPr>
          <p:cNvSpPr>
            <a:spLocks noGrp="1"/>
          </p:cNvSpPr>
          <p:nvPr>
            <p:ph idx="1"/>
          </p:nvPr>
        </p:nvSpPr>
        <p:spPr/>
        <p:txBody>
          <a:bodyPr>
            <a:normAutofit fontScale="85000" lnSpcReduction="20000"/>
          </a:bodyPr>
          <a:lstStyle/>
          <a:p>
            <a:pPr marL="0" indent="0">
              <a:buNone/>
            </a:pPr>
            <a:r>
              <a:rPr lang="en-US" dirty="0"/>
              <a:t>Roberts, Chrissy H. A pragmatic Introduction to Interrupted Time Series. 2023-02-23​​. </a:t>
            </a:r>
            <a:r>
              <a:rPr lang="en-US" dirty="0">
                <a:hlinkClick r:id="rId2"/>
              </a:rPr>
              <a:t>https://rpubs.com/chrissyhroberts/1006858</a:t>
            </a:r>
            <a:endParaRPr lang="en-US" dirty="0"/>
          </a:p>
          <a:p>
            <a:endParaRPr lang="en-US" dirty="0"/>
          </a:p>
          <a:p>
            <a:pPr marL="0" indent="0">
              <a:buNone/>
            </a:pPr>
            <a:r>
              <a:rPr lang="en-US" dirty="0"/>
              <a:t>International Journal of Epidemiology, 2017, 348–355</a:t>
            </a:r>
          </a:p>
          <a:p>
            <a:pPr marL="0" indent="0">
              <a:buNone/>
            </a:pPr>
            <a:r>
              <a:rPr lang="en-US" i="1" dirty="0"/>
              <a:t>Interrupted time series regression for the evaluation of public health interventions:</a:t>
            </a:r>
          </a:p>
          <a:p>
            <a:pPr marL="0" indent="0">
              <a:buNone/>
            </a:pPr>
            <a:r>
              <a:rPr lang="en-US" i="1" dirty="0"/>
              <a:t>a tutorial</a:t>
            </a:r>
          </a:p>
          <a:p>
            <a:pPr marL="0" indent="0">
              <a:buNone/>
            </a:pPr>
            <a:r>
              <a:rPr lang="en-US" dirty="0" err="1"/>
              <a:t>doi</a:t>
            </a:r>
            <a:r>
              <a:rPr lang="en-US" dirty="0"/>
              <a:t>: 10.1093/</a:t>
            </a:r>
            <a:r>
              <a:rPr lang="en-US" dirty="0" err="1"/>
              <a:t>ije</a:t>
            </a:r>
            <a:r>
              <a:rPr lang="en-US" dirty="0"/>
              <a:t>/dyw098</a:t>
            </a:r>
          </a:p>
          <a:p>
            <a:endParaRPr lang="en-US" dirty="0"/>
          </a:p>
          <a:p>
            <a:pPr marL="0" indent="0">
              <a:buNone/>
            </a:pPr>
            <a:r>
              <a:rPr lang="da-DK" dirty="0"/>
              <a:t>Turner et al. BMC Med Res Methodol (2021) 21:134</a:t>
            </a:r>
          </a:p>
          <a:p>
            <a:pPr marL="0" indent="0">
              <a:buNone/>
            </a:pPr>
            <a:r>
              <a:rPr lang="en-US" i="1" dirty="0"/>
              <a:t>Comparison of six statistical methods for interrupted time series studies: empirical evaluation of 190 published series</a:t>
            </a:r>
            <a:endParaRPr lang="da-DK" i="1" dirty="0"/>
          </a:p>
          <a:p>
            <a:pPr marL="0" indent="0">
              <a:buNone/>
            </a:pPr>
            <a:r>
              <a:rPr lang="da-DK" dirty="0">
                <a:hlinkClick r:id="rId3"/>
              </a:rPr>
              <a:t>https://doi.org/10.1186/s12874-021-01306-w</a:t>
            </a:r>
            <a:endParaRPr lang="da-DK" dirty="0"/>
          </a:p>
          <a:p>
            <a:pPr marL="0" indent="0">
              <a:buNone/>
            </a:pPr>
            <a:endParaRPr lang="da-DK" dirty="0"/>
          </a:p>
          <a:p>
            <a:pPr marL="0" indent="0">
              <a:buNone/>
            </a:pPr>
            <a:endParaRPr lang="en-US" dirty="0"/>
          </a:p>
        </p:txBody>
      </p:sp>
    </p:spTree>
    <p:extLst>
      <p:ext uri="{BB962C8B-B14F-4D97-AF65-F5344CB8AC3E}">
        <p14:creationId xmlns:p14="http://schemas.microsoft.com/office/powerpoint/2010/main" val="25996731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1723</TotalTime>
  <Words>2206</Words>
  <Application>Microsoft Office PowerPoint</Application>
  <PresentationFormat>Widescreen</PresentationFormat>
  <Paragraphs>167</Paragraphs>
  <Slides>16</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Helvetica Neue</vt:lpstr>
      <vt:lpstr>Merriweather</vt:lpstr>
      <vt:lpstr>Office Theme</vt:lpstr>
      <vt:lpstr>Analyzing Public Health Interventions Using Interrupted Time Series</vt:lpstr>
      <vt:lpstr>Introduction</vt:lpstr>
      <vt:lpstr>Why Use Interrupted Time Series?</vt:lpstr>
      <vt:lpstr>Key Components of ITS</vt:lpstr>
      <vt:lpstr>Methodological Considerations in ITS Analysis</vt:lpstr>
      <vt:lpstr>Autocorrelation</vt:lpstr>
      <vt:lpstr>Example – No control, one intervention</vt:lpstr>
      <vt:lpstr>Example – No control, one intervention</vt:lpstr>
      <vt:lpstr>Example – No control, one intervention</vt:lpstr>
      <vt:lpstr>Example – No control, one intervention</vt:lpstr>
      <vt:lpstr>Example – No control, one intervention</vt:lpstr>
      <vt:lpstr>Example – No control, one intervention</vt:lpstr>
      <vt:lpstr>Example – No control, one intervention</vt:lpstr>
      <vt:lpstr>Counter factual – No control, one intervention</vt:lpstr>
      <vt:lpstr>Calculate differences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Analyzing Public Health Interventions Using Interrupted Time Series</dc:title>
  <dc:creator>Austin, Christopher</dc:creator>
  <cp:lastModifiedBy>Austin, Christopher</cp:lastModifiedBy>
  <cp:revision>8</cp:revision>
  <dcterms:created xsi:type="dcterms:W3CDTF">2024-06-25T14:47:22Z</dcterms:created>
  <dcterms:modified xsi:type="dcterms:W3CDTF">2024-06-27T16:15:15Z</dcterms:modified>
</cp:coreProperties>
</file>